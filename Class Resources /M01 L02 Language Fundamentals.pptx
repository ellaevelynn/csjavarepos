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Lexend" pitchFamily="2" charset="77"/>
      <p:regular r:id="rId33"/>
      <p:bold r:id="rId34"/>
    </p:embeddedFont>
    <p:embeddedFont>
      <p:font typeface="Open Sans" panose="020B0606030504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jpIPDT06wlRtGr+uyl3ehKvjyac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2EE0CC-7538-43B8-9524-DCC69DCE895C}">
  <a:tblStyle styleId="{9D2EE0CC-7538-43B8-9524-DCC69DCE895C}"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9DFEB85A-F1A4-47AA-AFD0-A1ABA40CD6E6}"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89"/>
    <p:restoredTop sz="57609"/>
  </p:normalViewPr>
  <p:slideViewPr>
    <p:cSldViewPr snapToGrid="0">
      <p:cViewPr varScale="1">
        <p:scale>
          <a:sx n="58" d="100"/>
          <a:sy n="58" d="100"/>
        </p:scale>
        <p:origin x="216" y="5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 name="Google Shape;5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a:t>Include full name and last name in assignment. Assignments are to be submitted in class, sometimes will mention a codeword so that grader can differentiate between in class and out of class submissions. Out of class submissions need to check in with Deb prior to submission.</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b41a09f5a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b41a09f5a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One strength is active listening, want to use learn-to-teach more often. Risk development of critical thinking. Icebreaker: type of music to listen to.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Variables= thinking of math </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What is the program doing? </a:t>
            </a:r>
          </a:p>
          <a:p>
            <a:pPr marL="0" lvl="0" indent="0" algn="l" rtl="0">
              <a:lnSpc>
                <a:spcPct val="100000"/>
              </a:lnSpc>
              <a:spcBef>
                <a:spcPts val="0"/>
              </a:spcBef>
              <a:spcAft>
                <a:spcPts val="0"/>
              </a:spcAft>
              <a:buSzPts val="1100"/>
              <a:buNone/>
            </a:pPr>
            <a:r>
              <a:rPr lang="en-US" dirty="0"/>
              <a:t>The program is holding a random number between 1-100, you then input a number, if you do not type in a number, the program will continue to print “guess a magic number…” until you enter a number. Depending on the value of your entry, it will produce three responses.</a:t>
            </a:r>
          </a:p>
          <a:p>
            <a:pPr marL="0" lvl="0" indent="0" algn="l" rtl="0">
              <a:lnSpc>
                <a:spcPct val="100000"/>
              </a:lnSpc>
              <a:spcBef>
                <a:spcPts val="0"/>
              </a:spcBef>
              <a:spcAft>
                <a:spcPts val="0"/>
              </a:spcAft>
              <a:buSzPts val="1100"/>
              <a:buNone/>
            </a:pPr>
            <a:r>
              <a:rPr lang="en-US" dirty="0"/>
              <a:t>Final-&gt; example of a constant</a:t>
            </a:r>
          </a:p>
          <a:p>
            <a:pPr marL="0" lvl="0" indent="0" algn="l" rtl="0">
              <a:lnSpc>
                <a:spcPct val="100000"/>
              </a:lnSpc>
              <a:spcBef>
                <a:spcPts val="0"/>
              </a:spcBef>
              <a:spcAft>
                <a:spcPts val="0"/>
              </a:spcAft>
              <a:buSzPts val="1100"/>
              <a:buNone/>
            </a:pPr>
            <a:r>
              <a:rPr lang="en-US" dirty="0"/>
              <a:t>Keywords-&gt; purple/magenta -&gt; why we use an IDE, color coordinates items </a:t>
            </a:r>
          </a:p>
          <a:p>
            <a:pPr marL="0" lvl="0" indent="0" algn="l" rtl="0">
              <a:lnSpc>
                <a:spcPct val="100000"/>
              </a:lnSpc>
              <a:spcBef>
                <a:spcPts val="0"/>
              </a:spcBef>
              <a:spcAft>
                <a:spcPts val="0"/>
              </a:spcAft>
              <a:buSzPts val="1100"/>
              <a:buNone/>
            </a:pPr>
            <a:r>
              <a:rPr lang="en-US" dirty="0"/>
              <a:t>Text-&gt; color-coded blue </a:t>
            </a:r>
          </a:p>
          <a:p>
            <a:pPr marL="0" lvl="0" indent="0" algn="l" rtl="0">
              <a:lnSpc>
                <a:spcPct val="100000"/>
              </a:lnSpc>
              <a:spcBef>
                <a:spcPts val="0"/>
              </a:spcBef>
              <a:spcAft>
                <a:spcPts val="0"/>
              </a:spcAft>
              <a:buSzPts val="1100"/>
              <a:buNone/>
            </a:pPr>
            <a:r>
              <a:rPr lang="en-US" dirty="0"/>
              <a:t>{} and () -&gt;organize your code</a:t>
            </a:r>
          </a:p>
          <a:p>
            <a:pPr marL="0" lvl="0" indent="0" algn="l" rtl="0">
              <a:lnSpc>
                <a:spcPct val="100000"/>
              </a:lnSpc>
              <a:spcBef>
                <a:spcPts val="0"/>
              </a:spcBef>
              <a:spcAft>
                <a:spcPts val="0"/>
              </a:spcAft>
              <a:buSzPts val="1100"/>
              <a:buNone/>
            </a:pPr>
            <a:r>
              <a:rPr lang="en-US" dirty="0"/>
              <a:t>Each code will have a starting class and an ending class</a:t>
            </a:r>
          </a:p>
          <a:p>
            <a:pPr marL="0" lvl="0" indent="0" algn="l" rtl="0">
              <a:lnSpc>
                <a:spcPct val="100000"/>
              </a:lnSpc>
              <a:spcBef>
                <a:spcPts val="0"/>
              </a:spcBef>
              <a:spcAft>
                <a:spcPts val="0"/>
              </a:spcAft>
              <a:buSzPts val="1100"/>
              <a:buNone/>
            </a:pPr>
            <a:r>
              <a:rPr lang="en-US" dirty="0"/>
              <a:t>Identifiers-&gt;lighter purple/brown/maroon</a:t>
            </a:r>
          </a:p>
          <a:p>
            <a:pPr marL="0" lvl="0" indent="0" algn="l" rtl="0">
              <a:lnSpc>
                <a:spcPct val="100000"/>
              </a:lnSpc>
              <a:spcBef>
                <a:spcPts val="0"/>
              </a:spcBef>
              <a:spcAft>
                <a:spcPts val="0"/>
              </a:spcAft>
              <a:buSzPts val="1100"/>
              <a:buNone/>
            </a:pPr>
            <a:r>
              <a:rPr lang="en-US" dirty="0"/>
              <a:t>Variable examples: guess (data type: integer)</a:t>
            </a:r>
          </a:p>
          <a:p>
            <a:pPr marL="0" lvl="0" indent="0" algn="l" rtl="0">
              <a:lnSpc>
                <a:spcPct val="100000"/>
              </a:lnSpc>
              <a:spcBef>
                <a:spcPts val="0"/>
              </a:spcBef>
              <a:spcAft>
                <a:spcPts val="0"/>
              </a:spcAft>
              <a:buSzPts val="1100"/>
              <a:buNone/>
            </a:pPr>
            <a:endParaRPr lang="en-US" dirty="0"/>
          </a:p>
          <a:p>
            <a:pPr marL="914400" marR="0" lvl="1" indent="-317500" algn="l" rtl="0">
              <a:lnSpc>
                <a:spcPct val="100000"/>
              </a:lnSpc>
              <a:spcBef>
                <a:spcPts val="0"/>
              </a:spcBef>
              <a:spcAft>
                <a:spcPts val="0"/>
              </a:spcAft>
              <a:buClr>
                <a:schemeClr val="dk1"/>
              </a:buClr>
              <a:buSzPts val="1400"/>
              <a:buFont typeface="Lexend"/>
              <a:buChar char="–"/>
            </a:pPr>
            <a:r>
              <a:rPr lang="en-US" i="0" u="none" strike="noStrike" cap="none" dirty="0">
                <a:solidFill>
                  <a:schemeClr val="dk1"/>
                </a:solidFill>
                <a:latin typeface="Lexend"/>
                <a:ea typeface="Lexend"/>
                <a:cs typeface="Lexend"/>
                <a:sym typeface="Lexend"/>
              </a:rPr>
              <a:t>Class name - </a:t>
            </a:r>
            <a:r>
              <a:rPr lang="en-US" i="0" u="none" strike="noStrike" cap="none" dirty="0" err="1">
                <a:solidFill>
                  <a:schemeClr val="dk1"/>
                </a:solidFill>
                <a:latin typeface="Lexend"/>
                <a:ea typeface="Lexend"/>
                <a:cs typeface="Lexend"/>
                <a:sym typeface="Lexend"/>
              </a:rPr>
              <a:t>FancyCars</a:t>
            </a:r>
            <a:endParaRPr lang="en-US" i="0" u="none" strike="noStrike" cap="none" dirty="0">
              <a:solidFill>
                <a:schemeClr val="dk1"/>
              </a:solidFill>
              <a:latin typeface="Lexend"/>
              <a:ea typeface="Lexend"/>
              <a:cs typeface="Lexend"/>
              <a:sym typeface="Lexend"/>
            </a:endParaRPr>
          </a:p>
          <a:p>
            <a:pPr marL="914400" marR="0" lvl="1" indent="-317500" algn="l" rtl="0">
              <a:lnSpc>
                <a:spcPct val="100000"/>
              </a:lnSpc>
              <a:spcBef>
                <a:spcPts val="0"/>
              </a:spcBef>
              <a:spcAft>
                <a:spcPts val="0"/>
              </a:spcAft>
              <a:buClr>
                <a:schemeClr val="dk1"/>
              </a:buClr>
              <a:buSzPts val="1400"/>
              <a:buFont typeface="Lexend"/>
              <a:buChar char="–"/>
            </a:pPr>
            <a:r>
              <a:rPr lang="en-US" i="0" u="none" strike="noStrike" cap="none" dirty="0">
                <a:solidFill>
                  <a:schemeClr val="dk1"/>
                </a:solidFill>
                <a:latin typeface="Lexend"/>
                <a:ea typeface="Lexend"/>
                <a:cs typeface="Lexend"/>
                <a:sym typeface="Lexend"/>
              </a:rPr>
              <a:t>Methods - </a:t>
            </a:r>
            <a:r>
              <a:rPr lang="en-US" i="0" u="none" strike="noStrike" cap="none" dirty="0" err="1">
                <a:solidFill>
                  <a:schemeClr val="dk1"/>
                </a:solidFill>
                <a:latin typeface="Lexend"/>
                <a:ea typeface="Lexend"/>
                <a:cs typeface="Lexend"/>
                <a:sym typeface="Lexend"/>
              </a:rPr>
              <a:t>driveOnlyOnSunday</a:t>
            </a:r>
            <a:r>
              <a:rPr lang="en-US" i="0" u="none" strike="noStrike" cap="none" dirty="0">
                <a:solidFill>
                  <a:schemeClr val="dk1"/>
                </a:solidFill>
                <a:latin typeface="Lexend"/>
                <a:ea typeface="Lexend"/>
                <a:cs typeface="Lexend"/>
                <a:sym typeface="Lexend"/>
              </a:rPr>
              <a:t>()</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914400" marR="0" lvl="1" indent="-317500" algn="l" rtl="0">
              <a:lnSpc>
                <a:spcPct val="100000"/>
              </a:lnSpc>
              <a:spcBef>
                <a:spcPts val="0"/>
              </a:spcBef>
              <a:spcAft>
                <a:spcPts val="0"/>
              </a:spcAft>
              <a:buClr>
                <a:schemeClr val="dk1"/>
              </a:buClr>
              <a:buSzPts val="1400"/>
              <a:buFont typeface="Lexend"/>
              <a:buChar char="–"/>
            </a:pPr>
            <a:r>
              <a:rPr lang="en-US" i="0" u="none" strike="noStrike" cap="none" dirty="0">
                <a:solidFill>
                  <a:schemeClr val="dk1"/>
                </a:solidFill>
                <a:latin typeface="Lexend"/>
                <a:ea typeface="Lexend"/>
                <a:cs typeface="Lexend"/>
                <a:sym typeface="Lexend"/>
              </a:rPr>
              <a:t>Variables – </a:t>
            </a:r>
            <a:r>
              <a:rPr lang="en-US" i="0" u="none" strike="noStrike" cap="none" dirty="0" err="1">
                <a:solidFill>
                  <a:schemeClr val="dk1"/>
                </a:solidFill>
                <a:latin typeface="Lexend"/>
                <a:ea typeface="Lexend"/>
                <a:cs typeface="Lexend"/>
                <a:sym typeface="Lexend"/>
              </a:rPr>
              <a:t>numberCylinders</a:t>
            </a:r>
            <a:r>
              <a:rPr lang="en-US" i="0" u="none" strike="noStrike" cap="none" dirty="0">
                <a:solidFill>
                  <a:schemeClr val="dk1"/>
                </a:solidFill>
                <a:latin typeface="Lexend"/>
                <a:ea typeface="Lexend"/>
                <a:cs typeface="Lexend"/>
                <a:sym typeface="Lexend"/>
              </a:rPr>
              <a:t>: in, out</a:t>
            </a:r>
          </a:p>
          <a:p>
            <a:pPr marL="914400" marR="0" lvl="1" indent="-317500" algn="l" rtl="0">
              <a:lnSpc>
                <a:spcPct val="100000"/>
              </a:lnSpc>
              <a:spcBef>
                <a:spcPts val="0"/>
              </a:spcBef>
              <a:spcAft>
                <a:spcPts val="0"/>
              </a:spcAft>
              <a:buClr>
                <a:schemeClr val="dk1"/>
              </a:buClr>
              <a:buSzPts val="1400"/>
              <a:buFont typeface="Lexend"/>
              <a:buChar char="–"/>
            </a:pPr>
            <a:endParaRPr lang="en-US" i="0" u="none" strike="noStrike" cap="none" dirty="0">
              <a:solidFill>
                <a:schemeClr val="dk1"/>
              </a:solidFill>
              <a:latin typeface="Lexend"/>
              <a:ea typeface="Lexend"/>
              <a:cs typeface="Lexend"/>
              <a:sym typeface="Lexend"/>
            </a:endParaRPr>
          </a:p>
          <a:p>
            <a:pPr marL="914400" marR="0" lvl="1" indent="-317500" algn="l" rtl="0">
              <a:lnSpc>
                <a:spcPct val="100000"/>
              </a:lnSpc>
              <a:spcBef>
                <a:spcPts val="0"/>
              </a:spcBef>
              <a:spcAft>
                <a:spcPts val="0"/>
              </a:spcAft>
              <a:buClr>
                <a:schemeClr val="dk1"/>
              </a:buClr>
              <a:buSzPts val="1400"/>
              <a:buFont typeface="Lexend"/>
              <a:buChar char="–"/>
            </a:pPr>
            <a:endParaRPr lang="en-US" i="0" u="none" strike="noStrike" cap="none" dirty="0">
              <a:solidFill>
                <a:schemeClr val="dk1"/>
              </a:solidFill>
              <a:latin typeface="Lexend"/>
              <a:ea typeface="Lexend"/>
              <a:cs typeface="Lexend"/>
              <a:sym typeface="Lexend"/>
            </a:endParaRPr>
          </a:p>
          <a:p>
            <a:pPr marL="914400" marR="0" lvl="1" indent="-317500" algn="l" rtl="0">
              <a:lnSpc>
                <a:spcPct val="100000"/>
              </a:lnSpc>
              <a:spcBef>
                <a:spcPts val="0"/>
              </a:spcBef>
              <a:spcAft>
                <a:spcPts val="0"/>
              </a:spcAft>
              <a:buClr>
                <a:schemeClr val="dk1"/>
              </a:buClr>
              <a:buSzPts val="1400"/>
              <a:buFont typeface="Lexend"/>
              <a:buChar char="–"/>
            </a:pPr>
            <a:r>
              <a:rPr lang="en-US" i="0" u="none" strike="noStrike" cap="none" dirty="0">
                <a:solidFill>
                  <a:schemeClr val="dk1"/>
                </a:solidFill>
                <a:latin typeface="Lexend"/>
                <a:ea typeface="Lexend"/>
                <a:cs typeface="Lexend"/>
                <a:sym typeface="Lexend"/>
              </a:rPr>
              <a:t>constant - MAX_STUDENTS, RANDOM_MULTIPLIER</a:t>
            </a:r>
            <a:endParaRPr lang="en-US" i="0" u="none" strike="noStrike" cap="none" dirty="0">
              <a:solidFill>
                <a:srgbClr val="434343"/>
              </a:solidFill>
              <a:latin typeface="Lexend"/>
              <a:ea typeface="Lexend"/>
              <a:cs typeface="Lexend"/>
              <a:sym typeface="Lexend"/>
            </a:endParaRP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When you create a class, has one public class in eclipse </a:t>
            </a:r>
          </a:p>
          <a:p>
            <a:pPr marL="0" lvl="0" indent="0" algn="l" rtl="0">
              <a:lnSpc>
                <a:spcPct val="100000"/>
              </a:lnSpc>
              <a:spcBef>
                <a:spcPts val="0"/>
              </a:spcBef>
              <a:spcAft>
                <a:spcPts val="0"/>
              </a:spcAft>
              <a:buSzPts val="1100"/>
              <a:buNone/>
            </a:pPr>
            <a:r>
              <a:rPr lang="en-US" dirty="0"/>
              <a:t>Class names should always start with a capital letter.</a:t>
            </a:r>
          </a:p>
          <a:p>
            <a:pPr marL="0" lvl="0" indent="0" algn="l" rtl="0">
              <a:lnSpc>
                <a:spcPct val="100000"/>
              </a:lnSpc>
              <a:spcBef>
                <a:spcPts val="0"/>
              </a:spcBef>
              <a:spcAft>
                <a:spcPts val="0"/>
              </a:spcAft>
              <a:buSzPts val="1100"/>
              <a:buNone/>
            </a:pPr>
            <a:r>
              <a:rPr lang="en-US" dirty="0"/>
              <a:t>Class name and file name MUST MATCH</a:t>
            </a:r>
          </a:p>
          <a:p>
            <a:pPr marL="0" lvl="0" indent="0" algn="l" rtl="0">
              <a:lnSpc>
                <a:spcPct val="100000"/>
              </a:lnSpc>
              <a:spcBef>
                <a:spcPts val="0"/>
              </a:spcBef>
              <a:spcAft>
                <a:spcPts val="0"/>
              </a:spcAft>
              <a:buSzPts val="1100"/>
              <a:buNone/>
            </a:pPr>
            <a:r>
              <a:rPr lang="en-US" dirty="0"/>
              <a:t>Check that you want a public main method (might not say public)</a:t>
            </a:r>
          </a:p>
          <a:p>
            <a:pPr marL="0" lvl="0" indent="0" algn="l" rtl="0">
              <a:lnSpc>
                <a:spcPct val="100000"/>
              </a:lnSpc>
              <a:spcBef>
                <a:spcPts val="0"/>
              </a:spcBef>
              <a:spcAft>
                <a:spcPts val="0"/>
              </a:spcAft>
              <a:buSzPts val="1100"/>
              <a:buNone/>
            </a:pPr>
            <a:r>
              <a:rPr lang="en-US" dirty="0"/>
              <a:t>Programs will run from the main method</a:t>
            </a:r>
          </a:p>
          <a:p>
            <a:pPr marL="0" lvl="0" indent="0" algn="l" rtl="0">
              <a:lnSpc>
                <a:spcPct val="100000"/>
              </a:lnSpc>
              <a:spcBef>
                <a:spcPts val="0"/>
              </a:spcBef>
              <a:spcAft>
                <a:spcPts val="0"/>
              </a:spcAft>
              <a:buSzPts val="1100"/>
              <a:buNone/>
            </a:pPr>
            <a:r>
              <a:rPr lang="en-US" dirty="0"/>
              <a:t>Braces all line up on the left side, will learn soon how to have Eclipse do it for us, can also indent for us </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Include vocabulary in code (data types and definitions)</a:t>
            </a:r>
          </a:p>
          <a:p>
            <a:pPr marL="0" lvl="0" indent="0" algn="l" rtl="0">
              <a:lnSpc>
                <a:spcPct val="100000"/>
              </a:lnSpc>
              <a:spcBef>
                <a:spcPts val="0"/>
              </a:spcBef>
              <a:spcAft>
                <a:spcPts val="0"/>
              </a:spcAft>
              <a:buSzPts val="1100"/>
              <a:buNone/>
            </a:pPr>
            <a:r>
              <a:rPr lang="en-US" dirty="0"/>
              <a:t>Faster to comment on code and copy and paste examples into your tech document and add more comments when needed. Saying what you are learning.</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Double=-&gt; floating points, can store information smaller than an integer </a:t>
            </a:r>
          </a:p>
          <a:p>
            <a:pPr marL="0" lvl="0" indent="0" algn="l" rtl="0">
              <a:lnSpc>
                <a:spcPct val="100000"/>
              </a:lnSpc>
              <a:spcBef>
                <a:spcPts val="0"/>
              </a:spcBef>
              <a:spcAft>
                <a:spcPts val="0"/>
              </a:spcAft>
              <a:buSzPts val="1100"/>
              <a:buNone/>
            </a:pPr>
            <a:r>
              <a:rPr lang="en-US" dirty="0"/>
              <a:t>Integer-&gt; no decimals </a:t>
            </a:r>
          </a:p>
          <a:p>
            <a:pPr marL="0" lvl="0" indent="0" algn="l" rtl="0">
              <a:lnSpc>
                <a:spcPct val="100000"/>
              </a:lnSpc>
              <a:spcBef>
                <a:spcPts val="0"/>
              </a:spcBef>
              <a:spcAft>
                <a:spcPts val="0"/>
              </a:spcAft>
              <a:buSzPts val="1100"/>
              <a:buNone/>
            </a:pPr>
            <a:r>
              <a:rPr lang="en-US" dirty="0"/>
              <a:t>Declare your item, then can call item later</a:t>
            </a:r>
          </a:p>
          <a:p>
            <a:pPr marL="0" lvl="0" indent="0" algn="l" rtl="0">
              <a:lnSpc>
                <a:spcPct val="100000"/>
              </a:lnSpc>
              <a:spcBef>
                <a:spcPts val="0"/>
              </a:spcBef>
              <a:spcAft>
                <a:spcPts val="0"/>
              </a:spcAft>
              <a:buSzPts val="1100"/>
              <a:buNone/>
            </a:pPr>
            <a:r>
              <a:rPr lang="en-US" dirty="0"/>
              <a:t>=-&gt; assign</a:t>
            </a:r>
          </a:p>
          <a:p>
            <a:pPr marL="0" lvl="0" indent="0" algn="l" rtl="0">
              <a:lnSpc>
                <a:spcPct val="100000"/>
              </a:lnSpc>
              <a:spcBef>
                <a:spcPts val="0"/>
              </a:spcBef>
              <a:spcAft>
                <a:spcPts val="0"/>
              </a:spcAft>
              <a:buSzPts val="1100"/>
              <a:buNone/>
            </a:pPr>
            <a:r>
              <a:rPr lang="en-US" dirty="0"/>
              <a:t>Variable on left-&gt; assigning something to is </a:t>
            </a:r>
          </a:p>
          <a:p>
            <a:pPr marL="0" lvl="0" indent="0" algn="l" rtl="0">
              <a:lnSpc>
                <a:spcPct val="100000"/>
              </a:lnSpc>
              <a:spcBef>
                <a:spcPts val="0"/>
              </a:spcBef>
              <a:spcAft>
                <a:spcPts val="0"/>
              </a:spcAft>
              <a:buSzPts val="1100"/>
              <a:buNone/>
            </a:pPr>
            <a:r>
              <a:rPr lang="en-US" dirty="0"/>
              <a:t>Don’t see on left, getting something out of it.</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78" name="Google Shape;17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Highlighted in green= what we will use </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Use green. BEGIN LOWERCASE (camel case)</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ab4db5c9c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3ab4db5c9c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Declaring vs initializing </a:t>
            </a:r>
          </a:p>
          <a:p>
            <a:pPr marL="0" lvl="0" indent="0" algn="l" rtl="0">
              <a:lnSpc>
                <a:spcPct val="100000"/>
              </a:lnSpc>
              <a:spcBef>
                <a:spcPts val="0"/>
              </a:spcBef>
              <a:spcAft>
                <a:spcPts val="0"/>
              </a:spcAft>
              <a:buSzPts val="1100"/>
              <a:buNone/>
            </a:pPr>
            <a:r>
              <a:rPr lang="en-US" dirty="0"/>
              <a:t>Declaring-&gt; create memory location </a:t>
            </a:r>
          </a:p>
          <a:p>
            <a:pPr marL="0" lvl="0" indent="0" algn="l" rtl="0">
              <a:lnSpc>
                <a:spcPct val="100000"/>
              </a:lnSpc>
              <a:spcBef>
                <a:spcPts val="0"/>
              </a:spcBef>
              <a:spcAft>
                <a:spcPts val="0"/>
              </a:spcAft>
              <a:buSzPts val="1100"/>
              <a:buNone/>
            </a:pPr>
            <a:r>
              <a:rPr lang="en-US" dirty="0"/>
              <a:t>Declaration happens once </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Initializing-&gt; assigning an initial value </a:t>
            </a:r>
          </a:p>
          <a:p>
            <a:pPr marL="0" lvl="0" indent="0" algn="l" rtl="0">
              <a:lnSpc>
                <a:spcPct val="100000"/>
              </a:lnSpc>
              <a:spcBef>
                <a:spcPts val="0"/>
              </a:spcBef>
              <a:spcAft>
                <a:spcPts val="0"/>
              </a:spcAft>
              <a:buSzPts val="1100"/>
              <a:buNone/>
            </a:pPr>
            <a:r>
              <a:rPr lang="en-US" dirty="0"/>
              <a:t>Always assign an initial value </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Whatever you assign it, it will not change while the program is running.</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Printing out to the console </a:t>
            </a:r>
          </a:p>
          <a:p>
            <a:pPr marL="0" lvl="0" indent="0" algn="l" rtl="0">
              <a:lnSpc>
                <a:spcPct val="100000"/>
              </a:lnSpc>
              <a:spcBef>
                <a:spcPts val="0"/>
              </a:spcBef>
              <a:spcAft>
                <a:spcPts val="0"/>
              </a:spcAft>
              <a:buSzPts val="1100"/>
              <a:buNone/>
            </a:pPr>
            <a:r>
              <a:rPr lang="en-US" dirty="0"/>
              <a:t>How to print to the console</a:t>
            </a:r>
          </a:p>
          <a:p>
            <a:pPr marL="0" lvl="0" indent="0" algn="l" rtl="0">
              <a:lnSpc>
                <a:spcPct val="100000"/>
              </a:lnSpc>
              <a:spcBef>
                <a:spcPts val="0"/>
              </a:spcBef>
              <a:spcAft>
                <a:spcPts val="0"/>
              </a:spcAft>
              <a:buSzPts val="1100"/>
              <a:buNone/>
            </a:pPr>
            <a:r>
              <a:rPr lang="en-US" dirty="0"/>
              <a:t>System-&gt; class provided by java to go out </a:t>
            </a:r>
          </a:p>
          <a:p>
            <a:pPr marL="0" lvl="0" indent="0" algn="l" rtl="0">
              <a:lnSpc>
                <a:spcPct val="100000"/>
              </a:lnSpc>
              <a:spcBef>
                <a:spcPts val="0"/>
              </a:spcBef>
              <a:spcAft>
                <a:spcPts val="0"/>
              </a:spcAft>
              <a:buSzPts val="1100"/>
              <a:buNone/>
            </a:pPr>
            <a:r>
              <a:rPr lang="en-US" dirty="0" err="1"/>
              <a:t>System.in</a:t>
            </a:r>
            <a:r>
              <a:rPr lang="en-US" dirty="0"/>
              <a:t> for scanner, system in is the keyboard, default system out is the console.</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Public class: calls class </a:t>
            </a:r>
            <a:r>
              <a:rPr lang="en-US" dirty="0" err="1"/>
              <a:t>ComputeArea</a:t>
            </a:r>
            <a:endParaRPr lang="en-US"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Integer division return integers. It rounds to an integer.  Truncated-&gt; drops it off the final value</a:t>
            </a:r>
          </a:p>
          <a:p>
            <a:pPr marL="0" lvl="0" indent="0" algn="l" rtl="0">
              <a:lnSpc>
                <a:spcPct val="100000"/>
              </a:lnSpc>
              <a:spcBef>
                <a:spcPts val="0"/>
              </a:spcBef>
              <a:spcAft>
                <a:spcPts val="0"/>
              </a:spcAft>
              <a:buSzPts val="1100"/>
              <a:buNone/>
            </a:pPr>
            <a:r>
              <a:rPr lang="en-US" dirty="0"/>
              <a:t>DO NOT ROUND UP OR DOWN </a:t>
            </a:r>
          </a:p>
          <a:p>
            <a:pPr marL="0" lvl="0" indent="0" algn="l" rtl="0">
              <a:lnSpc>
                <a:spcPct val="100000"/>
              </a:lnSpc>
              <a:spcBef>
                <a:spcPts val="0"/>
              </a:spcBef>
              <a:spcAft>
                <a:spcPts val="0"/>
              </a:spcAft>
              <a:buSzPts val="1100"/>
              <a:buNone/>
            </a:pPr>
            <a:r>
              <a:rPr lang="en-US" dirty="0"/>
              <a:t>Modulo=remainder</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Power is a method, cant just raise it like you can in </a:t>
            </a:r>
            <a:r>
              <a:rPr lang="en-US" dirty="0" err="1"/>
              <a:t>Rstudio</a:t>
            </a:r>
            <a:r>
              <a:rPr lang="en-US" dirty="0"/>
              <a:t> </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To work on, difference between variables, other definitions feel easier to identify besides differentiation rom characters and variables.</a:t>
            </a: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 name="Google Shape;296;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Going to insert concise information and definitions and examples into your tech document </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Going to work together </a:t>
            </a:r>
          </a:p>
          <a:p>
            <a:pPr marL="171450" lvl="0" indent="-171450" algn="l" rtl="0">
              <a:lnSpc>
                <a:spcPct val="100000"/>
              </a:lnSpc>
              <a:spcBef>
                <a:spcPts val="0"/>
              </a:spcBef>
              <a:spcAft>
                <a:spcPts val="0"/>
              </a:spcAft>
              <a:buSzPts val="1100"/>
              <a:buFont typeface="Arial" panose="020B0604020202020204" pitchFamily="34" charset="0"/>
              <a:buChar char="•"/>
            </a:pPr>
            <a:r>
              <a:rPr lang="en-US" dirty="0"/>
              <a:t>- put items into code to save time on updating to tech doc?</a:t>
            </a:r>
          </a:p>
          <a:p>
            <a:pPr marL="171450" lvl="0" indent="-171450" algn="l" rtl="0">
              <a:lnSpc>
                <a:spcPct val="100000"/>
              </a:lnSpc>
              <a:spcBef>
                <a:spcPts val="0"/>
              </a:spcBef>
              <a:spcAft>
                <a:spcPts val="0"/>
              </a:spcAft>
              <a:buSzPts val="1100"/>
              <a:buFont typeface="Arial" panose="020B0604020202020204" pitchFamily="34" charset="0"/>
              <a:buChar char="•"/>
            </a:pPr>
            <a:endParaRPr lang="en-US" dirty="0"/>
          </a:p>
          <a:p>
            <a:pPr marL="171450" lvl="0" indent="-171450" algn="l" rtl="0">
              <a:lnSpc>
                <a:spcPct val="100000"/>
              </a:lnSpc>
              <a:spcBef>
                <a:spcPts val="0"/>
              </a:spcBef>
              <a:spcAft>
                <a:spcPts val="0"/>
              </a:spcAft>
              <a:buSzPts val="1100"/>
              <a:buFont typeface="Arial" panose="020B0604020202020204" pitchFamily="34" charset="0"/>
              <a:buChar char="•"/>
            </a:pPr>
            <a:r>
              <a:rPr lang="en-US" dirty="0"/>
              <a:t>Pair programming, use one computer. One computer, different roles </a:t>
            </a: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1" name="Google Shape;321;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1"/>
          <p:cNvSpPr txBox="1">
            <a:spLocks noGrp="1"/>
          </p:cNvSpPr>
          <p:nvPr>
            <p:ph type="ctrTitle"/>
          </p:nvPr>
        </p:nvSpPr>
        <p:spPr>
          <a:xfrm>
            <a:off x="685800" y="1597819"/>
            <a:ext cx="7772400" cy="11025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400"/>
              <a:buFont typeface="Lexend"/>
              <a:buNone/>
              <a:defRPr sz="3100">
                <a:latin typeface="Lexend"/>
                <a:ea typeface="Lexend"/>
                <a:cs typeface="Lexend"/>
                <a:sym typeface="Lexend"/>
              </a:defRPr>
            </a:lvl1pPr>
            <a:lvl2pPr lvl="1" algn="l">
              <a:lnSpc>
                <a:spcPct val="100000"/>
              </a:lnSpc>
              <a:spcBef>
                <a:spcPts val="0"/>
              </a:spcBef>
              <a:spcAft>
                <a:spcPts val="0"/>
              </a:spcAft>
              <a:buSzPts val="1400"/>
              <a:buFont typeface="Lexend"/>
              <a:buNone/>
              <a:defRPr>
                <a:latin typeface="Lexend"/>
                <a:ea typeface="Lexend"/>
                <a:cs typeface="Lexend"/>
                <a:sym typeface="Lexend"/>
              </a:defRPr>
            </a:lvl2pPr>
            <a:lvl3pPr lvl="2" algn="l">
              <a:lnSpc>
                <a:spcPct val="100000"/>
              </a:lnSpc>
              <a:spcBef>
                <a:spcPts val="0"/>
              </a:spcBef>
              <a:spcAft>
                <a:spcPts val="0"/>
              </a:spcAft>
              <a:buSzPts val="1400"/>
              <a:buFont typeface="Lexend"/>
              <a:buNone/>
              <a:defRPr>
                <a:latin typeface="Lexend"/>
                <a:ea typeface="Lexend"/>
                <a:cs typeface="Lexend"/>
                <a:sym typeface="Lexend"/>
              </a:defRPr>
            </a:lvl3pPr>
            <a:lvl4pPr lvl="3" algn="l">
              <a:lnSpc>
                <a:spcPct val="100000"/>
              </a:lnSpc>
              <a:spcBef>
                <a:spcPts val="0"/>
              </a:spcBef>
              <a:spcAft>
                <a:spcPts val="0"/>
              </a:spcAft>
              <a:buSzPts val="1400"/>
              <a:buFont typeface="Lexend"/>
              <a:buNone/>
              <a:defRPr>
                <a:latin typeface="Lexend"/>
                <a:ea typeface="Lexend"/>
                <a:cs typeface="Lexend"/>
                <a:sym typeface="Lexend"/>
              </a:defRPr>
            </a:lvl4pPr>
            <a:lvl5pPr lvl="4" algn="l">
              <a:lnSpc>
                <a:spcPct val="100000"/>
              </a:lnSpc>
              <a:spcBef>
                <a:spcPts val="0"/>
              </a:spcBef>
              <a:spcAft>
                <a:spcPts val="0"/>
              </a:spcAft>
              <a:buSzPts val="1400"/>
              <a:buFont typeface="Lexend"/>
              <a:buNone/>
              <a:defRPr>
                <a:latin typeface="Lexend"/>
                <a:ea typeface="Lexend"/>
                <a:cs typeface="Lexend"/>
                <a:sym typeface="Lexend"/>
              </a:defRPr>
            </a:lvl5pPr>
            <a:lvl6pPr lvl="5" algn="l">
              <a:lnSpc>
                <a:spcPct val="100000"/>
              </a:lnSpc>
              <a:spcBef>
                <a:spcPts val="0"/>
              </a:spcBef>
              <a:spcAft>
                <a:spcPts val="0"/>
              </a:spcAft>
              <a:buSzPts val="1400"/>
              <a:buFont typeface="Lexend"/>
              <a:buNone/>
              <a:defRPr>
                <a:latin typeface="Lexend"/>
                <a:ea typeface="Lexend"/>
                <a:cs typeface="Lexend"/>
                <a:sym typeface="Lexend"/>
              </a:defRPr>
            </a:lvl6pPr>
            <a:lvl7pPr lvl="6" algn="l">
              <a:lnSpc>
                <a:spcPct val="100000"/>
              </a:lnSpc>
              <a:spcBef>
                <a:spcPts val="0"/>
              </a:spcBef>
              <a:spcAft>
                <a:spcPts val="0"/>
              </a:spcAft>
              <a:buSzPts val="1400"/>
              <a:buFont typeface="Lexend"/>
              <a:buNone/>
              <a:defRPr>
                <a:latin typeface="Lexend"/>
                <a:ea typeface="Lexend"/>
                <a:cs typeface="Lexend"/>
                <a:sym typeface="Lexend"/>
              </a:defRPr>
            </a:lvl7pPr>
            <a:lvl8pPr lvl="7" algn="l">
              <a:lnSpc>
                <a:spcPct val="100000"/>
              </a:lnSpc>
              <a:spcBef>
                <a:spcPts val="0"/>
              </a:spcBef>
              <a:spcAft>
                <a:spcPts val="0"/>
              </a:spcAft>
              <a:buSzPts val="1400"/>
              <a:buFont typeface="Lexend"/>
              <a:buNone/>
              <a:defRPr>
                <a:latin typeface="Lexend"/>
                <a:ea typeface="Lexend"/>
                <a:cs typeface="Lexend"/>
                <a:sym typeface="Lexend"/>
              </a:defRPr>
            </a:lvl8pPr>
            <a:lvl9pPr lvl="8" algn="l">
              <a:lnSpc>
                <a:spcPct val="100000"/>
              </a:lnSpc>
              <a:spcBef>
                <a:spcPts val="0"/>
              </a:spcBef>
              <a:spcAft>
                <a:spcPts val="0"/>
              </a:spcAft>
              <a:buSzPts val="1400"/>
              <a:buFont typeface="Lexend"/>
              <a:buNone/>
              <a:defRPr>
                <a:latin typeface="Lexend"/>
                <a:ea typeface="Lexend"/>
                <a:cs typeface="Lexend"/>
                <a:sym typeface="Lexend"/>
              </a:defRPr>
            </a:lvl9pPr>
          </a:lstStyle>
          <a:p>
            <a:endParaRPr/>
          </a:p>
        </p:txBody>
      </p:sp>
      <p:sp>
        <p:nvSpPr>
          <p:cNvPr id="13" name="Google Shape;13;p31"/>
          <p:cNvSpPr txBox="1">
            <a:spLocks noGrp="1"/>
          </p:cNvSpPr>
          <p:nvPr>
            <p:ph type="subTitle" idx="1"/>
          </p:nvPr>
        </p:nvSpPr>
        <p:spPr>
          <a:xfrm>
            <a:off x="1371600" y="2914650"/>
            <a:ext cx="6400800" cy="1314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434343"/>
              </a:buClr>
              <a:buSzPts val="3200"/>
              <a:buNone/>
              <a:defRPr>
                <a:solidFill>
                  <a:srgbClr val="434343"/>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31"/>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1"/>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1"/>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32"/>
          <p:cNvSpPr txBox="1">
            <a:spLocks noGrp="1"/>
          </p:cNvSpPr>
          <p:nvPr>
            <p:ph type="title"/>
          </p:nvPr>
        </p:nvSpPr>
        <p:spPr>
          <a:xfrm>
            <a:off x="311700" y="254900"/>
            <a:ext cx="8520600" cy="5727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1400"/>
              <a:buFont typeface="Lexend"/>
              <a:buNone/>
              <a:defRPr>
                <a:latin typeface="Lexend"/>
                <a:ea typeface="Lexend"/>
                <a:cs typeface="Lexend"/>
                <a:sym typeface="Lexend"/>
              </a:defRPr>
            </a:lvl2pPr>
            <a:lvl3pPr lvl="2" algn="l">
              <a:lnSpc>
                <a:spcPct val="100000"/>
              </a:lnSpc>
              <a:spcBef>
                <a:spcPts val="0"/>
              </a:spcBef>
              <a:spcAft>
                <a:spcPts val="0"/>
              </a:spcAft>
              <a:buSzPts val="1400"/>
              <a:buFont typeface="Lexend"/>
              <a:buNone/>
              <a:defRPr>
                <a:latin typeface="Lexend"/>
                <a:ea typeface="Lexend"/>
                <a:cs typeface="Lexend"/>
                <a:sym typeface="Lexend"/>
              </a:defRPr>
            </a:lvl3pPr>
            <a:lvl4pPr lvl="3" algn="l">
              <a:lnSpc>
                <a:spcPct val="100000"/>
              </a:lnSpc>
              <a:spcBef>
                <a:spcPts val="0"/>
              </a:spcBef>
              <a:spcAft>
                <a:spcPts val="0"/>
              </a:spcAft>
              <a:buSzPts val="1400"/>
              <a:buFont typeface="Lexend"/>
              <a:buNone/>
              <a:defRPr>
                <a:latin typeface="Lexend"/>
                <a:ea typeface="Lexend"/>
                <a:cs typeface="Lexend"/>
                <a:sym typeface="Lexend"/>
              </a:defRPr>
            </a:lvl4pPr>
            <a:lvl5pPr lvl="4" algn="l">
              <a:lnSpc>
                <a:spcPct val="100000"/>
              </a:lnSpc>
              <a:spcBef>
                <a:spcPts val="0"/>
              </a:spcBef>
              <a:spcAft>
                <a:spcPts val="0"/>
              </a:spcAft>
              <a:buSzPts val="1400"/>
              <a:buFont typeface="Lexend"/>
              <a:buNone/>
              <a:defRPr>
                <a:latin typeface="Lexend"/>
                <a:ea typeface="Lexend"/>
                <a:cs typeface="Lexend"/>
                <a:sym typeface="Lexend"/>
              </a:defRPr>
            </a:lvl5pPr>
            <a:lvl6pPr lvl="5" algn="l">
              <a:lnSpc>
                <a:spcPct val="100000"/>
              </a:lnSpc>
              <a:spcBef>
                <a:spcPts val="0"/>
              </a:spcBef>
              <a:spcAft>
                <a:spcPts val="0"/>
              </a:spcAft>
              <a:buSzPts val="1400"/>
              <a:buFont typeface="Lexend"/>
              <a:buNone/>
              <a:defRPr>
                <a:latin typeface="Lexend"/>
                <a:ea typeface="Lexend"/>
                <a:cs typeface="Lexend"/>
                <a:sym typeface="Lexend"/>
              </a:defRPr>
            </a:lvl6pPr>
            <a:lvl7pPr lvl="6" algn="l">
              <a:lnSpc>
                <a:spcPct val="100000"/>
              </a:lnSpc>
              <a:spcBef>
                <a:spcPts val="0"/>
              </a:spcBef>
              <a:spcAft>
                <a:spcPts val="0"/>
              </a:spcAft>
              <a:buSzPts val="1400"/>
              <a:buFont typeface="Lexend"/>
              <a:buNone/>
              <a:defRPr>
                <a:latin typeface="Lexend"/>
                <a:ea typeface="Lexend"/>
                <a:cs typeface="Lexend"/>
                <a:sym typeface="Lexend"/>
              </a:defRPr>
            </a:lvl7pPr>
            <a:lvl8pPr lvl="7" algn="l">
              <a:lnSpc>
                <a:spcPct val="100000"/>
              </a:lnSpc>
              <a:spcBef>
                <a:spcPts val="0"/>
              </a:spcBef>
              <a:spcAft>
                <a:spcPts val="0"/>
              </a:spcAft>
              <a:buSzPts val="1400"/>
              <a:buFont typeface="Lexend"/>
              <a:buNone/>
              <a:defRPr>
                <a:latin typeface="Lexend"/>
                <a:ea typeface="Lexend"/>
                <a:cs typeface="Lexend"/>
                <a:sym typeface="Lexend"/>
              </a:defRPr>
            </a:lvl8pPr>
            <a:lvl9pPr lvl="8" algn="l">
              <a:lnSpc>
                <a:spcPct val="100000"/>
              </a:lnSpc>
              <a:spcBef>
                <a:spcPts val="0"/>
              </a:spcBef>
              <a:spcAft>
                <a:spcPts val="0"/>
              </a:spcAft>
              <a:buSzPts val="1400"/>
              <a:buFont typeface="Lexend"/>
              <a:buNone/>
              <a:defRPr>
                <a:latin typeface="Lexend"/>
                <a:ea typeface="Lexend"/>
                <a:cs typeface="Lexend"/>
                <a:sym typeface="Lexend"/>
              </a:defRPr>
            </a:lvl9pPr>
          </a:lstStyle>
          <a:p>
            <a:endParaRPr/>
          </a:p>
        </p:txBody>
      </p:sp>
      <p:sp>
        <p:nvSpPr>
          <p:cNvPr id="19" name="Google Shape;19;p32"/>
          <p:cNvSpPr txBox="1">
            <a:spLocks noGrp="1"/>
          </p:cNvSpPr>
          <p:nvPr>
            <p:ph type="body" idx="1"/>
          </p:nvPr>
        </p:nvSpPr>
        <p:spPr>
          <a:xfrm>
            <a:off x="311700" y="863550"/>
            <a:ext cx="8520600" cy="3842700"/>
          </a:xfrm>
          <a:prstGeom prst="rect">
            <a:avLst/>
          </a:prstGeom>
          <a:noFill/>
          <a:ln>
            <a:noFill/>
          </a:ln>
        </p:spPr>
        <p:txBody>
          <a:bodyPr spcFirstLastPara="1" wrap="square" lIns="91425" tIns="45700" rIns="91425" bIns="45700" anchor="t" anchorCtr="0">
            <a:normAutofit/>
          </a:bodyPr>
          <a:lstStyle>
            <a:lvl1pPr marL="457200" lvl="0" indent="-336550" algn="l">
              <a:lnSpc>
                <a:spcPct val="100000"/>
              </a:lnSpc>
              <a:spcBef>
                <a:spcPts val="640"/>
              </a:spcBef>
              <a:spcAft>
                <a:spcPts val="0"/>
              </a:spcAft>
              <a:buSzPts val="1700"/>
              <a:buChar char="•"/>
              <a:defRPr sz="1700"/>
            </a:lvl1pPr>
            <a:lvl2pPr marL="914400" lvl="1" indent="-323850" algn="l">
              <a:lnSpc>
                <a:spcPct val="100000"/>
              </a:lnSpc>
              <a:spcBef>
                <a:spcPts val="560"/>
              </a:spcBef>
              <a:spcAft>
                <a:spcPts val="0"/>
              </a:spcAft>
              <a:buSzPts val="1500"/>
              <a:buChar char="–"/>
              <a:defRPr sz="1500"/>
            </a:lvl2pPr>
            <a:lvl3pPr marL="1371600" lvl="2" indent="-317500" algn="l">
              <a:lnSpc>
                <a:spcPct val="100000"/>
              </a:lnSpc>
              <a:spcBef>
                <a:spcPts val="48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SzPts val="1400"/>
              <a:buChar char="•"/>
              <a:defRPr/>
            </a:lvl6pPr>
            <a:lvl7pPr marL="3200400" lvl="6" indent="-317500" algn="l">
              <a:lnSpc>
                <a:spcPct val="100000"/>
              </a:lnSpc>
              <a:spcBef>
                <a:spcPts val="400"/>
              </a:spcBef>
              <a:spcAft>
                <a:spcPts val="0"/>
              </a:spcAft>
              <a:buSzPts val="1400"/>
              <a:buChar char="•"/>
              <a:defRPr/>
            </a:lvl7pPr>
            <a:lvl8pPr marL="3657600" lvl="7" indent="-317500" algn="l">
              <a:lnSpc>
                <a:spcPct val="100000"/>
              </a:lnSpc>
              <a:spcBef>
                <a:spcPts val="400"/>
              </a:spcBef>
              <a:spcAft>
                <a:spcPts val="0"/>
              </a:spcAft>
              <a:buSzPts val="1400"/>
              <a:buChar char="•"/>
              <a:defRPr/>
            </a:lvl8pPr>
            <a:lvl9pPr marL="4114800" lvl="8" indent="-317500" algn="l">
              <a:lnSpc>
                <a:spcPct val="100000"/>
              </a:lnSpc>
              <a:spcBef>
                <a:spcPts val="400"/>
              </a:spcBef>
              <a:spcAft>
                <a:spcPts val="0"/>
              </a:spcAft>
              <a:buSzPts val="1400"/>
              <a:buChar char="•"/>
              <a:defRPr/>
            </a:lvl9pPr>
          </a:lstStyle>
          <a:p>
            <a:endParaRPr/>
          </a:p>
        </p:txBody>
      </p:sp>
      <p:sp>
        <p:nvSpPr>
          <p:cNvPr id="20" name="Google Shape;20;p32"/>
          <p:cNvSpPr txBox="1">
            <a:spLocks noGrp="1"/>
          </p:cNvSpPr>
          <p:nvPr>
            <p:ph type="sldNum" idx="12"/>
          </p:nvPr>
        </p:nvSpPr>
        <p:spPr>
          <a:xfrm>
            <a:off x="8472458" y="4663217"/>
            <a:ext cx="548700" cy="3936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b" type="twoObj">
  <p:cSld name="TWO_OBJECTS">
    <p:spTree>
      <p:nvGrpSpPr>
        <p:cNvPr id="1" name="Shape 21"/>
        <p:cNvGrpSpPr/>
        <p:nvPr/>
      </p:nvGrpSpPr>
      <p:grpSpPr>
        <a:xfrm>
          <a:off x="0" y="0"/>
          <a:ext cx="0" cy="0"/>
          <a:chOff x="0" y="0"/>
          <a:chExt cx="0" cy="0"/>
        </a:xfrm>
      </p:grpSpPr>
      <p:sp>
        <p:nvSpPr>
          <p:cNvPr id="22" name="Google Shape;22;p33"/>
          <p:cNvSpPr txBox="1">
            <a:spLocks noGrp="1"/>
          </p:cNvSpPr>
          <p:nvPr>
            <p:ph type="title"/>
          </p:nvPr>
        </p:nvSpPr>
        <p:spPr>
          <a:xfrm>
            <a:off x="457200" y="205987"/>
            <a:ext cx="8229600" cy="5046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3"/>
          <p:cNvSpPr txBox="1">
            <a:spLocks noGrp="1"/>
          </p:cNvSpPr>
          <p:nvPr>
            <p:ph type="body" idx="1"/>
          </p:nvPr>
        </p:nvSpPr>
        <p:spPr>
          <a:xfrm>
            <a:off x="457200" y="1200150"/>
            <a:ext cx="4038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560"/>
              </a:spcBef>
              <a:spcAft>
                <a:spcPts val="0"/>
              </a:spcAft>
              <a:buClr>
                <a:schemeClr val="dk1"/>
              </a:buClr>
              <a:buSzPts val="1800"/>
              <a:buChar char="•"/>
              <a:defRPr/>
            </a:lvl1pPr>
            <a:lvl2pPr marL="914400" lvl="1" indent="-330200" algn="l">
              <a:lnSpc>
                <a:spcPct val="100000"/>
              </a:lnSpc>
              <a:spcBef>
                <a:spcPts val="480"/>
              </a:spcBef>
              <a:spcAft>
                <a:spcPts val="0"/>
              </a:spcAft>
              <a:buClr>
                <a:schemeClr val="dk1"/>
              </a:buClr>
              <a:buSzPts val="1600"/>
              <a:buChar char="–"/>
              <a:defRPr/>
            </a:lvl2pPr>
            <a:lvl3pPr marL="1371600" lvl="2" indent="-317500" algn="l">
              <a:lnSpc>
                <a:spcPct val="100000"/>
              </a:lnSpc>
              <a:spcBef>
                <a:spcPts val="400"/>
              </a:spcBef>
              <a:spcAft>
                <a:spcPts val="0"/>
              </a:spcAft>
              <a:buClr>
                <a:schemeClr val="dk1"/>
              </a:buClr>
              <a:buSzPts val="1400"/>
              <a:buChar char="•"/>
              <a:defRPr/>
            </a:lvl3pPr>
            <a:lvl4pPr marL="1828800" lvl="3" indent="-317500" algn="l">
              <a:lnSpc>
                <a:spcPct val="100000"/>
              </a:lnSpc>
              <a:spcBef>
                <a:spcPts val="360"/>
              </a:spcBef>
              <a:spcAft>
                <a:spcPts val="0"/>
              </a:spcAft>
              <a:buClr>
                <a:schemeClr val="dk1"/>
              </a:buClr>
              <a:buSzPts val="1400"/>
              <a:buChar char="–"/>
              <a:defRPr/>
            </a:lvl4pPr>
            <a:lvl5pPr marL="2286000" lvl="4" indent="-317500" algn="l">
              <a:lnSpc>
                <a:spcPct val="100000"/>
              </a:lnSpc>
              <a:spcBef>
                <a:spcPts val="360"/>
              </a:spcBef>
              <a:spcAft>
                <a:spcPts val="0"/>
              </a:spcAft>
              <a:buClr>
                <a:schemeClr val="dk1"/>
              </a:buClr>
              <a:buSzPts val="1400"/>
              <a:buChar char="»"/>
              <a:defRPr/>
            </a:lvl5pPr>
            <a:lvl6pPr marL="2743200" lvl="5" indent="-317500" algn="l">
              <a:lnSpc>
                <a:spcPct val="100000"/>
              </a:lnSpc>
              <a:spcBef>
                <a:spcPts val="360"/>
              </a:spcBef>
              <a:spcAft>
                <a:spcPts val="0"/>
              </a:spcAft>
              <a:buClr>
                <a:schemeClr val="dk1"/>
              </a:buClr>
              <a:buSzPts val="1400"/>
              <a:buChar char="•"/>
              <a:defRPr/>
            </a:lvl6pPr>
            <a:lvl7pPr marL="3200400" lvl="6" indent="-317500" algn="l">
              <a:lnSpc>
                <a:spcPct val="100000"/>
              </a:lnSpc>
              <a:spcBef>
                <a:spcPts val="360"/>
              </a:spcBef>
              <a:spcAft>
                <a:spcPts val="0"/>
              </a:spcAft>
              <a:buClr>
                <a:schemeClr val="dk1"/>
              </a:buClr>
              <a:buSzPts val="1400"/>
              <a:buChar char="•"/>
              <a:defRPr/>
            </a:lvl7pPr>
            <a:lvl8pPr marL="3657600" lvl="7" indent="-317500" algn="l">
              <a:lnSpc>
                <a:spcPct val="100000"/>
              </a:lnSpc>
              <a:spcBef>
                <a:spcPts val="360"/>
              </a:spcBef>
              <a:spcAft>
                <a:spcPts val="0"/>
              </a:spcAft>
              <a:buClr>
                <a:schemeClr val="dk1"/>
              </a:buClr>
              <a:buSzPts val="1400"/>
              <a:buChar char="•"/>
              <a:defRPr/>
            </a:lvl8pPr>
            <a:lvl9pPr marL="4114800" lvl="8" indent="-317500" algn="l">
              <a:lnSpc>
                <a:spcPct val="100000"/>
              </a:lnSpc>
              <a:spcBef>
                <a:spcPts val="360"/>
              </a:spcBef>
              <a:spcAft>
                <a:spcPts val="0"/>
              </a:spcAft>
              <a:buClr>
                <a:schemeClr val="dk1"/>
              </a:buClr>
              <a:buSzPts val="1400"/>
              <a:buChar char="•"/>
              <a:defRPr/>
            </a:lvl9pPr>
          </a:lstStyle>
          <a:p>
            <a:endParaRPr/>
          </a:p>
        </p:txBody>
      </p:sp>
      <p:sp>
        <p:nvSpPr>
          <p:cNvPr id="24" name="Google Shape;24;p33"/>
          <p:cNvSpPr txBox="1">
            <a:spLocks noGrp="1"/>
          </p:cNvSpPr>
          <p:nvPr>
            <p:ph type="body" idx="2"/>
          </p:nvPr>
        </p:nvSpPr>
        <p:spPr>
          <a:xfrm>
            <a:off x="4648200" y="1200150"/>
            <a:ext cx="4038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560"/>
              </a:spcBef>
              <a:spcAft>
                <a:spcPts val="0"/>
              </a:spcAft>
              <a:buClr>
                <a:schemeClr val="dk1"/>
              </a:buClr>
              <a:buSzPts val="1800"/>
              <a:buChar char="•"/>
              <a:defRPr/>
            </a:lvl1pPr>
            <a:lvl2pPr marL="914400" lvl="1" indent="-330200" algn="l">
              <a:lnSpc>
                <a:spcPct val="100000"/>
              </a:lnSpc>
              <a:spcBef>
                <a:spcPts val="480"/>
              </a:spcBef>
              <a:spcAft>
                <a:spcPts val="0"/>
              </a:spcAft>
              <a:buClr>
                <a:schemeClr val="dk1"/>
              </a:buClr>
              <a:buSzPts val="1600"/>
              <a:buChar char="–"/>
              <a:defRPr/>
            </a:lvl2pPr>
            <a:lvl3pPr marL="1371600" lvl="2" indent="-317500" algn="l">
              <a:lnSpc>
                <a:spcPct val="100000"/>
              </a:lnSpc>
              <a:spcBef>
                <a:spcPts val="400"/>
              </a:spcBef>
              <a:spcAft>
                <a:spcPts val="0"/>
              </a:spcAft>
              <a:buClr>
                <a:schemeClr val="dk1"/>
              </a:buClr>
              <a:buSzPts val="1400"/>
              <a:buChar char="•"/>
              <a:defRPr/>
            </a:lvl3pPr>
            <a:lvl4pPr marL="1828800" lvl="3" indent="-317500" algn="l">
              <a:lnSpc>
                <a:spcPct val="100000"/>
              </a:lnSpc>
              <a:spcBef>
                <a:spcPts val="360"/>
              </a:spcBef>
              <a:spcAft>
                <a:spcPts val="0"/>
              </a:spcAft>
              <a:buClr>
                <a:schemeClr val="dk1"/>
              </a:buClr>
              <a:buSzPts val="1400"/>
              <a:buChar char="–"/>
              <a:defRPr/>
            </a:lvl4pPr>
            <a:lvl5pPr marL="2286000" lvl="4" indent="-317500" algn="l">
              <a:lnSpc>
                <a:spcPct val="100000"/>
              </a:lnSpc>
              <a:spcBef>
                <a:spcPts val="360"/>
              </a:spcBef>
              <a:spcAft>
                <a:spcPts val="0"/>
              </a:spcAft>
              <a:buClr>
                <a:schemeClr val="dk1"/>
              </a:buClr>
              <a:buSzPts val="1400"/>
              <a:buChar char="»"/>
              <a:defRPr/>
            </a:lvl5pPr>
            <a:lvl6pPr marL="2743200" lvl="5" indent="-317500" algn="l">
              <a:lnSpc>
                <a:spcPct val="100000"/>
              </a:lnSpc>
              <a:spcBef>
                <a:spcPts val="360"/>
              </a:spcBef>
              <a:spcAft>
                <a:spcPts val="0"/>
              </a:spcAft>
              <a:buClr>
                <a:schemeClr val="dk1"/>
              </a:buClr>
              <a:buSzPts val="1400"/>
              <a:buChar char="•"/>
              <a:defRPr/>
            </a:lvl6pPr>
            <a:lvl7pPr marL="3200400" lvl="6" indent="-317500" algn="l">
              <a:lnSpc>
                <a:spcPct val="100000"/>
              </a:lnSpc>
              <a:spcBef>
                <a:spcPts val="360"/>
              </a:spcBef>
              <a:spcAft>
                <a:spcPts val="0"/>
              </a:spcAft>
              <a:buClr>
                <a:schemeClr val="dk1"/>
              </a:buClr>
              <a:buSzPts val="1400"/>
              <a:buChar char="•"/>
              <a:defRPr/>
            </a:lvl7pPr>
            <a:lvl8pPr marL="3657600" lvl="7" indent="-317500" algn="l">
              <a:lnSpc>
                <a:spcPct val="100000"/>
              </a:lnSpc>
              <a:spcBef>
                <a:spcPts val="360"/>
              </a:spcBef>
              <a:spcAft>
                <a:spcPts val="0"/>
              </a:spcAft>
              <a:buClr>
                <a:schemeClr val="dk1"/>
              </a:buClr>
              <a:buSzPts val="1400"/>
              <a:buChar char="•"/>
              <a:defRPr/>
            </a:lvl8pPr>
            <a:lvl9pPr marL="4114800" lvl="8" indent="-317500" algn="l">
              <a:lnSpc>
                <a:spcPct val="100000"/>
              </a:lnSpc>
              <a:spcBef>
                <a:spcPts val="360"/>
              </a:spcBef>
              <a:spcAft>
                <a:spcPts val="0"/>
              </a:spcAft>
              <a:buClr>
                <a:schemeClr val="dk1"/>
              </a:buClr>
              <a:buSzPts val="1400"/>
              <a:buChar char="•"/>
              <a:defRPr/>
            </a:lvl9pPr>
          </a:lstStyle>
          <a:p>
            <a:endParaRPr/>
          </a:p>
        </p:txBody>
      </p:sp>
      <p:sp>
        <p:nvSpPr>
          <p:cNvPr id="25" name="Google Shape;25;p3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34"/>
          <p:cNvSpPr txBox="1">
            <a:spLocks noGrp="1"/>
          </p:cNvSpPr>
          <p:nvPr>
            <p:ph type="title"/>
          </p:nvPr>
        </p:nvSpPr>
        <p:spPr>
          <a:xfrm>
            <a:off x="322375" y="205987"/>
            <a:ext cx="8229600" cy="4833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2800"/>
              <a:buFont typeface="Lexend"/>
              <a:buNone/>
              <a:defRPr sz="2800">
                <a:latin typeface="Lexend"/>
                <a:ea typeface="Lexend"/>
                <a:cs typeface="Lexend"/>
                <a:sym typeface="Lexend"/>
              </a:defRPr>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30" name="Google Shape;30;p34"/>
          <p:cNvSpPr txBox="1">
            <a:spLocks noGrp="1"/>
          </p:cNvSpPr>
          <p:nvPr>
            <p:ph type="body" idx="1"/>
          </p:nvPr>
        </p:nvSpPr>
        <p:spPr>
          <a:xfrm>
            <a:off x="322375" y="689275"/>
            <a:ext cx="8554500" cy="3877800"/>
          </a:xfrm>
          <a:prstGeom prst="rect">
            <a:avLst/>
          </a:prstGeom>
          <a:noFill/>
          <a:ln>
            <a:noFill/>
          </a:ln>
        </p:spPr>
        <p:txBody>
          <a:bodyPr spcFirstLastPara="1" wrap="square" lIns="91425" tIns="45700" rIns="91425" bIns="45700" anchor="t" anchorCtr="0">
            <a:normAutofit/>
          </a:bodyPr>
          <a:lstStyle>
            <a:lvl1pPr marL="457200" lvl="0" indent="-292100" algn="l">
              <a:lnSpc>
                <a:spcPct val="100000"/>
              </a:lnSpc>
              <a:spcBef>
                <a:spcPts val="360"/>
              </a:spcBef>
              <a:spcAft>
                <a:spcPts val="0"/>
              </a:spcAft>
              <a:buClr>
                <a:schemeClr val="dk1"/>
              </a:buClr>
              <a:buSzPts val="1000"/>
              <a:buFont typeface="Lexend"/>
              <a:buChar char="•"/>
              <a:defRPr>
                <a:latin typeface="Lexend"/>
                <a:ea typeface="Lexend"/>
                <a:cs typeface="Lexend"/>
                <a:sym typeface="Lexend"/>
              </a:defRPr>
            </a:lvl1pPr>
            <a:lvl2pPr marL="914400" lvl="1" indent="-311150" algn="l">
              <a:lnSpc>
                <a:spcPct val="100000"/>
              </a:lnSpc>
              <a:spcBef>
                <a:spcPts val="360"/>
              </a:spcBef>
              <a:spcAft>
                <a:spcPts val="0"/>
              </a:spcAft>
              <a:buClr>
                <a:schemeClr val="dk1"/>
              </a:buClr>
              <a:buSzPts val="1300"/>
              <a:buFont typeface="Lexend"/>
              <a:buChar char="–"/>
              <a:defRPr>
                <a:latin typeface="Lexend"/>
                <a:ea typeface="Lexend"/>
                <a:cs typeface="Lexend"/>
                <a:sym typeface="Lexend"/>
              </a:defRPr>
            </a:lvl2pPr>
            <a:lvl3pPr marL="1371600" lvl="2" indent="-3175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3pPr>
            <a:lvl4pPr marL="1828800" lvl="3" indent="-3175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4pPr>
            <a:lvl5pPr marL="2286000" lvl="4" indent="-3175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5pPr>
            <a:lvl6pPr marL="2743200" lvl="5" indent="-3175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6pPr>
            <a:lvl7pPr marL="3200400" lvl="6" indent="-3175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7pPr>
            <a:lvl8pPr marL="3657600" lvl="7" indent="-3175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8pPr>
            <a:lvl9pPr marL="4114800" lvl="8" indent="-3175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9pPr>
          </a:lstStyle>
          <a:p>
            <a:endParaRPr/>
          </a:p>
        </p:txBody>
      </p:sp>
      <p:sp>
        <p:nvSpPr>
          <p:cNvPr id="31" name="Google Shape;31;p34"/>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4"/>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4"/>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35"/>
          <p:cNvSpPr txBox="1">
            <a:spLocks noGrp="1"/>
          </p:cNvSpPr>
          <p:nvPr>
            <p:ph type="title"/>
          </p:nvPr>
        </p:nvSpPr>
        <p:spPr>
          <a:xfrm>
            <a:off x="457200" y="205987"/>
            <a:ext cx="8229600" cy="5046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300"/>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5"/>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5"/>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5"/>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9"/>
        <p:cNvGrpSpPr/>
        <p:nvPr/>
      </p:nvGrpSpPr>
      <p:grpSpPr>
        <a:xfrm>
          <a:off x="0" y="0"/>
          <a:ext cx="0" cy="0"/>
          <a:chOff x="0" y="0"/>
          <a:chExt cx="0" cy="0"/>
        </a:xfrm>
      </p:grpSpPr>
      <p:sp>
        <p:nvSpPr>
          <p:cNvPr id="40" name="Google Shape;40;p36"/>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6"/>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6"/>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sp>
        <p:nvSpPr>
          <p:cNvPr id="44" name="Google Shape;44;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5" name="Google Shape;45;p3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6" name="Google Shape;46;p3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7" name="Google Shape;47;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30"/>
          <p:cNvSpPr txBox="1">
            <a:spLocks noGrp="1"/>
          </p:cNvSpPr>
          <p:nvPr>
            <p:ph type="title"/>
          </p:nvPr>
        </p:nvSpPr>
        <p:spPr>
          <a:xfrm>
            <a:off x="457200" y="205987"/>
            <a:ext cx="8229600" cy="50460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rgbClr val="434343"/>
              </a:buClr>
              <a:buSzPts val="2800"/>
              <a:buFont typeface="Lexend"/>
              <a:buNone/>
              <a:defRPr sz="2800" b="0" i="0" u="none" strike="noStrike" cap="none">
                <a:solidFill>
                  <a:srgbClr val="434343"/>
                </a:solidFill>
                <a:latin typeface="Lexend"/>
                <a:ea typeface="Lexend"/>
                <a:cs typeface="Lexend"/>
                <a:sym typeface="Lexen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30"/>
          <p:cNvSpPr txBox="1">
            <a:spLocks noGrp="1"/>
          </p:cNvSpPr>
          <p:nvPr>
            <p:ph type="body" idx="1"/>
          </p:nvPr>
        </p:nvSpPr>
        <p:spPr>
          <a:xfrm>
            <a:off x="457200" y="710664"/>
            <a:ext cx="8229600" cy="378840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640"/>
              </a:spcBef>
              <a:spcAft>
                <a:spcPts val="0"/>
              </a:spcAft>
              <a:buClr>
                <a:srgbClr val="434343"/>
              </a:buClr>
              <a:buSzPts val="1800"/>
              <a:buFont typeface="Lexend"/>
              <a:buChar char="•"/>
              <a:defRPr sz="1800" b="0" i="0" u="none" strike="noStrike" cap="none">
                <a:solidFill>
                  <a:srgbClr val="434343"/>
                </a:solidFill>
                <a:latin typeface="Lexend"/>
                <a:ea typeface="Lexend"/>
                <a:cs typeface="Lexend"/>
                <a:sym typeface="Lexend"/>
              </a:defRPr>
            </a:lvl1pPr>
            <a:lvl2pPr marL="914400" marR="0" lvl="1" indent="-330200" algn="l" rtl="0">
              <a:lnSpc>
                <a:spcPct val="100000"/>
              </a:lnSpc>
              <a:spcBef>
                <a:spcPts val="560"/>
              </a:spcBef>
              <a:spcAft>
                <a:spcPts val="0"/>
              </a:spcAft>
              <a:buClr>
                <a:srgbClr val="434343"/>
              </a:buClr>
              <a:buSzPts val="1600"/>
              <a:buFont typeface="Lexend"/>
              <a:buChar char="–"/>
              <a:defRPr sz="1600" b="0" i="0" u="none" strike="noStrike" cap="none">
                <a:solidFill>
                  <a:srgbClr val="434343"/>
                </a:solidFill>
                <a:latin typeface="Lexend"/>
                <a:ea typeface="Lexend"/>
                <a:cs typeface="Lexend"/>
                <a:sym typeface="Lexend"/>
              </a:defRPr>
            </a:lvl2pPr>
            <a:lvl3pPr marL="1371600" marR="0" lvl="2" indent="-317500" algn="l" rtl="0">
              <a:lnSpc>
                <a:spcPct val="100000"/>
              </a:lnSpc>
              <a:spcBef>
                <a:spcPts val="480"/>
              </a:spcBef>
              <a:spcAft>
                <a:spcPts val="0"/>
              </a:spcAft>
              <a:buClr>
                <a:srgbClr val="434343"/>
              </a:buClr>
              <a:buSzPts val="1400"/>
              <a:buFont typeface="Lexend"/>
              <a:buChar char="•"/>
              <a:defRPr sz="1400" b="0" i="0" u="none" strike="noStrike" cap="none">
                <a:solidFill>
                  <a:srgbClr val="434343"/>
                </a:solidFill>
                <a:latin typeface="Lexend"/>
                <a:ea typeface="Lexend"/>
                <a:cs typeface="Lexend"/>
                <a:sym typeface="Lexend"/>
              </a:defRPr>
            </a:lvl3pPr>
            <a:lvl4pPr marL="1828800" marR="0" lvl="3" indent="-317500" algn="l" rtl="0">
              <a:lnSpc>
                <a:spcPct val="100000"/>
              </a:lnSpc>
              <a:spcBef>
                <a:spcPts val="400"/>
              </a:spcBef>
              <a:spcAft>
                <a:spcPts val="0"/>
              </a:spcAft>
              <a:buClr>
                <a:srgbClr val="434343"/>
              </a:buClr>
              <a:buSzPts val="1400"/>
              <a:buFont typeface="Lexend"/>
              <a:buChar char="–"/>
              <a:defRPr sz="1400" b="0" i="0" u="none" strike="noStrike" cap="none">
                <a:solidFill>
                  <a:srgbClr val="434343"/>
                </a:solidFill>
                <a:latin typeface="Lexend"/>
                <a:ea typeface="Lexend"/>
                <a:cs typeface="Lexend"/>
                <a:sym typeface="Lexend"/>
              </a:defRPr>
            </a:lvl4pPr>
            <a:lvl5pPr marL="2286000" marR="0" lvl="4" indent="-317500" algn="l" rtl="0">
              <a:lnSpc>
                <a:spcPct val="100000"/>
              </a:lnSpc>
              <a:spcBef>
                <a:spcPts val="400"/>
              </a:spcBef>
              <a:spcAft>
                <a:spcPts val="0"/>
              </a:spcAft>
              <a:buClr>
                <a:srgbClr val="434343"/>
              </a:buClr>
              <a:buSzPts val="1400"/>
              <a:buFont typeface="Lexend"/>
              <a:buChar char="»"/>
              <a:defRPr sz="1400" b="0" i="0" u="none" strike="noStrike" cap="none">
                <a:solidFill>
                  <a:srgbClr val="434343"/>
                </a:solidFill>
                <a:latin typeface="Lexend"/>
                <a:ea typeface="Lexend"/>
                <a:cs typeface="Lexend"/>
                <a:sym typeface="Lexend"/>
              </a:defRPr>
            </a:lvl5pPr>
            <a:lvl6pPr marL="2743200" marR="0" lvl="5" indent="-317500" algn="l" rtl="0">
              <a:lnSpc>
                <a:spcPct val="100000"/>
              </a:lnSpc>
              <a:spcBef>
                <a:spcPts val="400"/>
              </a:spcBef>
              <a:spcAft>
                <a:spcPts val="0"/>
              </a:spcAft>
              <a:buClr>
                <a:srgbClr val="434343"/>
              </a:buClr>
              <a:buSzPts val="1400"/>
              <a:buFont typeface="Lexend"/>
              <a:buChar char="•"/>
              <a:defRPr sz="1400" b="0" i="0" u="none" strike="noStrike" cap="none">
                <a:solidFill>
                  <a:srgbClr val="434343"/>
                </a:solidFill>
                <a:latin typeface="Lexend"/>
                <a:ea typeface="Lexend"/>
                <a:cs typeface="Lexend"/>
                <a:sym typeface="Lexend"/>
              </a:defRPr>
            </a:lvl6pPr>
            <a:lvl7pPr marL="3200400" marR="0" lvl="6" indent="-317500" algn="l" rtl="0">
              <a:lnSpc>
                <a:spcPct val="100000"/>
              </a:lnSpc>
              <a:spcBef>
                <a:spcPts val="400"/>
              </a:spcBef>
              <a:spcAft>
                <a:spcPts val="0"/>
              </a:spcAft>
              <a:buClr>
                <a:srgbClr val="434343"/>
              </a:buClr>
              <a:buSzPts val="1400"/>
              <a:buFont typeface="Lexend"/>
              <a:buChar char="•"/>
              <a:defRPr sz="1400" b="0" i="0" u="none" strike="noStrike" cap="none">
                <a:solidFill>
                  <a:srgbClr val="434343"/>
                </a:solidFill>
                <a:latin typeface="Lexend"/>
                <a:ea typeface="Lexend"/>
                <a:cs typeface="Lexend"/>
                <a:sym typeface="Lexend"/>
              </a:defRPr>
            </a:lvl7pPr>
            <a:lvl8pPr marL="3657600" marR="0" lvl="7" indent="-317500" algn="l" rtl="0">
              <a:lnSpc>
                <a:spcPct val="100000"/>
              </a:lnSpc>
              <a:spcBef>
                <a:spcPts val="400"/>
              </a:spcBef>
              <a:spcAft>
                <a:spcPts val="0"/>
              </a:spcAft>
              <a:buClr>
                <a:srgbClr val="434343"/>
              </a:buClr>
              <a:buSzPts val="1400"/>
              <a:buFont typeface="Lexend"/>
              <a:buChar char="•"/>
              <a:defRPr sz="1400" b="0" i="0" u="none" strike="noStrike" cap="none">
                <a:solidFill>
                  <a:srgbClr val="434343"/>
                </a:solidFill>
                <a:latin typeface="Lexend"/>
                <a:ea typeface="Lexend"/>
                <a:cs typeface="Lexend"/>
                <a:sym typeface="Lexend"/>
              </a:defRPr>
            </a:lvl8pPr>
            <a:lvl9pPr marL="4114800" marR="0" lvl="8" indent="-317500" algn="l" rtl="0">
              <a:lnSpc>
                <a:spcPct val="100000"/>
              </a:lnSpc>
              <a:spcBef>
                <a:spcPts val="400"/>
              </a:spcBef>
              <a:spcAft>
                <a:spcPts val="0"/>
              </a:spcAft>
              <a:buClr>
                <a:srgbClr val="434343"/>
              </a:buClr>
              <a:buSzPts val="1400"/>
              <a:buFont typeface="Lexend"/>
              <a:buChar char="•"/>
              <a:defRPr sz="1400" b="0" i="0" u="none" strike="noStrike" cap="none">
                <a:solidFill>
                  <a:srgbClr val="434343"/>
                </a:solidFill>
                <a:latin typeface="Lexend"/>
                <a:ea typeface="Lexend"/>
                <a:cs typeface="Lexend"/>
                <a:sym typeface="Lexend"/>
              </a:defRPr>
            </a:lvl9pPr>
          </a:lstStyle>
          <a:p>
            <a:endParaRPr/>
          </a:p>
        </p:txBody>
      </p:sp>
      <p:sp>
        <p:nvSpPr>
          <p:cNvPr id="8" name="Google Shape;8;p30"/>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0"/>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hyperlink" Target="mailto:debmh.teach@gmail.com"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docs.google.com/document/d/1oDxqqdXe3LrrYHgh-BQnvbaNNPsL-02c/edit" TargetMode="External"/><Relationship Id="rId4" Type="http://schemas.openxmlformats.org/officeDocument/2006/relationships/hyperlink" Target="https://docs.google.com/document/d/1K_B--VXFhljZl9hE4GpQQ0ast-Mp9tNg1KIxeVn6ycU/edit?tab=t.0#heading=h.aag6fjszy8ci"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medium.com/javarevisited/is-java-outdated-heres-the-real-truth-in-2025-b95bfbb6a746"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liveexample-ppe.pearsoncmg.com/codeanimation/Welcome.html"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hyperlink" Target="https://www.w3schools.com/java/java_comments.asp"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hyperlink" Target="https://www.geeksforgeeks.org/java/java-data-type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hyperlink" Target="https://www.oracle.com/java/technologies/javase/codeconventions-introduction.html" TargetMode="External"/><Relationship Id="rId7"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www.oracle.com/java/technologies/javase/codeconventions-declarations.html#18761" TargetMode="External"/><Relationship Id="rId5" Type="http://schemas.openxmlformats.org/officeDocument/2006/relationships/hyperlink" Target="https://www.oracle.com/java/technologies/javase/codeconventions-declarations.html" TargetMode="External"/><Relationship Id="rId4" Type="http://schemas.openxmlformats.org/officeDocument/2006/relationships/hyperlink" Target="https://www.oracle.com/java/technologies/javase/codeconventions-namingconventions.html" TargetMode="External"/><Relationship Id="rId9"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liveexample.pearsoncmg.com/liang/intro12e/html/ComputeArea.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www.mathsisfun.com/operation-order-pemdas.html"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betterexplained.com/articles/fun-with-modular-arithmetic/"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liveexample.pearsoncmg.com/liang/intro12e/html/ComputeChange.html"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archbee.com/blog/improve-developer-documentation#toc-0"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docs.google.com/document/d/1oDxqqdXe3LrrYHgh-BQnvbaNNPsL-02c/edit#heading=h.15i9ilwm79bx"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techtarget.com/searchsoftwarequality/definition/Pair-programming"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pythontutor.com/render.html#mode=edit" TargetMode="External"/><Relationship Id="rId5" Type="http://schemas.openxmlformats.org/officeDocument/2006/relationships/hyperlink" Target="https://liveexample.pearsoncmg.com/liang/intro12e/html/ComputeArea.html" TargetMode="Externa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hyperlink" Target="https://runestone.academy/ns/books/published/csjava/Unit1-Getting-Started/toctree.html"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hyperlink" Target="https://docs.google.com/document/d/1oDxqqdXe3LrrYHgh-BQnvbaNNPsL-02c/edit#heading=h.15i9ilwm79b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a:spLocks noGrp="1"/>
          </p:cNvSpPr>
          <p:nvPr>
            <p:ph type="ctrTitle"/>
          </p:nvPr>
        </p:nvSpPr>
        <p:spPr>
          <a:xfrm>
            <a:off x="707725" y="141950"/>
            <a:ext cx="7031700" cy="1279800"/>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ct val="26190"/>
              <a:buNone/>
            </a:pPr>
            <a:r>
              <a:rPr lang="en" sz="3780"/>
              <a:t>M01 L02</a:t>
            </a:r>
            <a:endParaRPr sz="3780"/>
          </a:p>
          <a:p>
            <a:pPr marL="0" lvl="0" indent="0" algn="ctr" rtl="0">
              <a:lnSpc>
                <a:spcPct val="100000"/>
              </a:lnSpc>
              <a:spcBef>
                <a:spcPts val="0"/>
              </a:spcBef>
              <a:spcAft>
                <a:spcPts val="0"/>
              </a:spcAft>
              <a:buSzPct val="26190"/>
              <a:buNone/>
            </a:pPr>
            <a:r>
              <a:rPr lang="en" sz="3780"/>
              <a:t>Language Fundamentals</a:t>
            </a:r>
            <a:endParaRPr sz="3780"/>
          </a:p>
        </p:txBody>
      </p:sp>
      <p:pic>
        <p:nvPicPr>
          <p:cNvPr id="53" name="Google Shape;53;p1"/>
          <p:cNvPicPr preferRelativeResize="0"/>
          <p:nvPr/>
        </p:nvPicPr>
        <p:blipFill rotWithShape="1">
          <a:blip r:embed="rId3">
            <a:alphaModFix/>
          </a:blip>
          <a:srcRect/>
          <a:stretch/>
        </p:blipFill>
        <p:spPr>
          <a:xfrm>
            <a:off x="2687050" y="1421750"/>
            <a:ext cx="3288874" cy="3069851"/>
          </a:xfrm>
          <a:prstGeom prst="rect">
            <a:avLst/>
          </a:prstGeom>
          <a:noFill/>
          <a:ln>
            <a:noFill/>
          </a:ln>
        </p:spPr>
      </p:pic>
      <p:pic>
        <p:nvPicPr>
          <p:cNvPr id="54" name="Google Shape;54;p1"/>
          <p:cNvPicPr preferRelativeResize="0"/>
          <p:nvPr/>
        </p:nvPicPr>
        <p:blipFill rotWithShape="1">
          <a:blip r:embed="rId4">
            <a:alphaModFix/>
          </a:blip>
          <a:srcRect/>
          <a:stretch/>
        </p:blipFill>
        <p:spPr>
          <a:xfrm>
            <a:off x="135400" y="4726900"/>
            <a:ext cx="765955" cy="269825"/>
          </a:xfrm>
          <a:prstGeom prst="rect">
            <a:avLst/>
          </a:prstGeom>
          <a:noFill/>
          <a:ln>
            <a:noFill/>
          </a:ln>
        </p:spPr>
      </p:pic>
      <p:sp>
        <p:nvSpPr>
          <p:cNvPr id="55" name="Google Shape;55;p1"/>
          <p:cNvSpPr txBox="1"/>
          <p:nvPr/>
        </p:nvSpPr>
        <p:spPr>
          <a:xfrm>
            <a:off x="901350" y="4726899"/>
            <a:ext cx="8142300" cy="37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Lexend"/>
                <a:ea typeface="Lexend"/>
                <a:cs typeface="Lexend"/>
                <a:sym typeface="Lexend"/>
              </a:rPr>
              <a:t>teAch Bedeus LLC </a:t>
            </a:r>
            <a:r>
              <a:rPr lang="en" sz="1000" b="0" i="0" u="sng" strike="noStrike" cap="none">
                <a:solidFill>
                  <a:srgbClr val="0000FF"/>
                </a:solidFill>
                <a:latin typeface="Lexend"/>
                <a:ea typeface="Lexend"/>
                <a:cs typeface="Lexend"/>
                <a:sym typeface="Lexend"/>
                <a:hlinkClick r:id="rId5">
                  <a:extLst>
                    <a:ext uri="{A12FA001-AC4F-418D-AE19-62706E023703}">
                      <ahyp:hlinkClr xmlns:ahyp="http://schemas.microsoft.com/office/drawing/2018/hyperlinkcolor" val="tx"/>
                    </a:ext>
                  </a:extLst>
                </a:hlinkClick>
              </a:rPr>
              <a:t>debmh.teach@gmail.com</a:t>
            </a:r>
            <a:r>
              <a:rPr lang="en" sz="1000" b="0" i="0" u="none" strike="noStrike" cap="none">
                <a:solidFill>
                  <a:srgbClr val="000000"/>
                </a:solidFill>
                <a:latin typeface="Lexend"/>
                <a:ea typeface="Lexend"/>
                <a:cs typeface="Lexend"/>
                <a:sym typeface="Lexend"/>
              </a:rPr>
              <a:t>  is licensed under a </a:t>
            </a:r>
            <a:r>
              <a:rPr lang="en" sz="1000" b="0" i="0" u="sng" strike="noStrike" cap="none">
                <a:solidFill>
                  <a:srgbClr val="0000FF"/>
                </a:solidFill>
                <a:latin typeface="Lexend"/>
                <a:ea typeface="Lexend"/>
                <a:cs typeface="Lexend"/>
                <a:sym typeface="Lexend"/>
                <a:hlinkClick r:id="rId6">
                  <a:extLst>
                    <a:ext uri="{A12FA001-AC4F-418D-AE19-62706E023703}">
                      <ahyp:hlinkClr xmlns:ahyp="http://schemas.microsoft.com/office/drawing/2018/hyperlinkcolor" val="tx"/>
                    </a:ext>
                  </a:extLst>
                </a:hlinkClick>
              </a:rPr>
              <a:t>https://creativecommons.org/licenses/by-nc-sa/4.0/</a:t>
            </a:r>
            <a:endParaRPr sz="1000" b="0" i="0" u="none" strike="noStrike" cap="none">
              <a:solidFill>
                <a:srgbClr val="000000"/>
              </a:solidFill>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2"/>
          <p:cNvPicPr preferRelativeResize="0"/>
          <p:nvPr/>
        </p:nvPicPr>
        <p:blipFill rotWithShape="1">
          <a:blip r:embed="rId3">
            <a:alphaModFix/>
          </a:blip>
          <a:srcRect b="23582"/>
          <a:stretch/>
        </p:blipFill>
        <p:spPr>
          <a:xfrm>
            <a:off x="6595250" y="116950"/>
            <a:ext cx="2407400" cy="2333150"/>
          </a:xfrm>
          <a:prstGeom prst="rect">
            <a:avLst/>
          </a:prstGeom>
          <a:noFill/>
          <a:ln>
            <a:noFill/>
          </a:ln>
        </p:spPr>
      </p:pic>
      <p:sp>
        <p:nvSpPr>
          <p:cNvPr id="61" name="Google Shape;61;p2"/>
          <p:cNvSpPr txBox="1">
            <a:spLocks noGrp="1"/>
          </p:cNvSpPr>
          <p:nvPr>
            <p:ph type="title"/>
          </p:nvPr>
        </p:nvSpPr>
        <p:spPr>
          <a:xfrm>
            <a:off x="311700" y="254900"/>
            <a:ext cx="68538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Check In</a:t>
            </a:r>
            <a:endParaRPr/>
          </a:p>
        </p:txBody>
      </p:sp>
      <p:sp>
        <p:nvSpPr>
          <p:cNvPr id="62" name="Google Shape;62;p2"/>
          <p:cNvSpPr txBox="1">
            <a:spLocks noGrp="1"/>
          </p:cNvSpPr>
          <p:nvPr>
            <p:ph type="body" idx="1"/>
          </p:nvPr>
        </p:nvSpPr>
        <p:spPr>
          <a:xfrm>
            <a:off x="131100" y="781375"/>
            <a:ext cx="8217900" cy="4315800"/>
          </a:xfrm>
          <a:prstGeom prst="rect">
            <a:avLst/>
          </a:prstGeom>
          <a:noFill/>
          <a:ln>
            <a:noFill/>
          </a:ln>
        </p:spPr>
        <p:txBody>
          <a:bodyPr spcFirstLastPara="1" wrap="square" lIns="91425" tIns="91425" rIns="91425" bIns="91425" anchor="t" anchorCtr="0">
            <a:noAutofit/>
          </a:bodyPr>
          <a:lstStyle/>
          <a:p>
            <a:pPr marL="342900" lvl="0" indent="-228600" algn="l" rtl="0">
              <a:lnSpc>
                <a:spcPct val="100000"/>
              </a:lnSpc>
              <a:spcBef>
                <a:spcPts val="0"/>
              </a:spcBef>
              <a:spcAft>
                <a:spcPts val="0"/>
              </a:spcAft>
              <a:buSzPts val="1400"/>
              <a:buChar char="●"/>
            </a:pPr>
            <a:r>
              <a:rPr lang="en" sz="1400" dirty="0"/>
              <a:t>Did you set up your environment?</a:t>
            </a:r>
            <a:endParaRPr sz="1400" dirty="0"/>
          </a:p>
          <a:p>
            <a:pPr marL="342900" lvl="0" indent="-228600" algn="l" rtl="0">
              <a:lnSpc>
                <a:spcPct val="100000"/>
              </a:lnSpc>
              <a:spcBef>
                <a:spcPts val="0"/>
              </a:spcBef>
              <a:spcAft>
                <a:spcPts val="0"/>
              </a:spcAft>
              <a:buSzPts val="1400"/>
              <a:buChar char="●"/>
            </a:pPr>
            <a:r>
              <a:rPr lang="en" sz="1400" dirty="0"/>
              <a:t>Do you have any questions?</a:t>
            </a:r>
            <a:endParaRPr sz="1400" dirty="0"/>
          </a:p>
          <a:p>
            <a:pPr marL="342900" lvl="0" indent="-228600" algn="l" rtl="0">
              <a:lnSpc>
                <a:spcPct val="100000"/>
              </a:lnSpc>
              <a:spcBef>
                <a:spcPts val="0"/>
              </a:spcBef>
              <a:spcAft>
                <a:spcPts val="0"/>
              </a:spcAft>
              <a:buSzPts val="1400"/>
              <a:buChar char="●"/>
            </a:pPr>
            <a:r>
              <a:rPr lang="en" sz="1400" dirty="0"/>
              <a:t>Mandatory Participation Policy What must you do?</a:t>
            </a:r>
            <a:endParaRPr sz="1400" dirty="0"/>
          </a:p>
          <a:p>
            <a:pPr marL="914400" lvl="1" indent="-317500" algn="l" rtl="0">
              <a:spcBef>
                <a:spcPts val="0"/>
              </a:spcBef>
              <a:spcAft>
                <a:spcPts val="0"/>
              </a:spcAft>
              <a:buSzPts val="1400"/>
              <a:buChar char="–"/>
            </a:pPr>
            <a:r>
              <a:rPr lang="en" sz="1400" dirty="0"/>
              <a:t>Did you complete Survey? </a:t>
            </a:r>
            <a:endParaRPr sz="1400" dirty="0"/>
          </a:p>
          <a:p>
            <a:pPr marL="914400" lvl="1" indent="-317500" algn="l" rtl="0">
              <a:spcBef>
                <a:spcPts val="0"/>
              </a:spcBef>
              <a:spcAft>
                <a:spcPts val="0"/>
              </a:spcAft>
              <a:buSzPts val="1400"/>
              <a:buChar char="–"/>
            </a:pPr>
            <a:r>
              <a:rPr lang="en" sz="1400" dirty="0"/>
              <a:t>Did you miss a class? </a:t>
            </a:r>
            <a:endParaRPr sz="1400" dirty="0"/>
          </a:p>
          <a:p>
            <a:pPr marL="457200" lvl="0" indent="-317500" algn="l" rtl="0">
              <a:spcBef>
                <a:spcPts val="0"/>
              </a:spcBef>
              <a:spcAft>
                <a:spcPts val="0"/>
              </a:spcAft>
              <a:buSzPts val="1400"/>
              <a:buChar char="●"/>
            </a:pPr>
            <a:r>
              <a:rPr lang="en" sz="1400" dirty="0"/>
              <a:t>What office hours can you attend?</a:t>
            </a:r>
            <a:endParaRPr sz="1400" dirty="0"/>
          </a:p>
          <a:p>
            <a:pPr marL="457200" lvl="0" indent="0" algn="l" rtl="0">
              <a:lnSpc>
                <a:spcPct val="115000"/>
              </a:lnSpc>
              <a:spcBef>
                <a:spcPts val="0"/>
              </a:spcBef>
              <a:spcAft>
                <a:spcPts val="0"/>
              </a:spcAft>
              <a:buNone/>
            </a:pPr>
            <a:endParaRPr sz="1400" dirty="0"/>
          </a:p>
          <a:p>
            <a:pPr marL="0" lvl="0" indent="0" algn="l" rtl="0">
              <a:lnSpc>
                <a:spcPct val="100000"/>
              </a:lnSpc>
              <a:spcBef>
                <a:spcPts val="640"/>
              </a:spcBef>
              <a:spcAft>
                <a:spcPts val="0"/>
              </a:spcAft>
              <a:buSzPts val="1600"/>
              <a:buNone/>
            </a:pPr>
            <a:endParaRPr sz="1400" dirty="0"/>
          </a:p>
          <a:p>
            <a:pPr marL="0" lvl="0" indent="0" algn="l" rtl="0">
              <a:lnSpc>
                <a:spcPct val="100000"/>
              </a:lnSpc>
              <a:spcBef>
                <a:spcPts val="640"/>
              </a:spcBef>
              <a:spcAft>
                <a:spcPts val="0"/>
              </a:spcAft>
              <a:buSzPts val="1600"/>
              <a:buNone/>
            </a:pPr>
            <a:endParaRPr sz="1400" dirty="0"/>
          </a:p>
          <a:p>
            <a:pPr marL="0" lvl="0" indent="0" algn="l" rtl="0">
              <a:lnSpc>
                <a:spcPct val="100000"/>
              </a:lnSpc>
              <a:spcBef>
                <a:spcPts val="640"/>
              </a:spcBef>
              <a:spcAft>
                <a:spcPts val="0"/>
              </a:spcAft>
              <a:buSzPts val="1600"/>
              <a:buNone/>
            </a:pPr>
            <a:r>
              <a:rPr lang="en" sz="1400" dirty="0">
                <a:highlight>
                  <a:srgbClr val="D9D2E9"/>
                </a:highlight>
              </a:rPr>
              <a:t>Set up</a:t>
            </a:r>
            <a:endParaRPr sz="1400" dirty="0">
              <a:highlight>
                <a:srgbClr val="D9D2E9"/>
              </a:highlight>
            </a:endParaRPr>
          </a:p>
          <a:p>
            <a:pPr marL="457200" lvl="0" indent="-317500" algn="l" rtl="0">
              <a:lnSpc>
                <a:spcPct val="100000"/>
              </a:lnSpc>
              <a:spcBef>
                <a:spcPts val="0"/>
              </a:spcBef>
              <a:spcAft>
                <a:spcPts val="0"/>
              </a:spcAft>
              <a:buSzPts val="1400"/>
              <a:buChar char="•"/>
            </a:pPr>
            <a:r>
              <a:rPr lang="en" sz="1400" dirty="0">
                <a:highlight>
                  <a:srgbClr val="D9D2E9"/>
                </a:highlight>
              </a:rPr>
              <a:t>Go to canvas and Go to the google drive resources</a:t>
            </a:r>
            <a:endParaRPr sz="1400" dirty="0">
              <a:highlight>
                <a:srgbClr val="D9D2E9"/>
              </a:highlight>
            </a:endParaRPr>
          </a:p>
          <a:p>
            <a:pPr marL="457200" lvl="0" indent="-317500" algn="l" rtl="0">
              <a:lnSpc>
                <a:spcPct val="100000"/>
              </a:lnSpc>
              <a:spcBef>
                <a:spcPts val="0"/>
              </a:spcBef>
              <a:spcAft>
                <a:spcPts val="0"/>
              </a:spcAft>
              <a:buSzPts val="1400"/>
              <a:buChar char="•"/>
            </a:pPr>
            <a:r>
              <a:rPr lang="en" sz="1400" dirty="0">
                <a:highlight>
                  <a:srgbClr val="D9D2E9"/>
                </a:highlight>
              </a:rPr>
              <a:t>Open this lecture in your browser you can download or make a copy</a:t>
            </a:r>
            <a:endParaRPr sz="1400" dirty="0">
              <a:highlight>
                <a:srgbClr val="D9D2E9"/>
              </a:highlight>
            </a:endParaRPr>
          </a:p>
          <a:p>
            <a:pPr marL="457200" lvl="0" indent="-317500" algn="l" rtl="0">
              <a:lnSpc>
                <a:spcPct val="100000"/>
              </a:lnSpc>
              <a:spcBef>
                <a:spcPts val="0"/>
              </a:spcBef>
              <a:spcAft>
                <a:spcPts val="0"/>
              </a:spcAft>
              <a:buSzPts val="1400"/>
              <a:buChar char="•"/>
            </a:pPr>
            <a:r>
              <a:rPr lang="en" sz="1400" dirty="0">
                <a:highlight>
                  <a:srgbClr val="D9D2E9"/>
                </a:highlight>
              </a:rPr>
              <a:t>Open you Ge01 Document and go to canvas class participation to submit your work for </a:t>
            </a:r>
            <a:r>
              <a:rPr lang="en" sz="1400" u="sng" dirty="0">
                <a:solidFill>
                  <a:schemeClr val="hlink"/>
                </a:solidFill>
                <a:highlight>
                  <a:srgbClr val="D9D2E9"/>
                </a:highlight>
                <a:hlinkClick r:id="rId4"/>
              </a:rPr>
              <a:t>Part 0 Learning and Collaborating Reflection</a:t>
            </a:r>
            <a:r>
              <a:rPr lang="en" sz="1400" dirty="0">
                <a:highlight>
                  <a:srgbClr val="D9D2E9"/>
                </a:highlight>
              </a:rPr>
              <a:t>- </a:t>
            </a:r>
            <a:r>
              <a:rPr lang="en" sz="1400" dirty="0" err="1">
                <a:highlight>
                  <a:srgbClr val="D9D2E9"/>
                </a:highlight>
              </a:rPr>
              <a:t>YOu</a:t>
            </a:r>
            <a:r>
              <a:rPr lang="en" sz="1400" dirty="0">
                <a:highlight>
                  <a:srgbClr val="D9D2E9"/>
                </a:highlight>
              </a:rPr>
              <a:t> do not have to have part 0.3 completed but complete that before entire GE01 is due.</a:t>
            </a:r>
            <a:endParaRPr sz="1400" dirty="0">
              <a:highlight>
                <a:srgbClr val="D9D2E9"/>
              </a:highlight>
            </a:endParaRPr>
          </a:p>
          <a:p>
            <a:pPr marL="457200" lvl="0" indent="-317500" algn="l" rtl="0">
              <a:lnSpc>
                <a:spcPct val="100000"/>
              </a:lnSpc>
              <a:spcBef>
                <a:spcPts val="0"/>
              </a:spcBef>
              <a:spcAft>
                <a:spcPts val="0"/>
              </a:spcAft>
              <a:buSzPts val="1400"/>
              <a:buChar char="•"/>
            </a:pPr>
            <a:r>
              <a:rPr lang="en" sz="1400" dirty="0">
                <a:highlight>
                  <a:srgbClr val="D9D2E9"/>
                </a:highlight>
              </a:rPr>
              <a:t>Create a copy if you use google drive or download into repo </a:t>
            </a:r>
            <a:r>
              <a:rPr lang="en" sz="1400" dirty="0" err="1">
                <a:highlight>
                  <a:srgbClr val="D9D2E9"/>
                </a:highlight>
              </a:rPr>
              <a:t>techdocs</a:t>
            </a:r>
            <a:r>
              <a:rPr lang="en" sz="1400" dirty="0">
                <a:highlight>
                  <a:srgbClr val="D9D2E9"/>
                </a:highlight>
              </a:rPr>
              <a:t> folder  if you use word  </a:t>
            </a:r>
            <a:r>
              <a:rPr lang="en" sz="1400" u="sng" dirty="0">
                <a:solidFill>
                  <a:schemeClr val="hlink"/>
                </a:solidFill>
                <a:highlight>
                  <a:srgbClr val="D9D2E9"/>
                </a:highlight>
                <a:hlinkClick r:id="rId5"/>
              </a:rPr>
              <a:t>Tech Doc CS1050.docx</a:t>
            </a:r>
            <a:r>
              <a:rPr lang="en" sz="1400" dirty="0">
                <a:highlight>
                  <a:srgbClr val="D9D2E9"/>
                </a:highlight>
              </a:rPr>
              <a:t>   </a:t>
            </a:r>
            <a:endParaRPr sz="1400" dirty="0">
              <a:highlight>
                <a:srgbClr val="D9D2E9"/>
              </a:highlight>
            </a:endParaRPr>
          </a:p>
        </p:txBody>
      </p:sp>
      <p:sp>
        <p:nvSpPr>
          <p:cNvPr id="63" name="Google Shape;63;p2"/>
          <p:cNvSpPr/>
          <p:nvPr/>
        </p:nvSpPr>
        <p:spPr>
          <a:xfrm>
            <a:off x="2083450" y="116950"/>
            <a:ext cx="4289100" cy="779400"/>
          </a:xfrm>
          <a:prstGeom prst="wedgeEllipseCallout">
            <a:avLst>
              <a:gd name="adj1" fmla="val 66137"/>
              <a:gd name="adj2" fmla="val 12500"/>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Introduce yourselves. </a:t>
            </a:r>
            <a:r>
              <a:rPr lang="en" sz="1200" b="0" i="0" u="none" strike="noStrike" cap="none">
                <a:solidFill>
                  <a:srgbClr val="000000"/>
                </a:solidFill>
                <a:latin typeface="Lexend"/>
                <a:ea typeface="Lexend"/>
                <a:cs typeface="Lexend"/>
                <a:sym typeface="Lexend"/>
              </a:rPr>
              <a:t>What music do you like to listen too when you are coding?</a:t>
            </a:r>
            <a:endParaRPr sz="1200" b="0" i="0" u="none" strike="noStrike" cap="none">
              <a:solidFill>
                <a:srgbClr val="000000"/>
              </a:solidFill>
              <a:latin typeface="Lexend"/>
              <a:ea typeface="Lexend"/>
              <a:cs typeface="Lexend"/>
              <a:sym typeface="Lexend"/>
            </a:endParaRPr>
          </a:p>
        </p:txBody>
      </p:sp>
      <p:sp>
        <p:nvSpPr>
          <p:cNvPr id="64" name="Google Shape;64;p2"/>
          <p:cNvSpPr/>
          <p:nvPr/>
        </p:nvSpPr>
        <p:spPr>
          <a:xfrm>
            <a:off x="495625" y="2211750"/>
            <a:ext cx="5274000" cy="720000"/>
          </a:xfrm>
          <a:prstGeom prst="wedgeEllipseCallout">
            <a:avLst>
              <a:gd name="adj1" fmla="val -54174"/>
              <a:gd name="adj2" fmla="val -43374"/>
            </a:avLst>
          </a:prstGeom>
          <a:solidFill>
            <a:srgbClr val="D9EAD3"/>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100" b="0" i="0" u="none" strike="noStrike" cap="none" dirty="0">
                <a:solidFill>
                  <a:srgbClr val="000000"/>
                </a:solidFill>
                <a:latin typeface="Lexend"/>
                <a:ea typeface="Lexend"/>
                <a:cs typeface="Lexend"/>
                <a:sym typeface="Lexend"/>
              </a:rPr>
              <a:t>If you email me include the course number CS1050 in the title to help me</a:t>
            </a:r>
            <a:r>
              <a:rPr lang="en" sz="1100" dirty="0">
                <a:latin typeface="Lexend"/>
                <a:ea typeface="Lexend"/>
                <a:cs typeface="Lexend"/>
                <a:sym typeface="Lexend"/>
              </a:rPr>
              <a:t> know what class</a:t>
            </a:r>
            <a:r>
              <a:rPr lang="en" sz="1100" b="0" i="0" u="none" strike="noStrike" cap="none" dirty="0">
                <a:solidFill>
                  <a:srgbClr val="000000"/>
                </a:solidFill>
                <a:latin typeface="Lexend"/>
                <a:ea typeface="Lexend"/>
                <a:cs typeface="Lexend"/>
                <a:sym typeface="Lexend"/>
              </a:rPr>
              <a:t>.</a:t>
            </a:r>
            <a:r>
              <a:rPr lang="en" sz="1100" dirty="0">
                <a:latin typeface="Lexend"/>
                <a:ea typeface="Lexend"/>
                <a:cs typeface="Lexend"/>
                <a:sym typeface="Lexend"/>
              </a:rPr>
              <a:t> I prefer email over canvas messages.</a:t>
            </a:r>
            <a:endParaRPr sz="1100" b="0" i="0" u="none" strike="noStrike" cap="none" dirty="0">
              <a:solidFill>
                <a:srgbClr val="000000"/>
              </a:solidFill>
              <a:latin typeface="Lexend"/>
              <a:ea typeface="Lexend"/>
              <a:cs typeface="Lexend"/>
              <a:sym typeface="Lexend"/>
            </a:endParaRPr>
          </a:p>
        </p:txBody>
      </p:sp>
      <p:sp>
        <p:nvSpPr>
          <p:cNvPr id="65" name="Google Shape;65;p2"/>
          <p:cNvSpPr/>
          <p:nvPr/>
        </p:nvSpPr>
        <p:spPr>
          <a:xfrm>
            <a:off x="6157500" y="2571750"/>
            <a:ext cx="2986500" cy="779400"/>
          </a:xfrm>
          <a:prstGeom prst="wedgeEllipseCallout">
            <a:avLst>
              <a:gd name="adj1" fmla="val -60426"/>
              <a:gd name="adj2" fmla="val -73691"/>
            </a:avLst>
          </a:prstGeom>
          <a:solidFill>
            <a:srgbClr val="D9EAD3"/>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100">
                <a:latin typeface="Lexend"/>
                <a:ea typeface="Lexend"/>
                <a:cs typeface="Lexend"/>
                <a:sym typeface="Lexend"/>
              </a:rPr>
              <a:t>When you put your name on your paper to turn in include last name.</a:t>
            </a:r>
            <a:endParaRPr sz="1100" b="0" i="0" u="none" strike="noStrike" cap="none">
              <a:solidFill>
                <a:srgbClr val="000000"/>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g3b41a09f5ab_0_5"/>
          <p:cNvSpPr txBox="1">
            <a:spLocks noGrp="1"/>
          </p:cNvSpPr>
          <p:nvPr>
            <p:ph type="title"/>
          </p:nvPr>
        </p:nvSpPr>
        <p:spPr>
          <a:xfrm>
            <a:off x="311700" y="254900"/>
            <a:ext cx="8520600" cy="5727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
              <a:t> Learning and Collaborating Reflection</a:t>
            </a:r>
            <a:endParaRPr/>
          </a:p>
        </p:txBody>
      </p:sp>
      <p:sp>
        <p:nvSpPr>
          <p:cNvPr id="71" name="Google Shape;71;g3b41a09f5ab_0_5"/>
          <p:cNvSpPr txBox="1">
            <a:spLocks noGrp="1"/>
          </p:cNvSpPr>
          <p:nvPr>
            <p:ph type="body" idx="1"/>
          </p:nvPr>
        </p:nvSpPr>
        <p:spPr>
          <a:xfrm>
            <a:off x="311700" y="863550"/>
            <a:ext cx="8520600" cy="3842700"/>
          </a:xfrm>
          <a:prstGeom prst="rect">
            <a:avLst/>
          </a:prstGeom>
        </p:spPr>
        <p:txBody>
          <a:bodyPr spcFirstLastPara="1" wrap="square" lIns="91425" tIns="45700" rIns="91425" bIns="45700" anchor="t" anchorCtr="0">
            <a:normAutofit/>
          </a:bodyPr>
          <a:lstStyle/>
          <a:p>
            <a:pPr marL="0" lvl="0" indent="0" algn="l" rtl="0">
              <a:spcBef>
                <a:spcPts val="640"/>
              </a:spcBef>
              <a:spcAft>
                <a:spcPts val="0"/>
              </a:spcAft>
              <a:buNone/>
            </a:pPr>
            <a:r>
              <a:rPr lang="en" dirty="0"/>
              <a:t>Share </a:t>
            </a:r>
            <a:endParaRPr dirty="0"/>
          </a:p>
          <a:p>
            <a:pPr marL="457200" lvl="0" indent="-336550" algn="l" rtl="0">
              <a:spcBef>
                <a:spcPts val="640"/>
              </a:spcBef>
              <a:spcAft>
                <a:spcPts val="0"/>
              </a:spcAft>
              <a:buSzPts val="1700"/>
              <a:buChar char="•"/>
            </a:pPr>
            <a:r>
              <a:rPr lang="en" dirty="0"/>
              <a:t>One of the skills that you think is a strength you bring to a team</a:t>
            </a:r>
            <a:endParaRPr dirty="0"/>
          </a:p>
          <a:p>
            <a:pPr marL="457200" lvl="0" indent="-336550" algn="l" rtl="0">
              <a:spcBef>
                <a:spcPts val="640"/>
              </a:spcBef>
              <a:spcAft>
                <a:spcPts val="0"/>
              </a:spcAft>
              <a:buSzPts val="1700"/>
              <a:buChar char="•"/>
            </a:pPr>
            <a:r>
              <a:rPr lang="en" dirty="0"/>
              <a:t>A strategy you will use this semester to help you learn</a:t>
            </a:r>
            <a:endParaRPr dirty="0"/>
          </a:p>
          <a:p>
            <a:pPr marL="457200" lvl="0" indent="-336550" algn="l" rtl="0">
              <a:spcBef>
                <a:spcPts val="640"/>
              </a:spcBef>
              <a:spcAft>
                <a:spcPts val="0"/>
              </a:spcAft>
              <a:buSzPts val="1700"/>
              <a:buChar char="•"/>
            </a:pPr>
            <a:r>
              <a:rPr lang="en" dirty="0"/>
              <a:t>A skill you risk losing if you depend on AI too much? </a:t>
            </a:r>
            <a:endParaRPr dirty="0"/>
          </a:p>
          <a:p>
            <a:pPr marL="0" lvl="0" indent="0" algn="l" rtl="0">
              <a:spcBef>
                <a:spcPts val="640"/>
              </a:spcBef>
              <a:spcAft>
                <a:spcPts val="0"/>
              </a:spcAft>
              <a:buClr>
                <a:schemeClr val="dk1"/>
              </a:buClr>
              <a:buSzPts val="1100"/>
              <a:buFont typeface="Arial"/>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4"/>
          <p:cNvSpPr txBox="1">
            <a:spLocks noGrp="1"/>
          </p:cNvSpPr>
          <p:nvPr>
            <p:ph type="title"/>
          </p:nvPr>
        </p:nvSpPr>
        <p:spPr>
          <a:xfrm>
            <a:off x="174000" y="881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Goals</a:t>
            </a:r>
            <a:endParaRPr/>
          </a:p>
        </p:txBody>
      </p:sp>
      <p:sp>
        <p:nvSpPr>
          <p:cNvPr id="77" name="Google Shape;77;p4"/>
          <p:cNvSpPr txBox="1">
            <a:spLocks noGrp="1"/>
          </p:cNvSpPr>
          <p:nvPr>
            <p:ph type="body" idx="1"/>
          </p:nvPr>
        </p:nvSpPr>
        <p:spPr>
          <a:xfrm>
            <a:off x="130650" y="616950"/>
            <a:ext cx="8903700" cy="441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600"/>
              <a:buNone/>
            </a:pPr>
            <a:r>
              <a:rPr lang="en" sz="1600"/>
              <a:t>Variables, Constants, and Data Types </a:t>
            </a:r>
            <a:endParaRPr sz="1600"/>
          </a:p>
          <a:p>
            <a:pPr marL="457200" lvl="0" indent="-330200" algn="l" rtl="0">
              <a:lnSpc>
                <a:spcPct val="115000"/>
              </a:lnSpc>
              <a:spcBef>
                <a:spcPts val="1200"/>
              </a:spcBef>
              <a:spcAft>
                <a:spcPts val="0"/>
              </a:spcAft>
              <a:buSzPts val="1600"/>
              <a:buChar char="●"/>
            </a:pPr>
            <a:r>
              <a:rPr lang="en" sz="1600"/>
              <a:t>Explain and apply in code the concepts of variables, constants, primitive data types, declared, initialize, assignment</a:t>
            </a:r>
            <a:endParaRPr sz="1600"/>
          </a:p>
          <a:p>
            <a:pPr marL="457200" lvl="0" indent="-330200" algn="l" rtl="0">
              <a:lnSpc>
                <a:spcPct val="115000"/>
              </a:lnSpc>
              <a:spcBef>
                <a:spcPts val="0"/>
              </a:spcBef>
              <a:spcAft>
                <a:spcPts val="0"/>
              </a:spcAft>
              <a:buSzPts val="1600"/>
              <a:buChar char="●"/>
            </a:pPr>
            <a:r>
              <a:rPr lang="en" sz="1600"/>
              <a:t>Apply best practices industry convention for naming variables, constants, methods and classes  </a:t>
            </a:r>
            <a:endParaRPr sz="1600"/>
          </a:p>
          <a:p>
            <a:pPr marL="0" lvl="0" indent="0" algn="l" rtl="0">
              <a:lnSpc>
                <a:spcPct val="115000"/>
              </a:lnSpc>
              <a:spcBef>
                <a:spcPts val="1200"/>
              </a:spcBef>
              <a:spcAft>
                <a:spcPts val="0"/>
              </a:spcAft>
              <a:buSzPts val="1600"/>
              <a:buNone/>
            </a:pPr>
            <a:r>
              <a:rPr lang="en" sz="1600"/>
              <a:t>Arithmetic Operators and Combined Assignment Operators</a:t>
            </a:r>
            <a:endParaRPr sz="1600"/>
          </a:p>
          <a:p>
            <a:pPr marL="457200" lvl="0" indent="-330200" algn="l" rtl="0">
              <a:lnSpc>
                <a:spcPct val="115000"/>
              </a:lnSpc>
              <a:spcBef>
                <a:spcPts val="1200"/>
              </a:spcBef>
              <a:spcAft>
                <a:spcPts val="0"/>
              </a:spcAft>
              <a:buSzPts val="1600"/>
              <a:buChar char="●"/>
            </a:pPr>
            <a:r>
              <a:rPr lang="en" sz="1600"/>
              <a:t>Identify arithmetic operators</a:t>
            </a:r>
            <a:endParaRPr sz="1600"/>
          </a:p>
          <a:p>
            <a:pPr marL="0" lvl="0" indent="0" algn="l" rtl="0">
              <a:lnSpc>
                <a:spcPct val="115000"/>
              </a:lnSpc>
              <a:spcBef>
                <a:spcPts val="1200"/>
              </a:spcBef>
              <a:spcAft>
                <a:spcPts val="0"/>
              </a:spcAft>
              <a:buSzPts val="1600"/>
              <a:buNone/>
            </a:pPr>
            <a:r>
              <a:rPr lang="en" sz="1600"/>
              <a:t>Communication and Collaboration </a:t>
            </a:r>
            <a:endParaRPr sz="1600"/>
          </a:p>
          <a:p>
            <a:pPr marL="0" lvl="0" indent="0" algn="l" rtl="0">
              <a:lnSpc>
                <a:spcPct val="115000"/>
              </a:lnSpc>
              <a:spcBef>
                <a:spcPts val="1200"/>
              </a:spcBef>
              <a:spcAft>
                <a:spcPts val="0"/>
              </a:spcAft>
              <a:buSzPts val="1700"/>
              <a:buNone/>
            </a:pPr>
            <a:endParaRPr sz="1600"/>
          </a:p>
        </p:txBody>
      </p:sp>
      <p:pic>
        <p:nvPicPr>
          <p:cNvPr id="78" name="Google Shape;78;p4"/>
          <p:cNvPicPr preferRelativeResize="0"/>
          <p:nvPr/>
        </p:nvPicPr>
        <p:blipFill rotWithShape="1">
          <a:blip r:embed="rId3">
            <a:alphaModFix/>
          </a:blip>
          <a:srcRect l="16043" t="25144" r="9228"/>
          <a:stretch/>
        </p:blipFill>
        <p:spPr>
          <a:xfrm>
            <a:off x="6733600" y="3753750"/>
            <a:ext cx="2313674" cy="1303700"/>
          </a:xfrm>
          <a:prstGeom prst="rect">
            <a:avLst/>
          </a:prstGeom>
          <a:noFill/>
          <a:ln>
            <a:noFill/>
          </a:ln>
        </p:spPr>
      </p:pic>
      <p:sp>
        <p:nvSpPr>
          <p:cNvPr id="79" name="Google Shape;79;p4"/>
          <p:cNvSpPr/>
          <p:nvPr/>
        </p:nvSpPr>
        <p:spPr>
          <a:xfrm>
            <a:off x="286625" y="3627950"/>
            <a:ext cx="5556600" cy="1429500"/>
          </a:xfrm>
          <a:prstGeom prst="wedgeRectCallout">
            <a:avLst>
              <a:gd name="adj1" fmla="val 59818"/>
              <a:gd name="adj2" fmla="val -23090"/>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marR="0" lvl="0" indent="-317500" algn="l" rtl="0">
              <a:lnSpc>
                <a:spcPct val="100000"/>
              </a:lnSpc>
              <a:spcBef>
                <a:spcPts val="0"/>
              </a:spcBef>
              <a:spcAft>
                <a:spcPts val="0"/>
              </a:spcAft>
              <a:buClr>
                <a:schemeClr val="dk1"/>
              </a:buClr>
              <a:buSzPts val="1400"/>
              <a:buFont typeface="Lexend"/>
              <a:buChar char="●"/>
            </a:pPr>
            <a:r>
              <a:rPr lang="en" sz="1400" b="0" i="0" u="none" strike="noStrike" cap="none">
                <a:solidFill>
                  <a:schemeClr val="dk1"/>
                </a:solidFill>
                <a:latin typeface="Lexend"/>
                <a:ea typeface="Lexend"/>
                <a:cs typeface="Lexend"/>
                <a:sym typeface="Lexend"/>
              </a:rPr>
              <a:t>Discuss</a:t>
            </a:r>
            <a:endParaRPr sz="1400" b="0" i="0" u="none" strike="noStrike" cap="none">
              <a:solidFill>
                <a:schemeClr val="dk1"/>
              </a:solidFill>
              <a:latin typeface="Lexend"/>
              <a:ea typeface="Lexend"/>
              <a:cs typeface="Lexend"/>
              <a:sym typeface="Lexend"/>
            </a:endParaRPr>
          </a:p>
          <a:p>
            <a:pPr marL="457200" marR="0" lvl="0" indent="-317500" algn="l" rtl="0">
              <a:lnSpc>
                <a:spcPct val="100000"/>
              </a:lnSpc>
              <a:spcBef>
                <a:spcPts val="0"/>
              </a:spcBef>
              <a:spcAft>
                <a:spcPts val="0"/>
              </a:spcAft>
              <a:buClr>
                <a:schemeClr val="dk1"/>
              </a:buClr>
              <a:buSzPts val="1400"/>
              <a:buFont typeface="Lexend"/>
              <a:buChar char="●"/>
            </a:pPr>
            <a:r>
              <a:rPr lang="en" sz="1400" b="0" i="0" u="none" strike="noStrike" cap="none">
                <a:solidFill>
                  <a:schemeClr val="dk1"/>
                </a:solidFill>
                <a:latin typeface="Lexend"/>
                <a:ea typeface="Lexend"/>
                <a:cs typeface="Lexend"/>
                <a:sym typeface="Lexend"/>
              </a:rPr>
              <a:t>Have you seen this before? </a:t>
            </a:r>
            <a:endParaRPr sz="1400" b="0" i="0" u="none" strike="noStrike" cap="none">
              <a:solidFill>
                <a:schemeClr val="dk1"/>
              </a:solidFill>
              <a:latin typeface="Lexend"/>
              <a:ea typeface="Lexend"/>
              <a:cs typeface="Lexend"/>
              <a:sym typeface="Lexend"/>
            </a:endParaRPr>
          </a:p>
          <a:p>
            <a:pPr marL="457200" marR="0" lvl="0" indent="-317500" algn="l" rtl="0">
              <a:lnSpc>
                <a:spcPct val="100000"/>
              </a:lnSpc>
              <a:spcBef>
                <a:spcPts val="0"/>
              </a:spcBef>
              <a:spcAft>
                <a:spcPts val="0"/>
              </a:spcAft>
              <a:buClr>
                <a:schemeClr val="dk1"/>
              </a:buClr>
              <a:buSzPts val="1400"/>
              <a:buFont typeface="Lexend"/>
              <a:buChar char="●"/>
            </a:pPr>
            <a:r>
              <a:rPr lang="en" sz="1400" b="0" i="0" u="none" strike="noStrike" cap="none">
                <a:solidFill>
                  <a:schemeClr val="dk1"/>
                </a:solidFill>
                <a:latin typeface="Lexend"/>
                <a:ea typeface="Lexend"/>
                <a:cs typeface="Lexend"/>
                <a:sym typeface="Lexend"/>
              </a:rPr>
              <a:t>What do you call the letters?</a:t>
            </a:r>
            <a:endParaRPr sz="1400" b="0" i="0" u="none" strike="noStrike" cap="none">
              <a:solidFill>
                <a:schemeClr val="dk1"/>
              </a:solidFill>
              <a:latin typeface="Lexend"/>
              <a:ea typeface="Lexend"/>
              <a:cs typeface="Lexend"/>
              <a:sym typeface="Lexend"/>
            </a:endParaRPr>
          </a:p>
          <a:p>
            <a:pPr marL="457200" marR="0" lvl="0" indent="-317500" algn="l" rtl="0">
              <a:lnSpc>
                <a:spcPct val="100000"/>
              </a:lnSpc>
              <a:spcBef>
                <a:spcPts val="0"/>
              </a:spcBef>
              <a:spcAft>
                <a:spcPts val="0"/>
              </a:spcAft>
              <a:buClr>
                <a:schemeClr val="dk1"/>
              </a:buClr>
              <a:buSzPts val="1400"/>
              <a:buFont typeface="Lexend"/>
              <a:buChar char="●"/>
            </a:pPr>
            <a:r>
              <a:rPr lang="en" sz="1400" b="0" i="0" u="none" strike="noStrike" cap="none">
                <a:solidFill>
                  <a:schemeClr val="dk1"/>
                </a:solidFill>
                <a:latin typeface="Lexend"/>
                <a:ea typeface="Lexend"/>
                <a:cs typeface="Lexend"/>
                <a:sym typeface="Lexend"/>
              </a:rPr>
              <a:t>What order are the calculations done?</a:t>
            </a:r>
            <a:endParaRPr>
              <a:solidFill>
                <a:schemeClr val="dk1"/>
              </a:solidFill>
              <a:latin typeface="Lexend"/>
              <a:ea typeface="Lexend"/>
              <a:cs typeface="Lexend"/>
              <a:sym typeface="Lexend"/>
            </a:endParaRPr>
          </a:p>
          <a:p>
            <a:pPr marL="457200" marR="0" lvl="0" indent="-317500" algn="l" rtl="0">
              <a:lnSpc>
                <a:spcPct val="1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What might be a better way to name a, b, c, x?</a:t>
            </a:r>
            <a:endParaRPr>
              <a:solidFill>
                <a:schemeClr val="dk1"/>
              </a:solidFill>
              <a:latin typeface="Lexend"/>
              <a:ea typeface="Lexend"/>
              <a:cs typeface="Lexend"/>
              <a:sym typeface="Lexend"/>
            </a:endParaRPr>
          </a:p>
          <a:p>
            <a:pPr marL="457200" marR="0" lvl="0" indent="-317500" algn="l" rtl="0">
              <a:lnSpc>
                <a:spcPct val="1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How could this be calculated in a computer program?</a:t>
            </a:r>
            <a:endParaRPr>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11700" y="25490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07"/>
              <a:buNone/>
            </a:pPr>
            <a:r>
              <a:rPr lang="en"/>
              <a:t>Programming Languages</a:t>
            </a:r>
            <a:endParaRPr/>
          </a:p>
        </p:txBody>
      </p:sp>
      <p:sp>
        <p:nvSpPr>
          <p:cNvPr id="85" name="Google Shape;85;p5"/>
          <p:cNvSpPr txBox="1">
            <a:spLocks noGrp="1"/>
          </p:cNvSpPr>
          <p:nvPr>
            <p:ph type="body" idx="1"/>
          </p:nvPr>
        </p:nvSpPr>
        <p:spPr>
          <a:xfrm>
            <a:off x="311700" y="863550"/>
            <a:ext cx="8670900" cy="3842700"/>
          </a:xfrm>
          <a:prstGeom prst="rect">
            <a:avLst/>
          </a:prstGeom>
          <a:noFill/>
          <a:ln>
            <a:noFill/>
          </a:ln>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770"/>
              <a:buNone/>
            </a:pPr>
            <a:r>
              <a:rPr lang="en" sz="1500"/>
              <a:t>A program written in a high-level language is called a source program or source code. Because a computer cannot understand a source program, a source program must be translated into machine code for execution. The translation can be done using another programming tool called an interpreter or a compiler.</a:t>
            </a:r>
            <a:endParaRPr sz="1500"/>
          </a:p>
          <a:p>
            <a:pPr marL="457200" lvl="0" indent="-323850" algn="l" rtl="0">
              <a:lnSpc>
                <a:spcPct val="105000"/>
              </a:lnSpc>
              <a:spcBef>
                <a:spcPts val="1200"/>
              </a:spcBef>
              <a:spcAft>
                <a:spcPts val="0"/>
              </a:spcAft>
              <a:buSzPts val="1500"/>
              <a:buChar char="●"/>
            </a:pPr>
            <a:r>
              <a:rPr lang="en" sz="1500"/>
              <a:t>Machine languages - consist of strings of numbers (ultimately reduced to 1s and 0s) that instruct computers to perform their most elementary operations one at a time. </a:t>
            </a:r>
            <a:endParaRPr sz="1500"/>
          </a:p>
          <a:p>
            <a:pPr marL="457200" lvl="0" indent="-323850" algn="l" rtl="0">
              <a:lnSpc>
                <a:spcPct val="105000"/>
              </a:lnSpc>
              <a:spcBef>
                <a:spcPts val="0"/>
              </a:spcBef>
              <a:spcAft>
                <a:spcPts val="0"/>
              </a:spcAft>
              <a:buSzPts val="1500"/>
              <a:buChar char="●"/>
            </a:pPr>
            <a:r>
              <a:rPr lang="en" sz="1500"/>
              <a:t>Assembly languages - Uses  English-like abbreviations to represent elementary operations</a:t>
            </a:r>
            <a:endParaRPr sz="1500"/>
          </a:p>
          <a:p>
            <a:pPr marL="457200" lvl="0" indent="-323850" algn="l" rtl="0">
              <a:lnSpc>
                <a:spcPct val="105000"/>
              </a:lnSpc>
              <a:spcBef>
                <a:spcPts val="0"/>
              </a:spcBef>
              <a:spcAft>
                <a:spcPts val="0"/>
              </a:spcAft>
              <a:buSzPts val="1500"/>
              <a:buChar char="●"/>
            </a:pPr>
            <a:r>
              <a:rPr lang="en" sz="1500"/>
              <a:t>High-level languages - uses single statements that are English such as Java, Python, C and more.  </a:t>
            </a:r>
            <a:endParaRPr sz="1500"/>
          </a:p>
        </p:txBody>
      </p:sp>
      <p:pic>
        <p:nvPicPr>
          <p:cNvPr id="86" name="Google Shape;86;p5" descr="Machine language use binary code 1001 1001 1100  and high level languages use brief statements x = y +z"/>
          <p:cNvPicPr preferRelativeResize="0"/>
          <p:nvPr/>
        </p:nvPicPr>
        <p:blipFill rotWithShape="1">
          <a:blip r:embed="rId3">
            <a:alphaModFix/>
          </a:blip>
          <a:srcRect r="32980"/>
          <a:stretch/>
        </p:blipFill>
        <p:spPr>
          <a:xfrm>
            <a:off x="973550" y="3891423"/>
            <a:ext cx="2735950" cy="982875"/>
          </a:xfrm>
          <a:prstGeom prst="rect">
            <a:avLst/>
          </a:prstGeom>
          <a:noFill/>
          <a:ln>
            <a:noFill/>
          </a:ln>
        </p:spPr>
      </p:pic>
      <p:grpSp>
        <p:nvGrpSpPr>
          <p:cNvPr id="87" name="Google Shape;87;p5"/>
          <p:cNvGrpSpPr/>
          <p:nvPr/>
        </p:nvGrpSpPr>
        <p:grpSpPr>
          <a:xfrm>
            <a:off x="4102635" y="3387857"/>
            <a:ext cx="2161451" cy="1665741"/>
            <a:chOff x="5148650" y="2184050"/>
            <a:chExt cx="3890300" cy="2859150"/>
          </a:xfrm>
        </p:grpSpPr>
        <p:pic>
          <p:nvPicPr>
            <p:cNvPr id="88" name="Google Shape;88;p5" descr="Compiler translates High level language to  machine code "/>
            <p:cNvPicPr preferRelativeResize="0"/>
            <p:nvPr/>
          </p:nvPicPr>
          <p:blipFill rotWithShape="1">
            <a:blip r:embed="rId4">
              <a:alphaModFix/>
            </a:blip>
            <a:srcRect r="20439"/>
            <a:stretch/>
          </p:blipFill>
          <p:spPr>
            <a:xfrm>
              <a:off x="5148650" y="2184050"/>
              <a:ext cx="3890300" cy="2859150"/>
            </a:xfrm>
            <a:prstGeom prst="rect">
              <a:avLst/>
            </a:prstGeom>
            <a:noFill/>
            <a:ln>
              <a:noFill/>
            </a:ln>
          </p:spPr>
        </p:pic>
        <p:pic>
          <p:nvPicPr>
            <p:cNvPr id="89" name="Google Shape;89;p5"/>
            <p:cNvPicPr preferRelativeResize="0"/>
            <p:nvPr/>
          </p:nvPicPr>
          <p:blipFill rotWithShape="1">
            <a:blip r:embed="rId5">
              <a:alphaModFix/>
            </a:blip>
            <a:srcRect l="35784" t="23608" r="36046" b="48107"/>
            <a:stretch/>
          </p:blipFill>
          <p:spPr>
            <a:xfrm>
              <a:off x="6576400" y="3439949"/>
              <a:ext cx="892150" cy="618225"/>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6"/>
          <p:cNvSpPr txBox="1">
            <a:spLocks noGrp="1"/>
          </p:cNvSpPr>
          <p:nvPr>
            <p:ph type="title"/>
          </p:nvPr>
        </p:nvSpPr>
        <p:spPr>
          <a:xfrm>
            <a:off x="311700" y="25490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07"/>
              <a:buNone/>
            </a:pPr>
            <a:r>
              <a:rPr lang="en"/>
              <a:t>Java High Level Language and Object Oriented </a:t>
            </a:r>
            <a:endParaRPr/>
          </a:p>
        </p:txBody>
      </p:sp>
      <p:sp>
        <p:nvSpPr>
          <p:cNvPr id="95" name="Google Shape;95;p6"/>
          <p:cNvSpPr txBox="1">
            <a:spLocks noGrp="1"/>
          </p:cNvSpPr>
          <p:nvPr>
            <p:ph type="body" idx="1"/>
          </p:nvPr>
        </p:nvSpPr>
        <p:spPr>
          <a:xfrm>
            <a:off x="311700" y="863550"/>
            <a:ext cx="8520600" cy="38427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t>Developed by Sun Microsystems  </a:t>
            </a:r>
            <a:endParaRPr/>
          </a:p>
          <a:p>
            <a:pPr marL="457200" lvl="0" indent="-342900" algn="l" rtl="0">
              <a:lnSpc>
                <a:spcPct val="115000"/>
              </a:lnSpc>
              <a:spcBef>
                <a:spcPts val="0"/>
              </a:spcBef>
              <a:spcAft>
                <a:spcPts val="0"/>
              </a:spcAft>
              <a:buSzPts val="1800"/>
              <a:buChar char="●"/>
            </a:pPr>
            <a:r>
              <a:rPr lang="en"/>
              <a:t>Designed in 1991 for use in embedded chips – called Oak</a:t>
            </a:r>
            <a:endParaRPr/>
          </a:p>
          <a:p>
            <a:pPr marL="457200" lvl="0" indent="-342900" algn="l" rtl="0">
              <a:lnSpc>
                <a:spcPct val="115000"/>
              </a:lnSpc>
              <a:spcBef>
                <a:spcPts val="0"/>
              </a:spcBef>
              <a:spcAft>
                <a:spcPts val="0"/>
              </a:spcAft>
              <a:buSzPts val="1800"/>
              <a:buChar char="●"/>
            </a:pPr>
            <a:r>
              <a:rPr lang="en"/>
              <a:t>Redesigned in 1995 for developing Web applications – renamed Java</a:t>
            </a:r>
            <a:endParaRPr/>
          </a:p>
          <a:p>
            <a:pPr marL="457200" lvl="0" indent="-342900" algn="l" rtl="0">
              <a:lnSpc>
                <a:spcPct val="115000"/>
              </a:lnSpc>
              <a:spcBef>
                <a:spcPts val="0"/>
              </a:spcBef>
              <a:spcAft>
                <a:spcPts val="0"/>
              </a:spcAft>
              <a:buSzPts val="1800"/>
              <a:buChar char="●"/>
            </a:pPr>
            <a:r>
              <a:rPr lang="en"/>
              <a:t>Today Java is used in all sorts of applications</a:t>
            </a:r>
            <a:endParaRPr/>
          </a:p>
          <a:p>
            <a:pPr marL="914400" lvl="1" indent="-317500" algn="l" rtl="0">
              <a:lnSpc>
                <a:spcPct val="115000"/>
              </a:lnSpc>
              <a:spcBef>
                <a:spcPts val="0"/>
              </a:spcBef>
              <a:spcAft>
                <a:spcPts val="0"/>
              </a:spcAft>
              <a:buSzPts val="1400"/>
              <a:buChar char="o"/>
            </a:pPr>
            <a:r>
              <a:rPr lang="en"/>
              <a:t>Standalone applications</a:t>
            </a:r>
            <a:endParaRPr/>
          </a:p>
          <a:p>
            <a:pPr marL="914400" lvl="1" indent="-317500" algn="l" rtl="0">
              <a:lnSpc>
                <a:spcPct val="115000"/>
              </a:lnSpc>
              <a:spcBef>
                <a:spcPts val="0"/>
              </a:spcBef>
              <a:spcAft>
                <a:spcPts val="0"/>
              </a:spcAft>
              <a:buSzPts val="1400"/>
              <a:buChar char="o"/>
            </a:pPr>
            <a:r>
              <a:rPr lang="en"/>
              <a:t>Mobile applications</a:t>
            </a:r>
            <a:endParaRPr/>
          </a:p>
          <a:p>
            <a:pPr marL="914400" lvl="1" indent="-317500" algn="l" rtl="0">
              <a:lnSpc>
                <a:spcPct val="115000"/>
              </a:lnSpc>
              <a:spcBef>
                <a:spcPts val="0"/>
              </a:spcBef>
              <a:spcAft>
                <a:spcPts val="0"/>
              </a:spcAft>
              <a:buSzPts val="1400"/>
              <a:buChar char="o"/>
            </a:pPr>
            <a:r>
              <a:rPr lang="en"/>
              <a:t>Web applications</a:t>
            </a:r>
            <a:endParaRPr/>
          </a:p>
          <a:p>
            <a:pPr marL="457200" lvl="0" indent="-342900" algn="l" rtl="0">
              <a:lnSpc>
                <a:spcPct val="115000"/>
              </a:lnSpc>
              <a:spcBef>
                <a:spcPts val="0"/>
              </a:spcBef>
              <a:spcAft>
                <a:spcPts val="0"/>
              </a:spcAft>
              <a:buSzPts val="1800"/>
              <a:buChar char="●"/>
            </a:pPr>
            <a:r>
              <a:rPr lang="en"/>
              <a:t>Full featured development language</a:t>
            </a:r>
            <a:endParaRPr/>
          </a:p>
          <a:p>
            <a:pPr marL="0" lvl="0" indent="0" algn="l" rtl="0">
              <a:lnSpc>
                <a:spcPct val="115000"/>
              </a:lnSpc>
              <a:spcBef>
                <a:spcPts val="0"/>
              </a:spcBef>
              <a:spcAft>
                <a:spcPts val="0"/>
              </a:spcAft>
              <a:buSzPts val="1700"/>
              <a:buNone/>
            </a:pPr>
            <a:endParaRPr/>
          </a:p>
          <a:p>
            <a:pPr marL="0" lvl="0" indent="0" algn="l" rtl="0">
              <a:lnSpc>
                <a:spcPct val="115000"/>
              </a:lnSpc>
              <a:spcBef>
                <a:spcPts val="0"/>
              </a:spcBef>
              <a:spcAft>
                <a:spcPts val="0"/>
              </a:spcAft>
              <a:buSzPts val="1700"/>
              <a:buNone/>
            </a:pPr>
            <a:r>
              <a:rPr lang="en" u="sng">
                <a:solidFill>
                  <a:schemeClr val="hlink"/>
                </a:solidFill>
                <a:hlinkClick r:id="rId3"/>
              </a:rPr>
              <a:t>Is Java Outdated?</a:t>
            </a:r>
            <a:r>
              <a:rPr lang="en"/>
              <a:t> - while we will be using Java the goal is to understand the fundamentals of programming and object-oriented languages that can be applied to other languages.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7"/>
          <p:cNvSpPr txBox="1">
            <a:spLocks noGrp="1"/>
          </p:cNvSpPr>
          <p:nvPr>
            <p:ph type="title"/>
          </p:nvPr>
        </p:nvSpPr>
        <p:spPr>
          <a:xfrm>
            <a:off x="311700" y="254900"/>
            <a:ext cx="56169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07"/>
              <a:buNone/>
            </a:pPr>
            <a:r>
              <a:rPr lang="en"/>
              <a:t>Programming Language Elements</a:t>
            </a:r>
            <a:endParaRPr/>
          </a:p>
        </p:txBody>
      </p:sp>
      <p:sp>
        <p:nvSpPr>
          <p:cNvPr id="101" name="Google Shape;101;p7"/>
          <p:cNvSpPr txBox="1">
            <a:spLocks noGrp="1"/>
          </p:cNvSpPr>
          <p:nvPr>
            <p:ph type="body" idx="1"/>
          </p:nvPr>
        </p:nvSpPr>
        <p:spPr>
          <a:xfrm>
            <a:off x="311700" y="863550"/>
            <a:ext cx="8718000" cy="4179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40"/>
              </a:spcBef>
              <a:spcAft>
                <a:spcPts val="0"/>
              </a:spcAft>
              <a:buSzPts val="852"/>
              <a:buNone/>
            </a:pPr>
            <a:r>
              <a:rPr lang="en" sz="1400" b="1"/>
              <a:t>Key Words (Reserved Words):</a:t>
            </a:r>
            <a:r>
              <a:rPr lang="en" sz="1400"/>
              <a:t> A keyword is a reserved word in a programming language that has a predefined meaning and cannot be used for any other purpose, such as naming variables or functions. Keywords form the basic building blocks of a program’s syntax.</a:t>
            </a:r>
            <a:endParaRPr sz="1400"/>
          </a:p>
          <a:p>
            <a:pPr marL="0" lvl="0" indent="0" algn="l" rtl="0">
              <a:lnSpc>
                <a:spcPct val="100000"/>
              </a:lnSpc>
              <a:spcBef>
                <a:spcPts val="640"/>
              </a:spcBef>
              <a:spcAft>
                <a:spcPts val="0"/>
              </a:spcAft>
              <a:buClr>
                <a:schemeClr val="dk1"/>
              </a:buClr>
              <a:buSzPts val="852"/>
              <a:buFont typeface="Arial"/>
              <a:buNone/>
            </a:pPr>
            <a:r>
              <a:rPr lang="en" sz="1400" b="1"/>
              <a:t>Syntax: </a:t>
            </a:r>
            <a:r>
              <a:rPr lang="en" sz="1400"/>
              <a:t>Computing rules that state how words and phrases must be used in a computer language.</a:t>
            </a:r>
            <a:endParaRPr sz="1400"/>
          </a:p>
          <a:p>
            <a:pPr marL="0" lvl="0" indent="0" algn="l" rtl="0">
              <a:lnSpc>
                <a:spcPct val="100000"/>
              </a:lnSpc>
              <a:spcBef>
                <a:spcPts val="640"/>
              </a:spcBef>
              <a:spcAft>
                <a:spcPts val="0"/>
              </a:spcAft>
              <a:buClr>
                <a:schemeClr val="dk1"/>
              </a:buClr>
              <a:buSzPts val="852"/>
              <a:buFont typeface="Arial"/>
              <a:buNone/>
            </a:pPr>
            <a:r>
              <a:rPr lang="en" sz="1400" b="1"/>
              <a:t>Punctuation:</a:t>
            </a:r>
            <a:r>
              <a:rPr lang="en" sz="1400"/>
              <a:t> Most programming languages require the use of punctuation characters. These characters serve specific purposes, such as marking the beginning or ending of a statement.</a:t>
            </a:r>
            <a:endParaRPr sz="1400"/>
          </a:p>
          <a:p>
            <a:pPr marL="0" lvl="0" indent="0" algn="l" rtl="0">
              <a:lnSpc>
                <a:spcPct val="100000"/>
              </a:lnSpc>
              <a:spcBef>
                <a:spcPts val="640"/>
              </a:spcBef>
              <a:spcAft>
                <a:spcPts val="0"/>
              </a:spcAft>
              <a:buSzPts val="852"/>
              <a:buNone/>
            </a:pPr>
            <a:r>
              <a:rPr lang="en" sz="1400" b="1"/>
              <a:t>Operators:</a:t>
            </a:r>
            <a:r>
              <a:rPr lang="en" sz="1400"/>
              <a:t> Symbols or keywords that perform operations on variables and values, such as arithmetic calculations, logical comparisons, and bitwise manipulations. They are essential for creating expressions and controlling the flow of a program.</a:t>
            </a:r>
            <a:endParaRPr sz="1400"/>
          </a:p>
          <a:p>
            <a:pPr marL="0" lvl="0" indent="0" algn="l" rtl="0">
              <a:lnSpc>
                <a:spcPct val="100000"/>
              </a:lnSpc>
              <a:spcBef>
                <a:spcPts val="640"/>
              </a:spcBef>
              <a:spcAft>
                <a:spcPts val="0"/>
              </a:spcAft>
              <a:buSzPts val="852"/>
              <a:buNone/>
            </a:pPr>
            <a:r>
              <a:rPr lang="en" sz="1400" b="1"/>
              <a:t>Identifiers: </a:t>
            </a:r>
            <a:r>
              <a:rPr lang="en" sz="1400"/>
              <a:t>Unlike key words, which are part of the programming language, these are words or names that are defined by the programmer. They are used to identify storage locations in memory and parts of the program that are created by the programmer. Programmer-defined names are often called identifiers.</a:t>
            </a:r>
            <a:endParaRPr sz="1400"/>
          </a:p>
          <a:p>
            <a:pPr marL="0" lvl="0" indent="0" algn="l" rtl="0">
              <a:lnSpc>
                <a:spcPct val="100000"/>
              </a:lnSpc>
              <a:spcBef>
                <a:spcPts val="640"/>
              </a:spcBef>
              <a:spcAft>
                <a:spcPts val="0"/>
              </a:spcAft>
              <a:buClr>
                <a:schemeClr val="dk1"/>
              </a:buClr>
              <a:buSzPts val="852"/>
              <a:buFont typeface="Arial"/>
              <a:buNone/>
            </a:pPr>
            <a:r>
              <a:rPr lang="en" sz="1400" b="1"/>
              <a:t>Statements</a:t>
            </a:r>
            <a:r>
              <a:rPr lang="en" sz="1400"/>
              <a:t>: Instructions that perform actions, such as declaring variables, assigning values, or controlling the flow of execution. </a:t>
            </a:r>
            <a:endParaRPr sz="1400"/>
          </a:p>
          <a:p>
            <a:pPr marL="0" lvl="0" indent="0" algn="l" rtl="0">
              <a:lnSpc>
                <a:spcPct val="100000"/>
              </a:lnSpc>
              <a:spcBef>
                <a:spcPts val="640"/>
              </a:spcBef>
              <a:spcAft>
                <a:spcPts val="0"/>
              </a:spcAft>
              <a:buClr>
                <a:schemeClr val="dk1"/>
              </a:buClr>
              <a:buSzPts val="852"/>
              <a:buFont typeface="Arial"/>
              <a:buNone/>
            </a:pPr>
            <a:endParaRPr sz="1400"/>
          </a:p>
          <a:p>
            <a:pPr marL="0" lvl="0" indent="0" algn="l" rtl="0">
              <a:lnSpc>
                <a:spcPct val="100000"/>
              </a:lnSpc>
              <a:spcBef>
                <a:spcPts val="640"/>
              </a:spcBef>
              <a:spcAft>
                <a:spcPts val="0"/>
              </a:spcAft>
              <a:buSzPts val="852"/>
              <a:buNone/>
            </a:pPr>
            <a:endParaRPr sz="1400"/>
          </a:p>
        </p:txBody>
      </p:sp>
      <p:sp>
        <p:nvSpPr>
          <p:cNvPr id="102" name="Google Shape;102;p7"/>
          <p:cNvSpPr/>
          <p:nvPr/>
        </p:nvSpPr>
        <p:spPr>
          <a:xfrm>
            <a:off x="6190250" y="108275"/>
            <a:ext cx="2839500" cy="703800"/>
          </a:xfrm>
          <a:prstGeom prst="wedgeRectCallout">
            <a:avLst>
              <a:gd name="adj1" fmla="val -20833"/>
              <a:gd name="adj2" fmla="val 62500"/>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Lexend"/>
                <a:ea typeface="Lexend"/>
                <a:cs typeface="Lexend"/>
                <a:sym typeface="Lexend"/>
              </a:rPr>
              <a:t>What would help you learn these concepts? How will you remember the information?</a:t>
            </a:r>
            <a:endParaRPr>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6"/>
        <p:cNvGrpSpPr/>
        <p:nvPr/>
      </p:nvGrpSpPr>
      <p:grpSpPr>
        <a:xfrm>
          <a:off x="0" y="0"/>
          <a:ext cx="0" cy="0"/>
          <a:chOff x="0" y="0"/>
          <a:chExt cx="0" cy="0"/>
        </a:xfrm>
      </p:grpSpPr>
      <p:sp>
        <p:nvSpPr>
          <p:cNvPr id="107" name="Google Shape;107;p8"/>
          <p:cNvSpPr txBox="1">
            <a:spLocks noGrp="1"/>
          </p:cNvSpPr>
          <p:nvPr>
            <p:ph type="title"/>
          </p:nvPr>
        </p:nvSpPr>
        <p:spPr>
          <a:xfrm>
            <a:off x="167025" y="161275"/>
            <a:ext cx="33741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07"/>
              <a:buNone/>
            </a:pPr>
            <a:r>
              <a:rPr lang="en"/>
              <a:t>Java Program </a:t>
            </a:r>
            <a:endParaRPr/>
          </a:p>
        </p:txBody>
      </p:sp>
      <p:sp>
        <p:nvSpPr>
          <p:cNvPr id="108" name="Google Shape;108;p8"/>
          <p:cNvSpPr txBox="1"/>
          <p:nvPr/>
        </p:nvSpPr>
        <p:spPr>
          <a:xfrm>
            <a:off x="143163" y="2582338"/>
            <a:ext cx="3421800" cy="1075200"/>
          </a:xfrm>
          <a:prstGeom prst="rect">
            <a:avLst/>
          </a:prstGeom>
          <a:solidFill>
            <a:srgbClr val="D9D2E9"/>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Clr>
                <a:srgbClr val="000000"/>
              </a:buClr>
              <a:buSzPts val="1300"/>
              <a:buFont typeface="Arial"/>
              <a:buNone/>
            </a:pPr>
            <a:r>
              <a:rPr lang="en" sz="1300" b="0" i="0" u="none" strike="noStrike" cap="none">
                <a:solidFill>
                  <a:schemeClr val="dk1"/>
                </a:solidFill>
                <a:latin typeface="Lexend"/>
                <a:ea typeface="Lexend"/>
                <a:cs typeface="Lexend"/>
                <a:sym typeface="Lexend"/>
              </a:rPr>
              <a:t>Think about what you understand in this java code example. Write down at least three ideas you have about the code on your paper.</a:t>
            </a:r>
            <a:endParaRPr sz="1300" b="0" i="0" u="none" strike="noStrike" cap="none">
              <a:solidFill>
                <a:schemeClr val="dk1"/>
              </a:solidFill>
              <a:latin typeface="Lexend"/>
              <a:ea typeface="Lexend"/>
              <a:cs typeface="Lexend"/>
              <a:sym typeface="Lexend"/>
            </a:endParaRPr>
          </a:p>
        </p:txBody>
      </p:sp>
      <p:sp>
        <p:nvSpPr>
          <p:cNvPr id="109" name="Google Shape;109;p8"/>
          <p:cNvSpPr txBox="1"/>
          <p:nvPr/>
        </p:nvSpPr>
        <p:spPr>
          <a:xfrm>
            <a:off x="122575" y="702250"/>
            <a:ext cx="4198800" cy="1785600"/>
          </a:xfrm>
          <a:prstGeom prst="rect">
            <a:avLst/>
          </a:prstGeom>
          <a:solidFill>
            <a:srgbClr val="FFF2CC"/>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Lexend"/>
                <a:ea typeface="Lexend"/>
                <a:cs typeface="Lexend"/>
                <a:sym typeface="Lexend"/>
              </a:rPr>
              <a:t>Go through each line</a:t>
            </a:r>
            <a:endParaRPr sz="1300" b="0" i="0" u="none" strike="noStrike" cap="none">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Lexend"/>
                <a:ea typeface="Lexend"/>
                <a:cs typeface="Lexend"/>
                <a:sym typeface="Lexend"/>
              </a:rPr>
              <a:t>What do you think this program is doing?</a:t>
            </a:r>
            <a:endParaRPr sz="1300" b="0" i="0" u="none" strike="noStrike" cap="none">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Lexend"/>
                <a:ea typeface="Lexend"/>
                <a:cs typeface="Lexend"/>
                <a:sym typeface="Lexend"/>
              </a:rPr>
              <a:t>What statements are similar to English?</a:t>
            </a:r>
            <a:endParaRPr sz="1300" b="0" i="0" u="none" strike="noStrike" cap="none">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Lexend"/>
                <a:ea typeface="Lexend"/>
                <a:cs typeface="Lexend"/>
                <a:sym typeface="Lexend"/>
              </a:rPr>
              <a:t>What are these characters </a:t>
            </a:r>
            <a:r>
              <a:rPr lang="en" sz="1300" b="0" i="0" u="none" strike="noStrike" cap="none">
                <a:solidFill>
                  <a:schemeClr val="dk1"/>
                </a:solidFill>
                <a:latin typeface="Lexend"/>
                <a:ea typeface="Lexend"/>
                <a:cs typeface="Lexend"/>
                <a:sym typeface="Lexend"/>
              </a:rPr>
              <a:t>{}   ;   ()   </a:t>
            </a:r>
            <a:endParaRPr sz="1300" b="0" i="0" u="none" strike="noStrike" cap="none">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Lexend"/>
                <a:ea typeface="Lexend"/>
                <a:cs typeface="Lexend"/>
                <a:sym typeface="Lexend"/>
              </a:rPr>
              <a:t>What color do you think are keywords?</a:t>
            </a:r>
            <a:endParaRPr sz="1300" b="0" i="0" u="none" strike="noStrike" cap="none">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Lexend"/>
                <a:ea typeface="Lexend"/>
                <a:cs typeface="Lexend"/>
                <a:sym typeface="Lexend"/>
              </a:rPr>
              <a:t>What color do you think are identifiers?</a:t>
            </a:r>
            <a:endParaRPr sz="1300" b="0" i="0" u="none" strike="noStrike" cap="none">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Lexend"/>
                <a:ea typeface="Lexend"/>
                <a:cs typeface="Lexend"/>
                <a:sym typeface="Lexend"/>
              </a:rPr>
              <a:t>What is a variable? A constant?</a:t>
            </a:r>
            <a:endParaRPr sz="1300" b="0" i="0" u="none" strike="noStrike" cap="none">
              <a:solidFill>
                <a:srgbClr val="000000"/>
              </a:solidFill>
              <a:latin typeface="Lexend"/>
              <a:ea typeface="Lexend"/>
              <a:cs typeface="Lexend"/>
              <a:sym typeface="Lexend"/>
            </a:endParaRPr>
          </a:p>
        </p:txBody>
      </p:sp>
      <p:sp>
        <p:nvSpPr>
          <p:cNvPr id="110" name="Google Shape;110;p8"/>
          <p:cNvSpPr txBox="1"/>
          <p:nvPr/>
        </p:nvSpPr>
        <p:spPr>
          <a:xfrm>
            <a:off x="167037" y="3752050"/>
            <a:ext cx="3171300" cy="1305300"/>
          </a:xfrm>
          <a:prstGeom prst="rect">
            <a:avLst/>
          </a:prstGeom>
          <a:solidFill>
            <a:srgbClr val="D9D2E9"/>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Clr>
                <a:srgbClr val="000000"/>
              </a:buClr>
              <a:buSzPts val="1300"/>
              <a:buFont typeface="Arial"/>
              <a:buNone/>
            </a:pPr>
            <a:r>
              <a:rPr lang="en" sz="1300" b="0" i="0" u="none" strike="noStrike" cap="none">
                <a:solidFill>
                  <a:schemeClr val="dk1"/>
                </a:solidFill>
                <a:latin typeface="Lexend"/>
                <a:ea typeface="Lexend"/>
                <a:cs typeface="Lexend"/>
                <a:sym typeface="Lexend"/>
              </a:rPr>
              <a:t>Share with your group  where each person shares one idea and then rotate to the next person. If you have a experience programming don’t share all you know. </a:t>
            </a:r>
            <a:endParaRPr sz="1300" b="0" i="0" u="none" strike="noStrike" cap="none">
              <a:solidFill>
                <a:schemeClr val="dk1"/>
              </a:solidFill>
              <a:latin typeface="Lexend"/>
              <a:ea typeface="Lexend"/>
              <a:cs typeface="Lexend"/>
              <a:sym typeface="Lexend"/>
            </a:endParaRPr>
          </a:p>
        </p:txBody>
      </p:sp>
      <p:sp>
        <p:nvSpPr>
          <p:cNvPr id="111" name="Google Shape;111;p8"/>
          <p:cNvSpPr txBox="1"/>
          <p:nvPr/>
        </p:nvSpPr>
        <p:spPr>
          <a:xfrm>
            <a:off x="3981025" y="641725"/>
            <a:ext cx="5119200" cy="4432200"/>
          </a:xfrm>
          <a:prstGeom prst="rect">
            <a:avLst/>
          </a:prstGeom>
          <a:solidFill>
            <a:schemeClr val="lt1"/>
          </a:solidFill>
          <a:ln>
            <a:noFill/>
          </a:ln>
        </p:spPr>
        <p:txBody>
          <a:bodyPr spcFirstLastPara="1" wrap="square" lIns="91425" tIns="91425" rIns="91425" bIns="91425" anchor="t" anchorCtr="0">
            <a:noAutofit/>
          </a:bodyPr>
          <a:lstStyle/>
          <a:p>
            <a:pPr marL="25400" marR="0" lvl="0" indent="0" algn="l" rtl="0">
              <a:lnSpc>
                <a:spcPct val="115000"/>
              </a:lnSpc>
              <a:spcBef>
                <a:spcPts val="0"/>
              </a:spcBef>
              <a:spcAft>
                <a:spcPts val="0"/>
              </a:spcAft>
              <a:buClr>
                <a:schemeClr val="dk1"/>
              </a:buClr>
              <a:buSzPts val="1100"/>
              <a:buFont typeface="Arial"/>
              <a:buNone/>
            </a:pPr>
            <a:r>
              <a:rPr lang="en" sz="1200" b="1" i="0" u="none" strike="noStrike" cap="none">
                <a:solidFill>
                  <a:srgbClr val="7F0055"/>
                </a:solidFill>
                <a:highlight>
                  <a:srgbClr val="FFFFFF"/>
                </a:highlight>
                <a:latin typeface="Arial"/>
                <a:ea typeface="Arial"/>
                <a:cs typeface="Arial"/>
                <a:sym typeface="Arial"/>
              </a:rPr>
              <a:t>import</a:t>
            </a:r>
            <a:r>
              <a:rPr lang="en" sz="1200" b="0" i="0" u="none" strike="noStrike" cap="none">
                <a:solidFill>
                  <a:schemeClr val="dk1"/>
                </a:solidFill>
                <a:highlight>
                  <a:srgbClr val="FFFFFF"/>
                </a:highlight>
                <a:latin typeface="Arial"/>
                <a:ea typeface="Arial"/>
                <a:cs typeface="Arial"/>
                <a:sym typeface="Arial"/>
              </a:rPr>
              <a:t> java.util.Scanner;</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1" i="0" u="none" strike="noStrike" cap="none">
                <a:solidFill>
                  <a:srgbClr val="7F0055"/>
                </a:solidFill>
                <a:highlight>
                  <a:srgbClr val="FFFFFF"/>
                </a:highlight>
                <a:latin typeface="Arial"/>
                <a:ea typeface="Arial"/>
                <a:cs typeface="Arial"/>
                <a:sym typeface="Arial"/>
              </a:rPr>
              <a:t>public</a:t>
            </a: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class</a:t>
            </a:r>
            <a:r>
              <a:rPr lang="en" sz="1200" b="0" i="0" u="none" strike="noStrike" cap="none">
                <a:solidFill>
                  <a:schemeClr val="dk1"/>
                </a:solidFill>
                <a:highlight>
                  <a:srgbClr val="FFFFFF"/>
                </a:highlight>
                <a:latin typeface="Arial"/>
                <a:ea typeface="Arial"/>
                <a:cs typeface="Arial"/>
                <a:sym typeface="Arial"/>
              </a:rPr>
              <a:t> GuessNumber{</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public</a:t>
            </a: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static</a:t>
            </a: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void</a:t>
            </a:r>
            <a:r>
              <a:rPr lang="en" sz="1200" b="0" i="0" u="none" strike="noStrike" cap="none">
                <a:solidFill>
                  <a:schemeClr val="dk1"/>
                </a:solidFill>
                <a:highlight>
                  <a:srgbClr val="FFFFFF"/>
                </a:highlight>
                <a:latin typeface="Arial"/>
                <a:ea typeface="Arial"/>
                <a:cs typeface="Arial"/>
                <a:sym typeface="Arial"/>
              </a:rPr>
              <a:t> main(String[] </a:t>
            </a:r>
            <a:r>
              <a:rPr lang="en" sz="1200" b="0" i="0" u="none" strike="noStrike" cap="none">
                <a:solidFill>
                  <a:srgbClr val="6A3E3E"/>
                </a:solidFill>
                <a:highlight>
                  <a:srgbClr val="FFFFFF"/>
                </a:highlight>
                <a:latin typeface="Arial"/>
                <a:ea typeface="Arial"/>
                <a:cs typeface="Arial"/>
                <a:sym typeface="Arial"/>
              </a:rPr>
              <a:t>args</a:t>
            </a:r>
            <a:r>
              <a:rPr lang="en" sz="1200" b="0" i="0" u="none" strike="noStrike" cap="none">
                <a:solidFill>
                  <a:schemeClr val="dk1"/>
                </a:solidFill>
                <a:highlight>
                  <a:srgbClr val="FFFFFF"/>
                </a:highlight>
                <a:latin typeface="Arial"/>
                <a:ea typeface="Arial"/>
                <a:cs typeface="Arial"/>
                <a:sym typeface="Arial"/>
              </a:rPr>
              <a:t>){		</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final</a:t>
            </a: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int</a:t>
            </a:r>
            <a:r>
              <a:rPr lang="en" sz="1200" b="0" i="0" u="none" strike="noStrike" cap="none">
                <a:solidFill>
                  <a:schemeClr val="dk1"/>
                </a:solidFill>
                <a:highlight>
                  <a:srgbClr val="FFFFFF"/>
                </a:highlight>
                <a:latin typeface="Arial"/>
                <a:ea typeface="Arial"/>
                <a:cs typeface="Arial"/>
                <a:sym typeface="Arial"/>
              </a:rPr>
              <a:t> </a:t>
            </a:r>
            <a:r>
              <a:rPr lang="en" sz="1200" b="0" i="0" u="none" strike="noStrike" cap="none">
                <a:solidFill>
                  <a:srgbClr val="6A3E3E"/>
                </a:solidFill>
                <a:highlight>
                  <a:srgbClr val="FFFFFF"/>
                </a:highlight>
                <a:latin typeface="Arial"/>
                <a:ea typeface="Arial"/>
                <a:cs typeface="Arial"/>
                <a:sym typeface="Arial"/>
              </a:rPr>
              <a:t>RANDOM_MULTIPLIER</a:t>
            </a:r>
            <a:r>
              <a:rPr lang="en" sz="1200" b="0" i="0" u="none" strike="noStrike" cap="none">
                <a:solidFill>
                  <a:schemeClr val="dk1"/>
                </a:solidFill>
                <a:highlight>
                  <a:srgbClr val="FFFFFF"/>
                </a:highlight>
                <a:latin typeface="Arial"/>
                <a:ea typeface="Arial"/>
                <a:cs typeface="Arial"/>
                <a:sym typeface="Arial"/>
              </a:rPr>
              <a:t> = 100;</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int</a:t>
            </a:r>
            <a:r>
              <a:rPr lang="en" sz="1200" b="0" i="0" u="none" strike="noStrike" cap="none">
                <a:solidFill>
                  <a:schemeClr val="dk1"/>
                </a:solidFill>
                <a:highlight>
                  <a:srgbClr val="FFFFFF"/>
                </a:highlight>
                <a:latin typeface="Arial"/>
                <a:ea typeface="Arial"/>
                <a:cs typeface="Arial"/>
                <a:sym typeface="Arial"/>
              </a:rPr>
              <a:t> </a:t>
            </a:r>
            <a:r>
              <a:rPr lang="en" sz="1200" b="0" i="0" u="none" strike="noStrike" cap="none">
                <a:solidFill>
                  <a:srgbClr val="6A3E3E"/>
                </a:solidFill>
                <a:highlight>
                  <a:srgbClr val="FFFFFF"/>
                </a:highlight>
                <a:latin typeface="Arial"/>
                <a:ea typeface="Arial"/>
                <a:cs typeface="Arial"/>
                <a:sym typeface="Arial"/>
              </a:rPr>
              <a:t>number</a:t>
            </a:r>
            <a:r>
              <a:rPr lang="en" sz="1200" b="0" i="0" u="none" strike="noStrike" cap="none">
                <a:solidFill>
                  <a:schemeClr val="dk1"/>
                </a:solidFill>
                <a:highlight>
                  <a:srgbClr val="FFFFFF"/>
                </a:highlight>
                <a:latin typeface="Arial"/>
                <a:ea typeface="Arial"/>
                <a:cs typeface="Arial"/>
                <a:sym typeface="Arial"/>
              </a:rPr>
              <a:t> = (</a:t>
            </a:r>
            <a:r>
              <a:rPr lang="en" sz="1200" b="1" i="0" u="none" strike="noStrike" cap="none">
                <a:solidFill>
                  <a:srgbClr val="7F0055"/>
                </a:solidFill>
                <a:highlight>
                  <a:srgbClr val="FFFFFF"/>
                </a:highlight>
                <a:latin typeface="Arial"/>
                <a:ea typeface="Arial"/>
                <a:cs typeface="Arial"/>
                <a:sym typeface="Arial"/>
              </a:rPr>
              <a:t>int</a:t>
            </a:r>
            <a:r>
              <a:rPr lang="en" sz="1200" b="0" i="0" u="none" strike="noStrike" cap="none">
                <a:solidFill>
                  <a:schemeClr val="dk1"/>
                </a:solidFill>
                <a:highlight>
                  <a:srgbClr val="FFFFFF"/>
                </a:highlight>
                <a:latin typeface="Arial"/>
                <a:ea typeface="Arial"/>
                <a:cs typeface="Arial"/>
                <a:sym typeface="Arial"/>
              </a:rPr>
              <a:t>) (Math.</a:t>
            </a:r>
            <a:r>
              <a:rPr lang="en" sz="1200" b="0" i="1" u="none" strike="noStrike" cap="none">
                <a:solidFill>
                  <a:schemeClr val="dk1"/>
                </a:solidFill>
                <a:highlight>
                  <a:srgbClr val="FFFFFF"/>
                </a:highlight>
                <a:latin typeface="Arial"/>
                <a:ea typeface="Arial"/>
                <a:cs typeface="Arial"/>
                <a:sym typeface="Arial"/>
              </a:rPr>
              <a:t>random</a:t>
            </a:r>
            <a:r>
              <a:rPr lang="en" sz="1200" b="0" i="0" u="none" strike="noStrike" cap="none">
                <a:solidFill>
                  <a:schemeClr val="dk1"/>
                </a:solidFill>
                <a:highlight>
                  <a:srgbClr val="FFFFFF"/>
                </a:highlight>
                <a:latin typeface="Arial"/>
                <a:ea typeface="Arial"/>
                <a:cs typeface="Arial"/>
                <a:sym typeface="Arial"/>
              </a:rPr>
              <a:t>() * </a:t>
            </a:r>
            <a:r>
              <a:rPr lang="en" sz="1200" b="0" i="0" u="none" strike="noStrike" cap="none">
                <a:solidFill>
                  <a:srgbClr val="6A3E3E"/>
                </a:solidFill>
                <a:highlight>
                  <a:srgbClr val="FFFFFF"/>
                </a:highlight>
                <a:latin typeface="Arial"/>
                <a:ea typeface="Arial"/>
                <a:cs typeface="Arial"/>
                <a:sym typeface="Arial"/>
              </a:rPr>
              <a:t>RANDOM_MULTIPLIER</a:t>
            </a:r>
            <a:r>
              <a:rPr lang="en" sz="1200" b="0" i="0" u="none" strike="noStrike" cap="none">
                <a:solidFill>
                  <a:schemeClr val="dk1"/>
                </a:solidFill>
                <a:highlight>
                  <a:srgbClr val="FFFFFF"/>
                </a:highlight>
                <a:latin typeface="Arial"/>
                <a:ea typeface="Arial"/>
                <a:cs typeface="Arial"/>
                <a:sym typeface="Arial"/>
              </a:rPr>
              <a:t>) + 1;</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Scanner </a:t>
            </a:r>
            <a:r>
              <a:rPr lang="en" sz="1200" b="0" i="0" strike="noStrike" cap="none">
                <a:solidFill>
                  <a:srgbClr val="6A3E3E"/>
                </a:solidFill>
                <a:highlight>
                  <a:srgbClr val="FFFFFF"/>
                </a:highlight>
                <a:latin typeface="Arial"/>
                <a:ea typeface="Arial"/>
                <a:cs typeface="Arial"/>
                <a:sym typeface="Arial"/>
              </a:rPr>
              <a:t>keyboardInput</a:t>
            </a:r>
            <a:r>
              <a:rPr lang="en" sz="1200" b="0" i="0" u="none" strike="noStrike" cap="none">
                <a:solidFill>
                  <a:schemeClr val="dk1"/>
                </a:solidFill>
                <a:highlight>
                  <a:srgbClr val="FFFFFF"/>
                </a:highlight>
                <a:latin typeface="Arial"/>
                <a:ea typeface="Arial"/>
                <a:cs typeface="Arial"/>
                <a:sym typeface="Arial"/>
              </a:rPr>
              <a:t> = </a:t>
            </a:r>
            <a:r>
              <a:rPr lang="en" sz="1200" b="1" i="0" u="none" strike="noStrike" cap="none">
                <a:solidFill>
                  <a:srgbClr val="7F0055"/>
                </a:solidFill>
                <a:highlight>
                  <a:srgbClr val="FFFFFF"/>
                </a:highlight>
                <a:latin typeface="Arial"/>
                <a:ea typeface="Arial"/>
                <a:cs typeface="Arial"/>
                <a:sym typeface="Arial"/>
              </a:rPr>
              <a:t>new</a:t>
            </a:r>
            <a:r>
              <a:rPr lang="en" sz="1200" b="0" i="0" u="none" strike="noStrike" cap="none">
                <a:solidFill>
                  <a:schemeClr val="dk1"/>
                </a:solidFill>
                <a:highlight>
                  <a:srgbClr val="FFFFFF"/>
                </a:highlight>
                <a:latin typeface="Arial"/>
                <a:ea typeface="Arial"/>
                <a:cs typeface="Arial"/>
                <a:sym typeface="Arial"/>
              </a:rPr>
              <a:t> Scanner(System.</a:t>
            </a:r>
            <a:r>
              <a:rPr lang="en" sz="1200" b="1" i="1" u="none" strike="noStrike" cap="none">
                <a:solidFill>
                  <a:srgbClr val="0000C0"/>
                </a:solidFill>
                <a:highlight>
                  <a:srgbClr val="FFFFFF"/>
                </a:highlight>
                <a:latin typeface="Arial"/>
                <a:ea typeface="Arial"/>
                <a:cs typeface="Arial"/>
                <a:sym typeface="Arial"/>
              </a:rPr>
              <a:t>in</a:t>
            </a:r>
            <a:r>
              <a:rPr lang="en" sz="1200" b="0" i="0" u="none" strike="noStrike" cap="none">
                <a:solidFill>
                  <a:schemeClr val="dk1"/>
                </a:solidFill>
                <a:highlight>
                  <a:srgbClr val="FFFFFF"/>
                </a:highlight>
                <a:latin typeface="Arial"/>
                <a:ea typeface="Arial"/>
                <a:cs typeface="Arial"/>
                <a:sym typeface="Arial"/>
              </a:rPr>
              <a:t>);</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System.</a:t>
            </a:r>
            <a:r>
              <a:rPr lang="en" sz="1200" b="1" i="1" u="none" strike="noStrike" cap="none">
                <a:solidFill>
                  <a:srgbClr val="0000C0"/>
                </a:solidFill>
                <a:highlight>
                  <a:srgbClr val="FFFFFF"/>
                </a:highlight>
                <a:latin typeface="Arial"/>
                <a:ea typeface="Arial"/>
                <a:cs typeface="Arial"/>
                <a:sym typeface="Arial"/>
              </a:rPr>
              <a:t>out</a:t>
            </a:r>
            <a:r>
              <a:rPr lang="en" sz="1200" b="0" i="0" u="none" strike="noStrike" cap="none">
                <a:solidFill>
                  <a:schemeClr val="dk1"/>
                </a:solidFill>
                <a:highlight>
                  <a:srgbClr val="FFFFFF"/>
                </a:highlight>
                <a:latin typeface="Arial"/>
                <a:ea typeface="Arial"/>
                <a:cs typeface="Arial"/>
                <a:sym typeface="Arial"/>
              </a:rPr>
              <a:t>.println(</a:t>
            </a:r>
            <a:r>
              <a:rPr lang="en" sz="1200" b="0" i="0" u="none" strike="noStrike" cap="none">
                <a:solidFill>
                  <a:srgbClr val="2A00FF"/>
                </a:solidFill>
                <a:highlight>
                  <a:srgbClr val="FFFFFF"/>
                </a:highlight>
                <a:latin typeface="Arial"/>
                <a:ea typeface="Arial"/>
                <a:cs typeface="Arial"/>
                <a:sym typeface="Arial"/>
              </a:rPr>
              <a:t>"Guess a magic number between 0 and 100"</a:t>
            </a:r>
            <a:r>
              <a:rPr lang="en" sz="1200" b="0" i="0" u="none" strike="noStrike" cap="none">
                <a:solidFill>
                  <a:schemeClr val="dk1"/>
                </a:solidFill>
                <a:highlight>
                  <a:srgbClr val="FFFFFF"/>
                </a:highlight>
                <a:latin typeface="Arial"/>
                <a:ea typeface="Arial"/>
                <a:cs typeface="Arial"/>
                <a:sym typeface="Arial"/>
              </a:rPr>
              <a:t>);</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int</a:t>
            </a:r>
            <a:r>
              <a:rPr lang="en" sz="1200" b="0" i="0" u="none" strike="noStrike" cap="none">
                <a:solidFill>
                  <a:schemeClr val="dk1"/>
                </a:solidFill>
                <a:highlight>
                  <a:srgbClr val="FFFFFF"/>
                </a:highlight>
                <a:latin typeface="Arial"/>
                <a:ea typeface="Arial"/>
                <a:cs typeface="Arial"/>
                <a:sym typeface="Arial"/>
              </a:rPr>
              <a:t> </a:t>
            </a:r>
            <a:r>
              <a:rPr lang="en" sz="1200" b="0" i="0" u="none" strike="noStrike" cap="none">
                <a:solidFill>
                  <a:srgbClr val="6A3E3E"/>
                </a:solidFill>
                <a:highlight>
                  <a:srgbClr val="FFFFFF"/>
                </a:highlight>
                <a:latin typeface="Arial"/>
                <a:ea typeface="Arial"/>
                <a:cs typeface="Arial"/>
                <a:sym typeface="Arial"/>
              </a:rPr>
              <a:t>guess</a:t>
            </a:r>
            <a:r>
              <a:rPr lang="en" sz="1200" b="0" i="0" u="none" strike="noStrike" cap="none">
                <a:solidFill>
                  <a:schemeClr val="dk1"/>
                </a:solidFill>
                <a:highlight>
                  <a:srgbClr val="FFFFFF"/>
                </a:highlight>
                <a:latin typeface="Arial"/>
                <a:ea typeface="Arial"/>
                <a:cs typeface="Arial"/>
                <a:sym typeface="Arial"/>
              </a:rPr>
              <a:t> = -1;</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while</a:t>
            </a:r>
            <a:r>
              <a:rPr lang="en" sz="1200" b="0" i="0" u="none" strike="noStrike" cap="none">
                <a:solidFill>
                  <a:schemeClr val="dk1"/>
                </a:solidFill>
                <a:highlight>
                  <a:srgbClr val="FFFFFF"/>
                </a:highlight>
                <a:latin typeface="Arial"/>
                <a:ea typeface="Arial"/>
                <a:cs typeface="Arial"/>
                <a:sym typeface="Arial"/>
              </a:rPr>
              <a:t> (</a:t>
            </a:r>
            <a:r>
              <a:rPr lang="en" sz="1200" b="0" i="0" u="none" strike="noStrike" cap="none">
                <a:solidFill>
                  <a:srgbClr val="6A3E3E"/>
                </a:solidFill>
                <a:highlight>
                  <a:srgbClr val="FFFFFF"/>
                </a:highlight>
                <a:latin typeface="Arial"/>
                <a:ea typeface="Arial"/>
                <a:cs typeface="Arial"/>
                <a:sym typeface="Arial"/>
              </a:rPr>
              <a:t>guess</a:t>
            </a:r>
            <a:r>
              <a:rPr lang="en" sz="1200" b="0" i="0" u="none" strike="noStrike" cap="none">
                <a:solidFill>
                  <a:schemeClr val="dk1"/>
                </a:solidFill>
                <a:highlight>
                  <a:srgbClr val="FFFFFF"/>
                </a:highlight>
                <a:latin typeface="Arial"/>
                <a:ea typeface="Arial"/>
                <a:cs typeface="Arial"/>
                <a:sym typeface="Arial"/>
              </a:rPr>
              <a:t> != </a:t>
            </a:r>
            <a:r>
              <a:rPr lang="en" sz="1200" b="0" i="0" u="none" strike="noStrike" cap="none">
                <a:solidFill>
                  <a:srgbClr val="6A3E3E"/>
                </a:solidFill>
                <a:highlight>
                  <a:srgbClr val="FFFFFF"/>
                </a:highlight>
                <a:latin typeface="Arial"/>
                <a:ea typeface="Arial"/>
                <a:cs typeface="Arial"/>
                <a:sym typeface="Arial"/>
              </a:rPr>
              <a:t>number</a:t>
            </a:r>
            <a:r>
              <a:rPr lang="en" sz="1200" b="0" i="0" u="none" strike="noStrike" cap="none">
                <a:solidFill>
                  <a:schemeClr val="dk1"/>
                </a:solidFill>
                <a:highlight>
                  <a:srgbClr val="FFFFFF"/>
                </a:highlight>
                <a:latin typeface="Arial"/>
                <a:ea typeface="Arial"/>
                <a:cs typeface="Arial"/>
                <a:sym typeface="Arial"/>
              </a:rPr>
              <a:t>){</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System.</a:t>
            </a:r>
            <a:r>
              <a:rPr lang="en" sz="1200" b="1" i="1" u="none" strike="noStrike" cap="none">
                <a:solidFill>
                  <a:srgbClr val="0000C0"/>
                </a:solidFill>
                <a:highlight>
                  <a:srgbClr val="FFFFFF"/>
                </a:highlight>
                <a:latin typeface="Arial"/>
                <a:ea typeface="Arial"/>
                <a:cs typeface="Arial"/>
                <a:sym typeface="Arial"/>
              </a:rPr>
              <a:t>out</a:t>
            </a:r>
            <a:r>
              <a:rPr lang="en" sz="1200" b="0" i="0" u="none" strike="noStrike" cap="none">
                <a:solidFill>
                  <a:schemeClr val="dk1"/>
                </a:solidFill>
                <a:highlight>
                  <a:srgbClr val="FFFFFF"/>
                </a:highlight>
                <a:latin typeface="Arial"/>
                <a:ea typeface="Arial"/>
                <a:cs typeface="Arial"/>
                <a:sym typeface="Arial"/>
              </a:rPr>
              <a:t>.print(</a:t>
            </a:r>
            <a:r>
              <a:rPr lang="en" sz="1200" b="0" i="0" u="none" strike="noStrike" cap="none">
                <a:solidFill>
                  <a:srgbClr val="2A00FF"/>
                </a:solidFill>
                <a:highlight>
                  <a:srgbClr val="FFFFFF"/>
                </a:highlight>
                <a:latin typeface="Arial"/>
                <a:ea typeface="Arial"/>
                <a:cs typeface="Arial"/>
                <a:sym typeface="Arial"/>
              </a:rPr>
              <a:t>"\nEnter your guess: "</a:t>
            </a:r>
            <a:r>
              <a:rPr lang="en" sz="1200" b="0" i="0" u="none" strike="noStrike" cap="none">
                <a:solidFill>
                  <a:schemeClr val="dk1"/>
                </a:solidFill>
                <a:highlight>
                  <a:srgbClr val="FFFFFF"/>
                </a:highlight>
                <a:latin typeface="Arial"/>
                <a:ea typeface="Arial"/>
                <a:cs typeface="Arial"/>
                <a:sym typeface="Arial"/>
              </a:rPr>
              <a:t>);</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a:t>
            </a:r>
            <a:r>
              <a:rPr lang="en" sz="1200" b="0" i="0" u="none" strike="noStrike" cap="none">
                <a:solidFill>
                  <a:srgbClr val="6A3E3E"/>
                </a:solidFill>
                <a:highlight>
                  <a:srgbClr val="FFFFFF"/>
                </a:highlight>
                <a:latin typeface="Arial"/>
                <a:ea typeface="Arial"/>
                <a:cs typeface="Arial"/>
                <a:sym typeface="Arial"/>
              </a:rPr>
              <a:t>guess</a:t>
            </a:r>
            <a:r>
              <a:rPr lang="en" sz="1200" b="0" i="0" u="none" strike="noStrike" cap="none">
                <a:solidFill>
                  <a:schemeClr val="dk1"/>
                </a:solidFill>
                <a:highlight>
                  <a:srgbClr val="FFFFFF"/>
                </a:highlight>
                <a:latin typeface="Arial"/>
                <a:ea typeface="Arial"/>
                <a:cs typeface="Arial"/>
                <a:sym typeface="Arial"/>
              </a:rPr>
              <a:t> = </a:t>
            </a:r>
            <a:r>
              <a:rPr lang="en" sz="1200" b="0" i="0" u="none" strike="noStrike" cap="none">
                <a:solidFill>
                  <a:srgbClr val="6A3E3E"/>
                </a:solidFill>
                <a:highlight>
                  <a:srgbClr val="FFFFFF"/>
                </a:highlight>
                <a:latin typeface="Arial"/>
                <a:ea typeface="Arial"/>
                <a:cs typeface="Arial"/>
                <a:sym typeface="Arial"/>
              </a:rPr>
              <a:t>keyboardInput</a:t>
            </a:r>
            <a:r>
              <a:rPr lang="en" sz="1200" b="0" i="0" u="none" strike="noStrike" cap="none">
                <a:solidFill>
                  <a:schemeClr val="dk1"/>
                </a:solidFill>
                <a:highlight>
                  <a:srgbClr val="FFFFFF"/>
                </a:highlight>
                <a:latin typeface="Arial"/>
                <a:ea typeface="Arial"/>
                <a:cs typeface="Arial"/>
                <a:sym typeface="Arial"/>
              </a:rPr>
              <a:t>.nextInt();</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if</a:t>
            </a:r>
            <a:r>
              <a:rPr lang="en" sz="1200" b="0" i="0" u="none" strike="noStrike" cap="none">
                <a:solidFill>
                  <a:schemeClr val="dk1"/>
                </a:solidFill>
                <a:highlight>
                  <a:srgbClr val="FFFFFF"/>
                </a:highlight>
                <a:latin typeface="Arial"/>
                <a:ea typeface="Arial"/>
                <a:cs typeface="Arial"/>
                <a:sym typeface="Arial"/>
              </a:rPr>
              <a:t> (</a:t>
            </a:r>
            <a:r>
              <a:rPr lang="en" sz="1200" b="0" i="0" u="none" strike="noStrike" cap="none">
                <a:solidFill>
                  <a:srgbClr val="6A3E3E"/>
                </a:solidFill>
                <a:highlight>
                  <a:srgbClr val="FFFFFF"/>
                </a:highlight>
                <a:latin typeface="Arial"/>
                <a:ea typeface="Arial"/>
                <a:cs typeface="Arial"/>
                <a:sym typeface="Arial"/>
              </a:rPr>
              <a:t>guess</a:t>
            </a:r>
            <a:r>
              <a:rPr lang="en" sz="1200" b="0" i="0" u="none" strike="noStrike" cap="none">
                <a:solidFill>
                  <a:schemeClr val="dk1"/>
                </a:solidFill>
                <a:highlight>
                  <a:srgbClr val="FFFFFF"/>
                </a:highlight>
                <a:latin typeface="Arial"/>
                <a:ea typeface="Arial"/>
                <a:cs typeface="Arial"/>
                <a:sym typeface="Arial"/>
              </a:rPr>
              <a:t> == </a:t>
            </a:r>
            <a:r>
              <a:rPr lang="en" sz="1200" b="0" i="0" u="none" strike="noStrike" cap="none">
                <a:solidFill>
                  <a:srgbClr val="6A3E3E"/>
                </a:solidFill>
                <a:highlight>
                  <a:srgbClr val="FFFFFF"/>
                </a:highlight>
                <a:latin typeface="Arial"/>
                <a:ea typeface="Arial"/>
                <a:cs typeface="Arial"/>
                <a:sym typeface="Arial"/>
              </a:rPr>
              <a:t>number</a:t>
            </a:r>
            <a:r>
              <a:rPr lang="en" sz="1200" b="0" i="0" u="none" strike="noStrike" cap="none">
                <a:solidFill>
                  <a:schemeClr val="dk1"/>
                </a:solidFill>
                <a:highlight>
                  <a:srgbClr val="FFFFFF"/>
                </a:highlight>
                <a:latin typeface="Arial"/>
                <a:ea typeface="Arial"/>
                <a:cs typeface="Arial"/>
                <a:sym typeface="Arial"/>
              </a:rPr>
              <a:t>){</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System.</a:t>
            </a:r>
            <a:r>
              <a:rPr lang="en" sz="1200" b="1" i="1" u="none" strike="noStrike" cap="none">
                <a:solidFill>
                  <a:srgbClr val="0000C0"/>
                </a:solidFill>
                <a:highlight>
                  <a:srgbClr val="FFFFFF"/>
                </a:highlight>
                <a:latin typeface="Arial"/>
                <a:ea typeface="Arial"/>
                <a:cs typeface="Arial"/>
                <a:sym typeface="Arial"/>
              </a:rPr>
              <a:t>out</a:t>
            </a:r>
            <a:r>
              <a:rPr lang="en" sz="1200" b="0" i="0" u="none" strike="noStrike" cap="none">
                <a:solidFill>
                  <a:schemeClr val="dk1"/>
                </a:solidFill>
                <a:highlight>
                  <a:srgbClr val="FFFFFF"/>
                </a:highlight>
                <a:latin typeface="Arial"/>
                <a:ea typeface="Arial"/>
                <a:cs typeface="Arial"/>
                <a:sym typeface="Arial"/>
              </a:rPr>
              <a:t>.println(</a:t>
            </a:r>
            <a:r>
              <a:rPr lang="en" sz="1200" b="0" i="0" u="none" strike="noStrike" cap="none">
                <a:solidFill>
                  <a:srgbClr val="2A00FF"/>
                </a:solidFill>
                <a:highlight>
                  <a:srgbClr val="FFFFFF"/>
                </a:highlight>
                <a:latin typeface="Arial"/>
                <a:ea typeface="Arial"/>
                <a:cs typeface="Arial"/>
                <a:sym typeface="Arial"/>
              </a:rPr>
              <a:t>"Yes, the number is "</a:t>
            </a:r>
            <a:r>
              <a:rPr lang="en" sz="1200" b="0" i="0" u="none" strike="noStrike" cap="none">
                <a:solidFill>
                  <a:schemeClr val="dk1"/>
                </a:solidFill>
                <a:highlight>
                  <a:srgbClr val="FFFFFF"/>
                </a:highlight>
                <a:latin typeface="Arial"/>
                <a:ea typeface="Arial"/>
                <a:cs typeface="Arial"/>
                <a:sym typeface="Arial"/>
              </a:rPr>
              <a:t> + </a:t>
            </a:r>
            <a:r>
              <a:rPr lang="en" sz="1200" b="0" i="0" u="none" strike="noStrike" cap="none">
                <a:solidFill>
                  <a:srgbClr val="6A3E3E"/>
                </a:solidFill>
                <a:highlight>
                  <a:srgbClr val="FFFFFF"/>
                </a:highlight>
                <a:latin typeface="Arial"/>
                <a:ea typeface="Arial"/>
                <a:cs typeface="Arial"/>
                <a:sym typeface="Arial"/>
              </a:rPr>
              <a:t>number</a:t>
            </a:r>
            <a:r>
              <a:rPr lang="en" sz="1200" b="0" i="0" u="none" strike="noStrike" cap="none">
                <a:solidFill>
                  <a:schemeClr val="dk1"/>
                </a:solidFill>
                <a:highlight>
                  <a:srgbClr val="FFFFFF"/>
                </a:highlight>
                <a:latin typeface="Arial"/>
                <a:ea typeface="Arial"/>
                <a:cs typeface="Arial"/>
                <a:sym typeface="Arial"/>
              </a:rPr>
              <a:t>);</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else</a:t>
            </a: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if</a:t>
            </a:r>
            <a:r>
              <a:rPr lang="en" sz="1200" b="0" i="0" u="none" strike="noStrike" cap="none">
                <a:solidFill>
                  <a:schemeClr val="dk1"/>
                </a:solidFill>
                <a:highlight>
                  <a:srgbClr val="FFFFFF"/>
                </a:highlight>
                <a:latin typeface="Arial"/>
                <a:ea typeface="Arial"/>
                <a:cs typeface="Arial"/>
                <a:sym typeface="Arial"/>
              </a:rPr>
              <a:t> (</a:t>
            </a:r>
            <a:r>
              <a:rPr lang="en" sz="1200" b="0" i="0" u="none" strike="noStrike" cap="none">
                <a:solidFill>
                  <a:srgbClr val="6A3E3E"/>
                </a:solidFill>
                <a:highlight>
                  <a:srgbClr val="FFFFFF"/>
                </a:highlight>
                <a:latin typeface="Arial"/>
                <a:ea typeface="Arial"/>
                <a:cs typeface="Arial"/>
                <a:sym typeface="Arial"/>
              </a:rPr>
              <a:t>guess</a:t>
            </a:r>
            <a:r>
              <a:rPr lang="en" sz="1200" b="0" i="0" u="none" strike="noStrike" cap="none">
                <a:solidFill>
                  <a:schemeClr val="dk1"/>
                </a:solidFill>
                <a:highlight>
                  <a:srgbClr val="FFFFFF"/>
                </a:highlight>
                <a:latin typeface="Arial"/>
                <a:ea typeface="Arial"/>
                <a:cs typeface="Arial"/>
                <a:sym typeface="Arial"/>
              </a:rPr>
              <a:t> &gt; </a:t>
            </a:r>
            <a:r>
              <a:rPr lang="en" sz="1200" b="0" i="0" u="none" strike="noStrike" cap="none">
                <a:solidFill>
                  <a:srgbClr val="6A3E3E"/>
                </a:solidFill>
                <a:highlight>
                  <a:srgbClr val="FFFFFF"/>
                </a:highlight>
                <a:latin typeface="Arial"/>
                <a:ea typeface="Arial"/>
                <a:cs typeface="Arial"/>
                <a:sym typeface="Arial"/>
              </a:rPr>
              <a:t>number</a:t>
            </a:r>
            <a:r>
              <a:rPr lang="en" sz="1200" b="0" i="0" u="none" strike="noStrike" cap="none">
                <a:solidFill>
                  <a:schemeClr val="dk1"/>
                </a:solidFill>
                <a:highlight>
                  <a:srgbClr val="FFFFFF"/>
                </a:highlight>
                <a:latin typeface="Arial"/>
                <a:ea typeface="Arial"/>
                <a:cs typeface="Arial"/>
                <a:sym typeface="Arial"/>
              </a:rPr>
              <a:t>){</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System.</a:t>
            </a:r>
            <a:r>
              <a:rPr lang="en" sz="1200" b="1" i="1" u="none" strike="noStrike" cap="none">
                <a:solidFill>
                  <a:srgbClr val="0000C0"/>
                </a:solidFill>
                <a:highlight>
                  <a:srgbClr val="FFFFFF"/>
                </a:highlight>
                <a:latin typeface="Arial"/>
                <a:ea typeface="Arial"/>
                <a:cs typeface="Arial"/>
                <a:sym typeface="Arial"/>
              </a:rPr>
              <a:t>out</a:t>
            </a:r>
            <a:r>
              <a:rPr lang="en" sz="1200" b="0" i="0" u="none" strike="noStrike" cap="none">
                <a:solidFill>
                  <a:schemeClr val="dk1"/>
                </a:solidFill>
                <a:highlight>
                  <a:srgbClr val="FFFFFF"/>
                </a:highlight>
                <a:latin typeface="Arial"/>
                <a:ea typeface="Arial"/>
                <a:cs typeface="Arial"/>
                <a:sym typeface="Arial"/>
              </a:rPr>
              <a:t>.println(</a:t>
            </a:r>
            <a:r>
              <a:rPr lang="en" sz="1200" b="0" i="0" u="none" strike="noStrike" cap="none">
                <a:solidFill>
                  <a:srgbClr val="2A00FF"/>
                </a:solidFill>
                <a:highlight>
                  <a:srgbClr val="FFFFFF"/>
                </a:highlight>
                <a:latin typeface="Arial"/>
                <a:ea typeface="Arial"/>
                <a:cs typeface="Arial"/>
                <a:sym typeface="Arial"/>
              </a:rPr>
              <a:t>"Your guess is too high"</a:t>
            </a:r>
            <a:r>
              <a:rPr lang="en" sz="1200" b="0" i="0" u="none" strike="noStrike" cap="none">
                <a:solidFill>
                  <a:schemeClr val="dk1"/>
                </a:solidFill>
                <a:highlight>
                  <a:srgbClr val="FFFFFF"/>
                </a:highlight>
                <a:latin typeface="Arial"/>
                <a:ea typeface="Arial"/>
                <a:cs typeface="Arial"/>
                <a:sym typeface="Arial"/>
              </a:rPr>
              <a:t>);</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a:t>
            </a:r>
            <a:r>
              <a:rPr lang="en" sz="1200" b="1" i="0" u="none" strike="noStrike" cap="none">
                <a:solidFill>
                  <a:srgbClr val="7F0055"/>
                </a:solidFill>
                <a:highlight>
                  <a:srgbClr val="FFFFFF"/>
                </a:highlight>
                <a:latin typeface="Arial"/>
                <a:ea typeface="Arial"/>
                <a:cs typeface="Arial"/>
                <a:sym typeface="Arial"/>
              </a:rPr>
              <a:t>else </a:t>
            </a:r>
            <a:r>
              <a:rPr lang="en" sz="1200" b="0" i="0" u="none" strike="noStrike" cap="none">
                <a:solidFill>
                  <a:schemeClr val="dk1"/>
                </a:solidFill>
                <a:highlight>
                  <a:srgbClr val="FFFFFF"/>
                </a:highlight>
                <a:latin typeface="Arial"/>
                <a:ea typeface="Arial"/>
                <a:cs typeface="Arial"/>
                <a:sym typeface="Arial"/>
              </a:rPr>
              <a:t>}</a:t>
            </a:r>
            <a:endParaRPr sz="1200" b="1" i="0" u="none" strike="noStrike" cap="none">
              <a:solidFill>
                <a:srgbClr val="7F0055"/>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System.</a:t>
            </a:r>
            <a:r>
              <a:rPr lang="en" sz="1200" b="1" i="1" u="none" strike="noStrike" cap="none">
                <a:solidFill>
                  <a:srgbClr val="0000C0"/>
                </a:solidFill>
                <a:highlight>
                  <a:srgbClr val="FFFFFF"/>
                </a:highlight>
                <a:latin typeface="Arial"/>
                <a:ea typeface="Arial"/>
                <a:cs typeface="Arial"/>
                <a:sym typeface="Arial"/>
              </a:rPr>
              <a:t>out</a:t>
            </a:r>
            <a:r>
              <a:rPr lang="en" sz="1200" b="0" i="0" u="none" strike="noStrike" cap="none">
                <a:solidFill>
                  <a:schemeClr val="dk1"/>
                </a:solidFill>
                <a:highlight>
                  <a:srgbClr val="FFFFFF"/>
                </a:highlight>
                <a:latin typeface="Arial"/>
                <a:ea typeface="Arial"/>
                <a:cs typeface="Arial"/>
                <a:sym typeface="Arial"/>
              </a:rPr>
              <a:t>.println(</a:t>
            </a:r>
            <a:r>
              <a:rPr lang="en" sz="1200" b="0" i="0" u="none" strike="noStrike" cap="none">
                <a:solidFill>
                  <a:srgbClr val="2A00FF"/>
                </a:solidFill>
                <a:highlight>
                  <a:srgbClr val="FFFFFF"/>
                </a:highlight>
                <a:latin typeface="Arial"/>
                <a:ea typeface="Arial"/>
                <a:cs typeface="Arial"/>
                <a:sym typeface="Arial"/>
              </a:rPr>
              <a:t>"Your guess is too low"</a:t>
            </a:r>
            <a:r>
              <a:rPr lang="en" sz="1200" b="0" i="0" u="none" strike="noStrike" cap="none">
                <a:solidFill>
                  <a:schemeClr val="dk1"/>
                </a:solidFill>
                <a:highlight>
                  <a:srgbClr val="FFFFFF"/>
                </a:highlight>
                <a:latin typeface="Arial"/>
                <a:ea typeface="Arial"/>
                <a:cs typeface="Arial"/>
                <a:sym typeface="Arial"/>
              </a:rPr>
              <a:t>);</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a:t>
            </a:r>
            <a:endParaRPr sz="1200" b="0" i="0" u="none" strike="noStrike" cap="none">
              <a:solidFill>
                <a:schemeClr val="dk1"/>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    }</a:t>
            </a:r>
            <a:r>
              <a:rPr lang="en" sz="1200" b="0" i="0" u="none" strike="noStrike" cap="none">
                <a:solidFill>
                  <a:srgbClr val="3F7F5F"/>
                </a:solidFill>
                <a:highlight>
                  <a:srgbClr val="FFFFFF"/>
                </a:highlight>
                <a:latin typeface="Arial"/>
                <a:ea typeface="Arial"/>
                <a:cs typeface="Arial"/>
                <a:sym typeface="Arial"/>
              </a:rPr>
              <a:t>//end of main</a:t>
            </a:r>
            <a:endParaRPr sz="1200" b="0" i="0" u="none" strike="noStrike" cap="none">
              <a:solidFill>
                <a:srgbClr val="3F7F5F"/>
              </a:solidFill>
              <a:highlight>
                <a:srgbClr val="FFFFFF"/>
              </a:highlight>
              <a:latin typeface="Arial"/>
              <a:ea typeface="Arial"/>
              <a:cs typeface="Arial"/>
              <a:sym typeface="Arial"/>
            </a:endParaRPr>
          </a:p>
          <a:p>
            <a:pPr marL="25400" marR="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Arial"/>
                <a:ea typeface="Arial"/>
                <a:cs typeface="Arial"/>
                <a:sym typeface="Arial"/>
              </a:rPr>
              <a:t>}</a:t>
            </a:r>
            <a:r>
              <a:rPr lang="en" sz="1200" b="0" i="0" u="none" strike="noStrike" cap="none">
                <a:solidFill>
                  <a:srgbClr val="3F7F5F"/>
                </a:solidFill>
                <a:highlight>
                  <a:srgbClr val="FFFFFF"/>
                </a:highlight>
                <a:latin typeface="Arial"/>
                <a:ea typeface="Arial"/>
                <a:cs typeface="Arial"/>
                <a:sym typeface="Arial"/>
              </a:rPr>
              <a:t>//end of class</a:t>
            </a:r>
            <a:endParaRPr sz="1200" b="0" i="0" u="none" strike="noStrike" cap="none">
              <a:solidFill>
                <a:srgbClr val="3F7F5F"/>
              </a:solidFill>
              <a:highlight>
                <a:srgbClr val="FFFFFF"/>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434343"/>
              </a:solidFill>
              <a:latin typeface="Lexend"/>
              <a:ea typeface="Lexend"/>
              <a:cs typeface="Lexend"/>
              <a:sym typeface="Lexend"/>
            </a:endParaRPr>
          </a:p>
        </p:txBody>
      </p:sp>
      <p:pic>
        <p:nvPicPr>
          <p:cNvPr id="112" name="Google Shape;112;p8" descr="Discussion icons"/>
          <p:cNvPicPr preferRelativeResize="0"/>
          <p:nvPr/>
        </p:nvPicPr>
        <p:blipFill rotWithShape="1">
          <a:blip r:embed="rId3">
            <a:alphaModFix/>
          </a:blip>
          <a:srcRect b="29223"/>
          <a:stretch/>
        </p:blipFill>
        <p:spPr>
          <a:xfrm>
            <a:off x="7609079" y="69579"/>
            <a:ext cx="1444898" cy="680999"/>
          </a:xfrm>
          <a:prstGeom prst="rect">
            <a:avLst/>
          </a:prstGeom>
          <a:noFill/>
          <a:ln>
            <a:noFill/>
          </a:ln>
        </p:spPr>
      </p:pic>
      <p:pic>
        <p:nvPicPr>
          <p:cNvPr id="113" name="Google Shape;113;p8" descr="? with person scratching head"/>
          <p:cNvPicPr preferRelativeResize="0"/>
          <p:nvPr/>
        </p:nvPicPr>
        <p:blipFill rotWithShape="1">
          <a:blip r:embed="rId4">
            <a:alphaModFix/>
          </a:blip>
          <a:srcRect/>
          <a:stretch/>
        </p:blipFill>
        <p:spPr>
          <a:xfrm>
            <a:off x="8090951" y="641725"/>
            <a:ext cx="481150" cy="7898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9" title="Screenshot 2025-08-05 at 5.32.28 PM.png"/>
          <p:cNvPicPr preferRelativeResize="0"/>
          <p:nvPr/>
        </p:nvPicPr>
        <p:blipFill rotWithShape="1">
          <a:blip r:embed="rId3">
            <a:alphaModFix/>
          </a:blip>
          <a:srcRect/>
          <a:stretch/>
        </p:blipFill>
        <p:spPr>
          <a:xfrm>
            <a:off x="4631299" y="687261"/>
            <a:ext cx="4312800" cy="1689019"/>
          </a:xfrm>
          <a:prstGeom prst="rect">
            <a:avLst/>
          </a:prstGeom>
          <a:noFill/>
          <a:ln>
            <a:noFill/>
          </a:ln>
        </p:spPr>
      </p:pic>
      <p:sp>
        <p:nvSpPr>
          <p:cNvPr id="119" name="Google Shape;119;p9"/>
          <p:cNvSpPr txBox="1">
            <a:spLocks noGrp="1"/>
          </p:cNvSpPr>
          <p:nvPr>
            <p:ph type="title"/>
          </p:nvPr>
        </p:nvSpPr>
        <p:spPr>
          <a:xfrm>
            <a:off x="148400" y="69800"/>
            <a:ext cx="40704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07"/>
              <a:buNone/>
            </a:pPr>
            <a:r>
              <a:rPr lang="en"/>
              <a:t>Parts of Java Program</a:t>
            </a:r>
            <a:endParaRPr/>
          </a:p>
        </p:txBody>
      </p:sp>
      <p:sp>
        <p:nvSpPr>
          <p:cNvPr id="120" name="Google Shape;120;p9"/>
          <p:cNvSpPr txBox="1">
            <a:spLocks noGrp="1"/>
          </p:cNvSpPr>
          <p:nvPr>
            <p:ph type="body" idx="1"/>
          </p:nvPr>
        </p:nvSpPr>
        <p:spPr>
          <a:xfrm>
            <a:off x="148400" y="587550"/>
            <a:ext cx="4312800" cy="2033100"/>
          </a:xfrm>
          <a:prstGeom prst="rect">
            <a:avLst/>
          </a:prstGeom>
          <a:noFill/>
          <a:ln>
            <a:noFill/>
          </a:ln>
        </p:spPr>
        <p:txBody>
          <a:bodyPr spcFirstLastPara="1" wrap="square" lIns="91425" tIns="91425" rIns="91425" bIns="91425" anchor="t" anchorCtr="0">
            <a:normAutofit/>
          </a:bodyPr>
          <a:lstStyle/>
          <a:p>
            <a:pPr marL="0" lvl="0" indent="0" algn="l" rtl="0">
              <a:lnSpc>
                <a:spcPct val="95000"/>
              </a:lnSpc>
              <a:spcBef>
                <a:spcPts val="0"/>
              </a:spcBef>
              <a:spcAft>
                <a:spcPts val="0"/>
              </a:spcAft>
              <a:buSzPts val="1800"/>
              <a:buNone/>
            </a:pPr>
            <a:r>
              <a:rPr lang="en" sz="1400"/>
              <a:t>Every Java program is written as a </a:t>
            </a:r>
            <a:r>
              <a:rPr lang="en" sz="1400">
                <a:highlight>
                  <a:srgbClr val="C9DAF8"/>
                </a:highlight>
              </a:rPr>
              <a:t>class</a:t>
            </a:r>
            <a:r>
              <a:rPr lang="en" sz="1400"/>
              <a:t>.  Each class has a name. In this example, the class name is </a:t>
            </a:r>
            <a:r>
              <a:rPr lang="en" sz="1400">
                <a:highlight>
                  <a:srgbClr val="CFE2F3"/>
                </a:highlight>
              </a:rPr>
              <a:t>HelloWorld</a:t>
            </a:r>
            <a:r>
              <a:rPr lang="en" sz="1400"/>
              <a:t>. </a:t>
            </a:r>
            <a:endParaRPr sz="1400"/>
          </a:p>
          <a:p>
            <a:pPr marL="0" lvl="0" indent="0" algn="l" rtl="0">
              <a:lnSpc>
                <a:spcPct val="80000"/>
              </a:lnSpc>
              <a:spcBef>
                <a:spcPts val="1200"/>
              </a:spcBef>
              <a:spcAft>
                <a:spcPts val="0"/>
              </a:spcAft>
              <a:buSzPts val="1800"/>
              <a:buNone/>
            </a:pPr>
            <a:r>
              <a:rPr lang="en" sz="1400"/>
              <a:t>In order to run a class, the class must contain a </a:t>
            </a:r>
            <a:r>
              <a:rPr lang="en" sz="1400">
                <a:highlight>
                  <a:srgbClr val="EAD1DC"/>
                </a:highlight>
              </a:rPr>
              <a:t>method</a:t>
            </a:r>
            <a:r>
              <a:rPr lang="en" sz="1400"/>
              <a:t> named </a:t>
            </a:r>
            <a:r>
              <a:rPr lang="en" sz="1400">
                <a:highlight>
                  <a:srgbClr val="EAD1DC"/>
                </a:highlight>
              </a:rPr>
              <a:t>main</a:t>
            </a:r>
            <a:r>
              <a:rPr lang="en" sz="1400"/>
              <a:t>. The program starts executing statements from the main method. </a:t>
            </a:r>
            <a:endParaRPr sz="1400"/>
          </a:p>
          <a:p>
            <a:pPr marL="0" lvl="0" indent="0" algn="l" rtl="0">
              <a:lnSpc>
                <a:spcPct val="80000"/>
              </a:lnSpc>
              <a:spcBef>
                <a:spcPts val="0"/>
              </a:spcBef>
              <a:spcAft>
                <a:spcPts val="0"/>
              </a:spcAft>
              <a:buSzPts val="1800"/>
              <a:buNone/>
            </a:pPr>
            <a:endParaRPr sz="1400"/>
          </a:p>
          <a:p>
            <a:pPr marL="0" lvl="0" indent="0" algn="l" rtl="0">
              <a:lnSpc>
                <a:spcPct val="80000"/>
              </a:lnSpc>
              <a:spcBef>
                <a:spcPts val="0"/>
              </a:spcBef>
              <a:spcAft>
                <a:spcPts val="0"/>
              </a:spcAft>
              <a:buSzPts val="1800"/>
              <a:buNone/>
            </a:pPr>
            <a:r>
              <a:rPr lang="en" sz="1400">
                <a:highlight>
                  <a:srgbClr val="F9CB9C"/>
                </a:highlight>
              </a:rPr>
              <a:t>public, class, static, void</a:t>
            </a:r>
            <a:r>
              <a:rPr lang="en" sz="1400"/>
              <a:t> are keywords</a:t>
            </a:r>
            <a:endParaRPr sz="1400"/>
          </a:p>
        </p:txBody>
      </p:sp>
      <p:sp>
        <p:nvSpPr>
          <p:cNvPr id="121" name="Google Shape;121;p9"/>
          <p:cNvSpPr txBox="1"/>
          <p:nvPr/>
        </p:nvSpPr>
        <p:spPr>
          <a:xfrm>
            <a:off x="148400" y="2529400"/>
            <a:ext cx="9074700" cy="2405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1400" b="0" i="0" u="none" strike="noStrike" cap="none" dirty="0">
                <a:solidFill>
                  <a:srgbClr val="303030"/>
                </a:solidFill>
                <a:latin typeface="Lexend"/>
                <a:ea typeface="Lexend"/>
                <a:cs typeface="Lexend"/>
                <a:sym typeface="Lexend"/>
              </a:rPr>
              <a:t>A pair of </a:t>
            </a:r>
            <a:r>
              <a:rPr lang="en" sz="1400" b="1" i="0" u="none" strike="noStrike" cap="none" dirty="0">
                <a:solidFill>
                  <a:srgbClr val="303030"/>
                </a:solidFill>
                <a:latin typeface="Lexend"/>
                <a:ea typeface="Lexend"/>
                <a:cs typeface="Lexend"/>
                <a:sym typeface="Lexend"/>
              </a:rPr>
              <a:t>Curly brackets {}</a:t>
            </a:r>
            <a:r>
              <a:rPr lang="en" sz="1400" b="0" i="0" u="none" strike="noStrike" cap="none" dirty="0">
                <a:solidFill>
                  <a:srgbClr val="303030"/>
                </a:solidFill>
                <a:latin typeface="Lexend"/>
                <a:ea typeface="Lexend"/>
                <a:cs typeface="Lexend"/>
                <a:sym typeface="Lexend"/>
              </a:rPr>
              <a:t> group multiple statements into a single block. See where class HelloWorld starts and stops and main method starts and stops. Notice main method is inside the class and is indented to make it easier to read. </a:t>
            </a:r>
            <a:endParaRPr sz="1400" b="0" i="0" u="none" strike="noStrike" cap="none" dirty="0">
              <a:solidFill>
                <a:srgbClr val="303030"/>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100"/>
              <a:buFont typeface="Arial"/>
              <a:buNone/>
            </a:pPr>
            <a:endParaRPr sz="1000" b="0" i="0" u="none" strike="noStrike" cap="none" dirty="0">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2100"/>
              <a:buFont typeface="Arial"/>
              <a:buNone/>
            </a:pPr>
            <a:r>
              <a:rPr lang="en" sz="1400" b="0" i="0" u="none" strike="noStrike" cap="none" dirty="0">
                <a:solidFill>
                  <a:schemeClr val="dk1"/>
                </a:solidFill>
                <a:latin typeface="Lexend"/>
                <a:ea typeface="Lexend"/>
                <a:cs typeface="Lexend"/>
                <a:sym typeface="Lexend"/>
              </a:rPr>
              <a:t>A statement represents an action or a sequence of actions. Statements in Java ends with a semicolon ;</a:t>
            </a:r>
            <a:endParaRPr sz="1400" b="0" i="0" u="none" strike="noStrike" cap="none" dirty="0">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err="1">
                <a:solidFill>
                  <a:schemeClr val="dk1"/>
                </a:solidFill>
                <a:highlight>
                  <a:srgbClr val="EAD1DC"/>
                </a:highlight>
                <a:latin typeface="Lexend"/>
                <a:ea typeface="Lexend"/>
                <a:cs typeface="Lexend"/>
                <a:sym typeface="Lexend"/>
              </a:rPr>
              <a:t>println</a:t>
            </a:r>
            <a:r>
              <a:rPr lang="en" sz="1400" b="0" i="0" u="none" strike="noStrike" cap="none" dirty="0">
                <a:solidFill>
                  <a:schemeClr val="dk1"/>
                </a:solidFill>
                <a:highlight>
                  <a:srgbClr val="EAD1DC"/>
                </a:highlight>
                <a:latin typeface="Lexend"/>
                <a:ea typeface="Lexend"/>
                <a:cs typeface="Lexend"/>
                <a:sym typeface="Lexend"/>
              </a:rPr>
              <a:t> </a:t>
            </a:r>
            <a:r>
              <a:rPr lang="en" sz="1400" b="0" i="0" u="none" strike="noStrike" cap="none" dirty="0">
                <a:solidFill>
                  <a:schemeClr val="dk1"/>
                </a:solidFill>
                <a:latin typeface="Lexend"/>
                <a:ea typeface="Lexend"/>
                <a:cs typeface="Lexend"/>
                <a:sym typeface="Lexend"/>
              </a:rPr>
              <a:t>is a method that is provided in the Java language to display information to the console. The String “Welcome to Java!” inside the parenthesis is the message sent for the method to print. </a:t>
            </a:r>
            <a:endParaRPr sz="1400" b="0" i="0" u="none" strike="noStrike" cap="none" dirty="0">
              <a:solidFill>
                <a:schemeClr val="dk1"/>
              </a:solidFill>
              <a:latin typeface="Lexend"/>
              <a:ea typeface="Lexend"/>
              <a:cs typeface="Lexend"/>
              <a:sym typeface="Lexend"/>
            </a:endParaRPr>
          </a:p>
          <a:p>
            <a:pPr marL="0" marR="0" lvl="0" indent="0" algn="l" rtl="0">
              <a:lnSpc>
                <a:spcPct val="115000"/>
              </a:lnSpc>
              <a:spcBef>
                <a:spcPts val="1100"/>
              </a:spcBef>
              <a:spcAft>
                <a:spcPts val="1100"/>
              </a:spcAft>
              <a:buClr>
                <a:srgbClr val="000000"/>
              </a:buClr>
              <a:buSzPts val="1400"/>
              <a:buFont typeface="Arial"/>
              <a:buNone/>
            </a:pPr>
            <a:r>
              <a:rPr lang="en" sz="1400" b="0" i="0" u="none" strike="noStrike" cap="none" dirty="0">
                <a:solidFill>
                  <a:schemeClr val="dk1"/>
                </a:solidFill>
                <a:highlight>
                  <a:srgbClr val="D9EAD3"/>
                </a:highlight>
                <a:latin typeface="Lexend"/>
                <a:ea typeface="Lexend"/>
                <a:cs typeface="Lexend"/>
                <a:sym typeface="Lexend"/>
              </a:rPr>
              <a:t>Comments</a:t>
            </a:r>
            <a:r>
              <a:rPr lang="en" sz="1400" b="0" i="0" u="none" strike="noStrike" cap="none" dirty="0">
                <a:solidFill>
                  <a:schemeClr val="dk1"/>
                </a:solidFill>
                <a:latin typeface="Lexend"/>
                <a:ea typeface="Lexend"/>
                <a:cs typeface="Lexend"/>
                <a:sym typeface="Lexend"/>
              </a:rPr>
              <a:t> are text notes in your code that the computer doesn’t run to help you and others understand what the code does. </a:t>
            </a:r>
            <a:endParaRPr sz="1400" b="0" i="0" u="none" strike="noStrike" cap="none" dirty="0">
              <a:solidFill>
                <a:schemeClr val="dk1"/>
              </a:solidFill>
              <a:latin typeface="Lexend"/>
              <a:ea typeface="Lexend"/>
              <a:cs typeface="Lexend"/>
              <a:sym typeface="Lexend"/>
            </a:endParaRPr>
          </a:p>
        </p:txBody>
      </p:sp>
      <p:sp>
        <p:nvSpPr>
          <p:cNvPr id="122" name="Google Shape;122;p9"/>
          <p:cNvSpPr/>
          <p:nvPr/>
        </p:nvSpPr>
        <p:spPr>
          <a:xfrm>
            <a:off x="6892025" y="269300"/>
            <a:ext cx="1329600" cy="346200"/>
          </a:xfrm>
          <a:prstGeom prst="wedgeRoundRectCallout">
            <a:avLst>
              <a:gd name="adj1" fmla="val -74314"/>
              <a:gd name="adj2" fmla="val 230669"/>
              <a:gd name="adj3" fmla="val 16667"/>
            </a:avLst>
          </a:prstGeom>
          <a:solidFill>
            <a:srgbClr val="EAD1DC"/>
          </a:solidFill>
          <a:ln w="12700"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300" b="0" i="0" u="none" strike="noStrike" cap="none">
                <a:solidFill>
                  <a:srgbClr val="000000"/>
                </a:solidFill>
                <a:latin typeface="Lexend"/>
                <a:ea typeface="Lexend"/>
                <a:cs typeface="Lexend"/>
                <a:sym typeface="Lexend"/>
              </a:rPr>
              <a:t>Main method</a:t>
            </a:r>
            <a:endParaRPr sz="1300" b="0" i="0" u="none" strike="noStrike" cap="none">
              <a:solidFill>
                <a:srgbClr val="000000"/>
              </a:solidFill>
              <a:latin typeface="Lexend"/>
              <a:ea typeface="Lexend"/>
              <a:cs typeface="Lexend"/>
              <a:sym typeface="Lexend"/>
            </a:endParaRPr>
          </a:p>
        </p:txBody>
      </p:sp>
      <p:sp>
        <p:nvSpPr>
          <p:cNvPr id="123" name="Google Shape;123;p9"/>
          <p:cNvSpPr/>
          <p:nvPr/>
        </p:nvSpPr>
        <p:spPr>
          <a:xfrm>
            <a:off x="5050175" y="296300"/>
            <a:ext cx="1551300" cy="346200"/>
          </a:xfrm>
          <a:prstGeom prst="wedgeRoundRectCallout">
            <a:avLst>
              <a:gd name="adj1" fmla="val 10298"/>
              <a:gd name="adj2" fmla="val 103979"/>
              <a:gd name="adj3" fmla="val 16667"/>
            </a:avLst>
          </a:prstGeom>
          <a:solidFill>
            <a:srgbClr val="CFE2F3"/>
          </a:solidFill>
          <a:ln w="12700"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300" b="0" i="0" u="none" strike="noStrike" cap="none">
                <a:solidFill>
                  <a:srgbClr val="000000"/>
                </a:solidFill>
                <a:latin typeface="Lexend"/>
                <a:ea typeface="Lexend"/>
                <a:cs typeface="Lexend"/>
                <a:sym typeface="Lexend"/>
              </a:rPr>
              <a:t>Class name</a:t>
            </a:r>
            <a:endParaRPr sz="1300" b="0" i="0" u="none" strike="noStrike" cap="none">
              <a:solidFill>
                <a:srgbClr val="000000"/>
              </a:solidFill>
              <a:latin typeface="Lexend"/>
              <a:ea typeface="Lexend"/>
              <a:cs typeface="Lexend"/>
              <a:sym typeface="Lexend"/>
            </a:endParaRPr>
          </a:p>
        </p:txBody>
      </p:sp>
      <p:sp>
        <p:nvSpPr>
          <p:cNvPr id="124" name="Google Shape;124;p9"/>
          <p:cNvSpPr/>
          <p:nvPr/>
        </p:nvSpPr>
        <p:spPr>
          <a:xfrm>
            <a:off x="4837150" y="1420500"/>
            <a:ext cx="4070400" cy="700200"/>
          </a:xfrm>
          <a:prstGeom prst="bracePair">
            <a:avLst/>
          </a:prstGeom>
          <a:noFill/>
          <a:ln w="28575" cap="flat" cmpd="sng">
            <a:solidFill>
              <a:srgbClr val="13141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exend"/>
              <a:ea typeface="Lexend"/>
              <a:cs typeface="Lexend"/>
              <a:sym typeface="Lexend"/>
            </a:endParaRPr>
          </a:p>
        </p:txBody>
      </p:sp>
      <p:sp>
        <p:nvSpPr>
          <p:cNvPr id="125" name="Google Shape;125;p9"/>
          <p:cNvSpPr/>
          <p:nvPr/>
        </p:nvSpPr>
        <p:spPr>
          <a:xfrm>
            <a:off x="4461200" y="905400"/>
            <a:ext cx="4572000" cy="1334100"/>
          </a:xfrm>
          <a:prstGeom prst="bracePair">
            <a:avLst/>
          </a:prstGeom>
          <a:noFill/>
          <a:ln w="28575" cap="flat" cmpd="sng">
            <a:solidFill>
              <a:srgbClr val="13141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exend"/>
              <a:ea typeface="Lexend"/>
              <a:cs typeface="Lexend"/>
              <a:sym typeface="Lexend"/>
            </a:endParaRPr>
          </a:p>
        </p:txBody>
      </p:sp>
      <p:sp>
        <p:nvSpPr>
          <p:cNvPr id="126" name="Google Shape;126;p9"/>
          <p:cNvSpPr/>
          <p:nvPr/>
        </p:nvSpPr>
        <p:spPr>
          <a:xfrm>
            <a:off x="7618450" y="940075"/>
            <a:ext cx="1026300" cy="273900"/>
          </a:xfrm>
          <a:prstGeom prst="wedgeRoundRectCallout">
            <a:avLst>
              <a:gd name="adj1" fmla="val -37206"/>
              <a:gd name="adj2" fmla="val 156836"/>
              <a:gd name="adj3" fmla="val 16667"/>
            </a:avLst>
          </a:prstGeom>
          <a:solidFill>
            <a:srgbClr val="D9EAD3"/>
          </a:solidFill>
          <a:ln w="12700"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300" b="0" i="0" u="none" strike="noStrike" cap="none">
                <a:solidFill>
                  <a:srgbClr val="000000"/>
                </a:solidFill>
                <a:latin typeface="Lexend"/>
                <a:ea typeface="Lexend"/>
                <a:cs typeface="Lexend"/>
                <a:sym typeface="Lexend"/>
              </a:rPr>
              <a:t>Comment</a:t>
            </a:r>
            <a:endParaRPr sz="1300" b="0" i="0" u="none" strike="noStrike" cap="none">
              <a:solidFill>
                <a:srgbClr val="000000"/>
              </a:solidFill>
              <a:latin typeface="Lexend"/>
              <a:ea typeface="Lexend"/>
              <a:cs typeface="Lexend"/>
              <a:sym typeface="Lexend"/>
            </a:endParaRPr>
          </a:p>
        </p:txBody>
      </p:sp>
      <p:sp>
        <p:nvSpPr>
          <p:cNvPr id="127" name="Google Shape;127;p9"/>
          <p:cNvSpPr/>
          <p:nvPr/>
        </p:nvSpPr>
        <p:spPr>
          <a:xfrm>
            <a:off x="5050175" y="2120700"/>
            <a:ext cx="1136700" cy="273900"/>
          </a:xfrm>
          <a:prstGeom prst="wedgeRoundRectCallout">
            <a:avLst>
              <a:gd name="adj1" fmla="val 45421"/>
              <a:gd name="adj2" fmla="val -136510"/>
              <a:gd name="adj3" fmla="val 16667"/>
            </a:avLst>
          </a:prstGeom>
          <a:solidFill>
            <a:srgbClr val="EAD1DC"/>
          </a:solidFill>
          <a:ln w="12700"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300" b="0" i="0" u="none" strike="noStrike" cap="none">
                <a:solidFill>
                  <a:srgbClr val="000000"/>
                </a:solidFill>
                <a:latin typeface="Lexend"/>
                <a:ea typeface="Lexend"/>
                <a:cs typeface="Lexend"/>
                <a:sym typeface="Lexend"/>
              </a:rPr>
              <a:t>Method </a:t>
            </a:r>
            <a:endParaRPr sz="1300" b="0" i="0" u="none" strike="noStrike" cap="none">
              <a:solidFill>
                <a:srgbClr val="000000"/>
              </a:solidFill>
              <a:latin typeface="Lexend"/>
              <a:ea typeface="Lexend"/>
              <a:cs typeface="Lexend"/>
              <a:sym typeface="Lexend"/>
            </a:endParaRPr>
          </a:p>
        </p:txBody>
      </p:sp>
      <p:sp>
        <p:nvSpPr>
          <p:cNvPr id="128" name="Google Shape;128;p9"/>
          <p:cNvSpPr txBox="1"/>
          <p:nvPr/>
        </p:nvSpPr>
        <p:spPr>
          <a:xfrm>
            <a:off x="6335375" y="2124950"/>
            <a:ext cx="2442900" cy="400200"/>
          </a:xfrm>
          <a:prstGeom prst="rect">
            <a:avLst/>
          </a:prstGeom>
          <a:solidFill>
            <a:srgbClr val="D9D2E9"/>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Click </a:t>
            </a:r>
            <a:r>
              <a:rPr lang="en" sz="1400" b="0" i="0" u="sng" strike="noStrike" cap="none">
                <a:solidFill>
                  <a:schemeClr val="hlink"/>
                </a:solidFill>
                <a:latin typeface="Arial"/>
                <a:ea typeface="Arial"/>
                <a:cs typeface="Arial"/>
                <a:sym typeface="Arial"/>
                <a:hlinkClick r:id="rId4"/>
              </a:rPr>
              <a:t>Hello World Animation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0"/>
          <p:cNvSpPr txBox="1">
            <a:spLocks noGrp="1"/>
          </p:cNvSpPr>
          <p:nvPr>
            <p:ph type="title"/>
          </p:nvPr>
        </p:nvSpPr>
        <p:spPr>
          <a:xfrm>
            <a:off x="311700" y="807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Identifiers</a:t>
            </a:r>
            <a:endParaRPr/>
          </a:p>
        </p:txBody>
      </p:sp>
      <p:sp>
        <p:nvSpPr>
          <p:cNvPr id="134" name="Google Shape;134;p10"/>
          <p:cNvSpPr txBox="1">
            <a:spLocks noGrp="1"/>
          </p:cNvSpPr>
          <p:nvPr>
            <p:ph type="body" idx="1"/>
          </p:nvPr>
        </p:nvSpPr>
        <p:spPr>
          <a:xfrm>
            <a:off x="259125" y="653475"/>
            <a:ext cx="8722200" cy="4422000"/>
          </a:xfrm>
          <a:prstGeom prst="rect">
            <a:avLst/>
          </a:prstGeom>
          <a:noFill/>
          <a:ln>
            <a:noFill/>
          </a:ln>
        </p:spPr>
        <p:txBody>
          <a:bodyPr spcFirstLastPara="1" wrap="square" lIns="91425" tIns="91425" rIns="91425" bIns="91425" anchor="t" anchorCtr="0">
            <a:normAutofit/>
          </a:bodyPr>
          <a:lstStyle/>
          <a:p>
            <a:pPr marL="0" lvl="0" indent="0" algn="l" rtl="0">
              <a:lnSpc>
                <a:spcPct val="95000"/>
              </a:lnSpc>
              <a:spcBef>
                <a:spcPts val="0"/>
              </a:spcBef>
              <a:spcAft>
                <a:spcPts val="0"/>
              </a:spcAft>
              <a:buSzPts val="1946"/>
              <a:buNone/>
            </a:pPr>
            <a:r>
              <a:rPr lang="en" sz="1600"/>
              <a:t>An identifier is basically a name chosen by the programmer to name Classes, Methods, Variables, Constants</a:t>
            </a:r>
            <a:endParaRPr sz="1600"/>
          </a:p>
          <a:p>
            <a:pPr marL="0" lvl="0" indent="0" algn="l" rtl="0">
              <a:lnSpc>
                <a:spcPct val="95000"/>
              </a:lnSpc>
              <a:spcBef>
                <a:spcPts val="1200"/>
              </a:spcBef>
              <a:spcAft>
                <a:spcPts val="0"/>
              </a:spcAft>
              <a:buSzPts val="1946"/>
              <a:buNone/>
            </a:pPr>
            <a:r>
              <a:rPr lang="en" sz="1600"/>
              <a:t>Identifiers follow certain rules</a:t>
            </a:r>
            <a:endParaRPr sz="1600"/>
          </a:p>
          <a:p>
            <a:pPr marL="457200" lvl="0" indent="-336548" algn="l" rtl="0">
              <a:lnSpc>
                <a:spcPct val="95000"/>
              </a:lnSpc>
              <a:spcBef>
                <a:spcPts val="1200"/>
              </a:spcBef>
              <a:spcAft>
                <a:spcPts val="0"/>
              </a:spcAft>
              <a:buSzPts val="1700"/>
              <a:buChar char="●"/>
            </a:pPr>
            <a:r>
              <a:rPr lang="en" sz="1600"/>
              <a:t>Consists of letters, digits, underscores (_), and dollar signs ($)</a:t>
            </a:r>
            <a:endParaRPr sz="1600"/>
          </a:p>
          <a:p>
            <a:pPr marL="457200" lvl="0" indent="-336548" algn="l" rtl="0">
              <a:lnSpc>
                <a:spcPct val="95000"/>
              </a:lnSpc>
              <a:spcBef>
                <a:spcPts val="0"/>
              </a:spcBef>
              <a:spcAft>
                <a:spcPts val="0"/>
              </a:spcAft>
              <a:buSzPts val="1700"/>
              <a:buChar char="●"/>
            </a:pPr>
            <a:r>
              <a:rPr lang="en" sz="1600"/>
              <a:t>Must start with a letter, an underscore, or a dollar sign</a:t>
            </a:r>
            <a:endParaRPr sz="1600"/>
          </a:p>
          <a:p>
            <a:pPr marL="457200" lvl="0" indent="-336548" algn="l" rtl="0">
              <a:lnSpc>
                <a:spcPct val="95000"/>
              </a:lnSpc>
              <a:spcBef>
                <a:spcPts val="0"/>
              </a:spcBef>
              <a:spcAft>
                <a:spcPts val="0"/>
              </a:spcAft>
              <a:buSzPts val="1700"/>
              <a:buChar char="●"/>
            </a:pPr>
            <a:r>
              <a:rPr lang="en" sz="1600"/>
              <a:t>Can be any length</a:t>
            </a:r>
            <a:endParaRPr sz="1600"/>
          </a:p>
          <a:p>
            <a:pPr marL="457200" lvl="0" indent="-336548" algn="l" rtl="0">
              <a:lnSpc>
                <a:spcPct val="95000"/>
              </a:lnSpc>
              <a:spcBef>
                <a:spcPts val="0"/>
              </a:spcBef>
              <a:spcAft>
                <a:spcPts val="0"/>
              </a:spcAft>
              <a:buSzPts val="1700"/>
              <a:buChar char="●"/>
            </a:pPr>
            <a:r>
              <a:rPr lang="en" sz="1600"/>
              <a:t>Cannot be a reserved word</a:t>
            </a:r>
            <a:endParaRPr sz="1600"/>
          </a:p>
          <a:p>
            <a:pPr marL="457200" lvl="0" indent="-336548" algn="l" rtl="0">
              <a:lnSpc>
                <a:spcPct val="95000"/>
              </a:lnSpc>
              <a:spcBef>
                <a:spcPts val="0"/>
              </a:spcBef>
              <a:spcAft>
                <a:spcPts val="0"/>
              </a:spcAft>
              <a:buSzPts val="1700"/>
              <a:buChar char="●"/>
            </a:pPr>
            <a:r>
              <a:rPr lang="en" sz="1600"/>
              <a:t>Cannot be the words true, false, null (these are literal values)</a:t>
            </a:r>
            <a:endParaRPr sz="1600"/>
          </a:p>
          <a:p>
            <a:pPr marL="0" lvl="0" indent="0" algn="l" rtl="0">
              <a:lnSpc>
                <a:spcPct val="95000"/>
              </a:lnSpc>
              <a:spcBef>
                <a:spcPts val="1200"/>
              </a:spcBef>
              <a:spcAft>
                <a:spcPts val="0"/>
              </a:spcAft>
              <a:buSzPts val="1946"/>
              <a:buNone/>
            </a:pPr>
            <a:r>
              <a:rPr lang="en" sz="1600">
                <a:highlight>
                  <a:srgbClr val="D9EAD3"/>
                </a:highlight>
              </a:rPr>
              <a:t>Valid</a:t>
            </a:r>
            <a:endParaRPr sz="1600">
              <a:highlight>
                <a:srgbClr val="D9EAD3"/>
              </a:highlight>
            </a:endParaRPr>
          </a:p>
          <a:p>
            <a:pPr marL="457200" lvl="0" indent="-336548" algn="l" rtl="0">
              <a:lnSpc>
                <a:spcPct val="95000"/>
              </a:lnSpc>
              <a:spcBef>
                <a:spcPts val="1200"/>
              </a:spcBef>
              <a:spcAft>
                <a:spcPts val="0"/>
              </a:spcAft>
              <a:buSzPts val="1700"/>
              <a:buChar char="●"/>
            </a:pPr>
            <a:r>
              <a:rPr lang="en" sz="1600">
                <a:highlight>
                  <a:srgbClr val="D9EAD3"/>
                </a:highlight>
              </a:rPr>
              <a:t>sum</a:t>
            </a:r>
            <a:endParaRPr sz="1600">
              <a:highlight>
                <a:srgbClr val="D9EAD3"/>
              </a:highlight>
            </a:endParaRPr>
          </a:p>
          <a:p>
            <a:pPr marL="457200" lvl="0" indent="-336550" algn="l" rtl="0">
              <a:lnSpc>
                <a:spcPct val="95000"/>
              </a:lnSpc>
              <a:spcBef>
                <a:spcPts val="0"/>
              </a:spcBef>
              <a:spcAft>
                <a:spcPts val="0"/>
              </a:spcAft>
              <a:buSzPts val="1700"/>
              <a:buChar char="●"/>
            </a:pPr>
            <a:r>
              <a:rPr lang="en" sz="1600">
                <a:highlight>
                  <a:srgbClr val="D9EAD3"/>
                </a:highlight>
              </a:rPr>
              <a:t>numberOfStudents</a:t>
            </a:r>
            <a:endParaRPr sz="1600">
              <a:highlight>
                <a:srgbClr val="D9EAD3"/>
              </a:highlight>
            </a:endParaRPr>
          </a:p>
          <a:p>
            <a:pPr marL="342900" lvl="0" indent="0" algn="l" rtl="0">
              <a:lnSpc>
                <a:spcPct val="95000"/>
              </a:lnSpc>
              <a:spcBef>
                <a:spcPts val="0"/>
              </a:spcBef>
              <a:spcAft>
                <a:spcPts val="0"/>
              </a:spcAft>
              <a:buSzPts val="1700"/>
              <a:buNone/>
            </a:pPr>
            <a:endParaRPr sz="1600"/>
          </a:p>
          <a:p>
            <a:pPr marL="0" lvl="0" indent="0" algn="l" rtl="0">
              <a:lnSpc>
                <a:spcPct val="95000"/>
              </a:lnSpc>
              <a:spcBef>
                <a:spcPts val="1200"/>
              </a:spcBef>
              <a:spcAft>
                <a:spcPts val="1200"/>
              </a:spcAft>
              <a:buSzPts val="1946"/>
              <a:buNone/>
            </a:pPr>
            <a:r>
              <a:rPr lang="en" sz="1600"/>
              <a:t>Java is case sensitive so sum, Sum, and SUM are 3 different identifiers</a:t>
            </a:r>
            <a:endParaRPr sz="1600"/>
          </a:p>
        </p:txBody>
      </p:sp>
      <p:sp>
        <p:nvSpPr>
          <p:cNvPr id="135" name="Google Shape;135;p10"/>
          <p:cNvSpPr txBox="1"/>
          <p:nvPr/>
        </p:nvSpPr>
        <p:spPr>
          <a:xfrm>
            <a:off x="4222475" y="3069500"/>
            <a:ext cx="3674700" cy="1151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 sz="1600" b="0" i="0" u="none" strike="noStrike" cap="none">
                <a:solidFill>
                  <a:schemeClr val="dk1"/>
                </a:solidFill>
                <a:highlight>
                  <a:srgbClr val="E6B8AF"/>
                </a:highlight>
                <a:latin typeface="Lexend"/>
                <a:ea typeface="Lexend"/>
                <a:cs typeface="Lexend"/>
                <a:sym typeface="Lexend"/>
              </a:rPr>
              <a:t>Invalid</a:t>
            </a:r>
            <a:endParaRPr sz="1600" b="0" i="0" u="none" strike="noStrike" cap="none">
              <a:solidFill>
                <a:schemeClr val="dk1"/>
              </a:solidFill>
              <a:highlight>
                <a:srgbClr val="E6B8AF"/>
              </a:highlight>
              <a:latin typeface="Lexend"/>
              <a:ea typeface="Lexend"/>
              <a:cs typeface="Lexend"/>
              <a:sym typeface="Lexend"/>
            </a:endParaRPr>
          </a:p>
          <a:p>
            <a:pPr marL="457200" marR="0" lvl="0" indent="-330200" algn="l" rtl="0">
              <a:lnSpc>
                <a:spcPct val="115000"/>
              </a:lnSpc>
              <a:spcBef>
                <a:spcPts val="1200"/>
              </a:spcBef>
              <a:spcAft>
                <a:spcPts val="0"/>
              </a:spcAft>
              <a:buClr>
                <a:schemeClr val="dk1"/>
              </a:buClr>
              <a:buSzPts val="1600"/>
              <a:buFont typeface="Lexend"/>
              <a:buChar char="●"/>
            </a:pPr>
            <a:r>
              <a:rPr lang="en" sz="1600" b="0" i="0" u="none" strike="noStrike" cap="none">
                <a:solidFill>
                  <a:schemeClr val="dk1"/>
                </a:solidFill>
                <a:highlight>
                  <a:srgbClr val="E6B8AF"/>
                </a:highlight>
                <a:latin typeface="Lexend"/>
                <a:ea typeface="Lexend"/>
                <a:cs typeface="Lexend"/>
                <a:sym typeface="Lexend"/>
              </a:rPr>
              <a:t>7_students</a:t>
            </a:r>
            <a:endParaRPr sz="1600" b="0" i="0" u="none" strike="noStrike" cap="none">
              <a:solidFill>
                <a:schemeClr val="dk1"/>
              </a:solidFill>
              <a:highlight>
                <a:srgbClr val="E6B8AF"/>
              </a:highlight>
              <a:latin typeface="Lexend"/>
              <a:ea typeface="Lexend"/>
              <a:cs typeface="Lexend"/>
              <a:sym typeface="Lexend"/>
            </a:endParaRPr>
          </a:p>
          <a:p>
            <a:pPr marL="457200" marR="0" lvl="0" indent="-330200" algn="l" rtl="0">
              <a:lnSpc>
                <a:spcPct val="115000"/>
              </a:lnSpc>
              <a:spcBef>
                <a:spcPts val="0"/>
              </a:spcBef>
              <a:spcAft>
                <a:spcPts val="0"/>
              </a:spcAft>
              <a:buClr>
                <a:schemeClr val="dk1"/>
              </a:buClr>
              <a:buSzPts val="1600"/>
              <a:buFont typeface="Lexend"/>
              <a:buChar char="●"/>
            </a:pPr>
            <a:r>
              <a:rPr lang="en" sz="1600" b="0" i="0" u="none" strike="noStrike" cap="none">
                <a:solidFill>
                  <a:schemeClr val="dk1"/>
                </a:solidFill>
                <a:highlight>
                  <a:srgbClr val="E6B8AF"/>
                </a:highlight>
                <a:latin typeface="Lexend"/>
                <a:ea typeface="Lexend"/>
                <a:cs typeface="Lexend"/>
                <a:sym typeface="Lexend"/>
              </a:rPr>
              <a:t>#OfStudents</a:t>
            </a:r>
            <a:endParaRPr sz="1600" b="0" i="0" u="none" strike="noStrike" cap="none">
              <a:solidFill>
                <a:schemeClr val="dk1"/>
              </a:solidFill>
              <a:highlight>
                <a:srgbClr val="E6B8AF"/>
              </a:highlight>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1"/>
          <p:cNvSpPr txBox="1">
            <a:spLocks noGrp="1"/>
          </p:cNvSpPr>
          <p:nvPr>
            <p:ph type="title"/>
          </p:nvPr>
        </p:nvSpPr>
        <p:spPr>
          <a:xfrm>
            <a:off x="284875" y="1700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Class Identifier and Main Method</a:t>
            </a:r>
            <a:endParaRPr/>
          </a:p>
        </p:txBody>
      </p:sp>
      <p:sp>
        <p:nvSpPr>
          <p:cNvPr id="141" name="Google Shape;141;p11"/>
          <p:cNvSpPr txBox="1">
            <a:spLocks noGrp="1"/>
          </p:cNvSpPr>
          <p:nvPr>
            <p:ph type="body" idx="1"/>
          </p:nvPr>
        </p:nvSpPr>
        <p:spPr>
          <a:xfrm>
            <a:off x="284875" y="742775"/>
            <a:ext cx="8707500" cy="1323900"/>
          </a:xfrm>
          <a:prstGeom prst="rect">
            <a:avLst/>
          </a:prstGeom>
          <a:noFill/>
          <a:ln>
            <a:noFill/>
          </a:ln>
        </p:spPr>
        <p:txBody>
          <a:bodyPr spcFirstLastPara="1" wrap="square" lIns="91425" tIns="91425" rIns="91425" bIns="91425" anchor="t" anchorCtr="0">
            <a:normAutofit/>
          </a:bodyPr>
          <a:lstStyle/>
          <a:p>
            <a:pPr marL="457200" lvl="0" indent="-330200" algn="l" rtl="0">
              <a:lnSpc>
                <a:spcPct val="115000"/>
              </a:lnSpc>
              <a:spcBef>
                <a:spcPts val="0"/>
              </a:spcBef>
              <a:spcAft>
                <a:spcPts val="0"/>
              </a:spcAft>
              <a:buClr>
                <a:schemeClr val="dk1"/>
              </a:buClr>
              <a:buSzPts val="1600"/>
              <a:buChar char="●"/>
            </a:pPr>
            <a:r>
              <a:rPr lang="en" sz="1400" dirty="0">
                <a:solidFill>
                  <a:schemeClr val="dk1"/>
                </a:solidFill>
              </a:rPr>
              <a:t>Every Java program must have at least one class. Each class has a name. By convention, class names start with an uppercase letter. In this example, the class name is . </a:t>
            </a:r>
            <a:endParaRPr sz="1400" dirty="0">
              <a:solidFill>
                <a:schemeClr val="dk1"/>
              </a:solidFill>
            </a:endParaRPr>
          </a:p>
          <a:p>
            <a:pPr marL="457200" lvl="0" indent="-330200" algn="l" rtl="0">
              <a:lnSpc>
                <a:spcPct val="100000"/>
              </a:lnSpc>
              <a:spcBef>
                <a:spcPts val="0"/>
              </a:spcBef>
              <a:spcAft>
                <a:spcPts val="0"/>
              </a:spcAft>
              <a:buClr>
                <a:schemeClr val="dk1"/>
              </a:buClr>
              <a:buSzPts val="1600"/>
              <a:buChar char="●"/>
            </a:pPr>
            <a:r>
              <a:rPr lang="en" sz="1400" dirty="0">
                <a:solidFill>
                  <a:schemeClr val="dk1"/>
                </a:solidFill>
              </a:rPr>
              <a:t>Next the main method is defined to perform the actions. In order to run a class, the class must contain a method named main. The program is executed from the main method. </a:t>
            </a:r>
            <a:endParaRPr sz="1400" dirty="0">
              <a:solidFill>
                <a:schemeClr val="dk1"/>
              </a:solidFill>
            </a:endParaRPr>
          </a:p>
        </p:txBody>
      </p:sp>
      <p:pic>
        <p:nvPicPr>
          <p:cNvPr id="142" name="Google Shape;142;p11" title="Screenshot 2025-08-05 at 6.06.05 PM.png"/>
          <p:cNvPicPr preferRelativeResize="0"/>
          <p:nvPr/>
        </p:nvPicPr>
        <p:blipFill rotWithShape="1">
          <a:blip r:embed="rId3">
            <a:alphaModFix/>
          </a:blip>
          <a:srcRect/>
          <a:stretch/>
        </p:blipFill>
        <p:spPr>
          <a:xfrm>
            <a:off x="441074" y="1952625"/>
            <a:ext cx="3280276" cy="1238250"/>
          </a:xfrm>
          <a:prstGeom prst="rect">
            <a:avLst/>
          </a:prstGeom>
          <a:noFill/>
          <a:ln>
            <a:noFill/>
          </a:ln>
        </p:spPr>
      </p:pic>
      <p:pic>
        <p:nvPicPr>
          <p:cNvPr id="143" name="Google Shape;143;p11" title="Screenshot 2025-08-05 at 6.06.59 PM.png"/>
          <p:cNvPicPr preferRelativeResize="0"/>
          <p:nvPr/>
        </p:nvPicPr>
        <p:blipFill rotWithShape="1">
          <a:blip r:embed="rId4">
            <a:alphaModFix/>
          </a:blip>
          <a:srcRect/>
          <a:stretch/>
        </p:blipFill>
        <p:spPr>
          <a:xfrm>
            <a:off x="342175" y="3517225"/>
            <a:ext cx="4329410" cy="1238250"/>
          </a:xfrm>
          <a:prstGeom prst="rect">
            <a:avLst/>
          </a:prstGeom>
          <a:noFill/>
          <a:ln>
            <a:noFill/>
          </a:ln>
        </p:spPr>
      </p:pic>
      <p:sp>
        <p:nvSpPr>
          <p:cNvPr id="144" name="Google Shape;144;p11"/>
          <p:cNvSpPr/>
          <p:nvPr/>
        </p:nvSpPr>
        <p:spPr>
          <a:xfrm>
            <a:off x="2803275" y="2468275"/>
            <a:ext cx="742200" cy="1822500"/>
          </a:xfrm>
          <a:prstGeom prst="curvedLeftArrow">
            <a:avLst>
              <a:gd name="adj1" fmla="val 25000"/>
              <a:gd name="adj2" fmla="val 50000"/>
              <a:gd name="adj3" fmla="val 2500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11"/>
          <p:cNvSpPr/>
          <p:nvPr/>
        </p:nvSpPr>
        <p:spPr>
          <a:xfrm rot="-391795">
            <a:off x="3504254" y="3317586"/>
            <a:ext cx="5062341" cy="749161"/>
          </a:xfrm>
          <a:prstGeom prst="leftArrowCallout">
            <a:avLst>
              <a:gd name="adj1" fmla="val 25000"/>
              <a:gd name="adj2" fmla="val 25000"/>
              <a:gd name="adj3" fmla="val 25000"/>
              <a:gd name="adj4" fmla="val 86736"/>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400" b="0" i="0" u="none" strike="noStrike" cap="none">
                <a:solidFill>
                  <a:srgbClr val="000000"/>
                </a:solidFill>
                <a:latin typeface="Lexend"/>
                <a:ea typeface="Lexend"/>
                <a:cs typeface="Lexend"/>
                <a:sym typeface="Lexend"/>
              </a:rPr>
              <a:t>Notice the identifier for the class starts with capital letter, is meaningful and uses camel case</a:t>
            </a:r>
            <a:endParaRPr sz="1400" b="0" i="0" u="none" strike="noStrike" cap="none">
              <a:solidFill>
                <a:srgbClr val="000000"/>
              </a:solidFill>
              <a:latin typeface="Lexend"/>
              <a:ea typeface="Lexend"/>
              <a:cs typeface="Lexend"/>
              <a:sym typeface="Lexend"/>
            </a:endParaRPr>
          </a:p>
        </p:txBody>
      </p:sp>
      <p:sp>
        <p:nvSpPr>
          <p:cNvPr id="146" name="Google Shape;146;p11"/>
          <p:cNvSpPr/>
          <p:nvPr/>
        </p:nvSpPr>
        <p:spPr>
          <a:xfrm rot="-666408">
            <a:off x="3500827" y="2267569"/>
            <a:ext cx="3816993" cy="608357"/>
          </a:xfrm>
          <a:prstGeom prst="leftArrowCallout">
            <a:avLst>
              <a:gd name="adj1" fmla="val 25000"/>
              <a:gd name="adj2" fmla="val 25000"/>
              <a:gd name="adj3" fmla="val 25000"/>
              <a:gd name="adj4" fmla="val 86736"/>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400" b="0" i="0" u="none" strike="noStrike" cap="none">
                <a:solidFill>
                  <a:srgbClr val="000000"/>
                </a:solidFill>
                <a:latin typeface="Lexend"/>
                <a:ea typeface="Lexend"/>
                <a:cs typeface="Lexend"/>
                <a:sym typeface="Lexend"/>
              </a:rPr>
              <a:t>File name must match class name.</a:t>
            </a:r>
            <a:endParaRPr sz="1400" b="0" i="0" u="none" strike="noStrike" cap="none">
              <a:solidFill>
                <a:srgbClr val="000000"/>
              </a:solidFill>
              <a:latin typeface="Lexend"/>
              <a:ea typeface="Lexend"/>
              <a:cs typeface="Lexend"/>
              <a:sym typeface="Lexend"/>
            </a:endParaRPr>
          </a:p>
        </p:txBody>
      </p:sp>
      <p:pic>
        <p:nvPicPr>
          <p:cNvPr id="147" name="Google Shape;147;p11" descr="Icon&#10;&#10;Description automatically generated"/>
          <p:cNvPicPr preferRelativeResize="0"/>
          <p:nvPr/>
        </p:nvPicPr>
        <p:blipFill rotWithShape="1">
          <a:blip r:embed="rId5">
            <a:alphaModFix/>
          </a:blip>
          <a:srcRect/>
          <a:stretch/>
        </p:blipFill>
        <p:spPr>
          <a:xfrm>
            <a:off x="7065825" y="4064935"/>
            <a:ext cx="1464900" cy="107856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2"/>
          <p:cNvSpPr txBox="1">
            <a:spLocks noGrp="1"/>
          </p:cNvSpPr>
          <p:nvPr>
            <p:ph type="title"/>
          </p:nvPr>
        </p:nvSpPr>
        <p:spPr>
          <a:xfrm>
            <a:off x="311700" y="254900"/>
            <a:ext cx="8520600" cy="5727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800"/>
              <a:buNone/>
            </a:pPr>
            <a:r>
              <a:rPr lang="en"/>
              <a:t>Comments</a:t>
            </a:r>
            <a:endParaRPr/>
          </a:p>
        </p:txBody>
      </p:sp>
      <p:sp>
        <p:nvSpPr>
          <p:cNvPr id="153" name="Google Shape;153;p12"/>
          <p:cNvSpPr txBox="1">
            <a:spLocks noGrp="1"/>
          </p:cNvSpPr>
          <p:nvPr>
            <p:ph type="body" idx="1"/>
          </p:nvPr>
        </p:nvSpPr>
        <p:spPr>
          <a:xfrm>
            <a:off x="311700" y="863550"/>
            <a:ext cx="8520600" cy="40347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640"/>
              </a:spcBef>
              <a:spcAft>
                <a:spcPts val="0"/>
              </a:spcAft>
              <a:buClr>
                <a:schemeClr val="dk1"/>
              </a:buClr>
              <a:buSzPts val="1100"/>
              <a:buFont typeface="Arial"/>
              <a:buNone/>
            </a:pPr>
            <a:r>
              <a:rPr lang="en" sz="1500" u="sng" dirty="0">
                <a:solidFill>
                  <a:schemeClr val="hlink"/>
                </a:solidFill>
                <a:hlinkClick r:id="rId3"/>
              </a:rPr>
              <a:t>Comment</a:t>
            </a:r>
            <a:r>
              <a:rPr lang="en" sz="1500" dirty="0"/>
              <a:t> examples</a:t>
            </a:r>
            <a:endParaRPr sz="1500" dirty="0"/>
          </a:p>
          <a:p>
            <a:pPr marL="0" lvl="0" indent="0" algn="l" rtl="0">
              <a:lnSpc>
                <a:spcPct val="100000"/>
              </a:lnSpc>
              <a:spcBef>
                <a:spcPts val="640"/>
              </a:spcBef>
              <a:spcAft>
                <a:spcPts val="0"/>
              </a:spcAft>
              <a:buSzPts val="1700"/>
              <a:buNone/>
            </a:pPr>
            <a:r>
              <a:rPr lang="en" sz="1500" dirty="0">
                <a:highlight>
                  <a:schemeClr val="lt1"/>
                </a:highlight>
              </a:rPr>
              <a:t>// is used to start a comment </a:t>
            </a:r>
            <a:endParaRPr sz="1500" dirty="0">
              <a:highlight>
                <a:schemeClr val="lt1"/>
              </a:highlight>
            </a:endParaRPr>
          </a:p>
          <a:p>
            <a:pPr marL="0" lvl="0" indent="0" algn="l" rtl="0">
              <a:lnSpc>
                <a:spcPct val="100000"/>
              </a:lnSpc>
              <a:spcBef>
                <a:spcPts val="640"/>
              </a:spcBef>
              <a:spcAft>
                <a:spcPts val="0"/>
              </a:spcAft>
              <a:buSzPts val="1700"/>
              <a:buNone/>
            </a:pPr>
            <a:endParaRPr sz="1500" dirty="0"/>
          </a:p>
          <a:p>
            <a:pPr marL="0" lvl="0" indent="0" algn="l" rtl="0">
              <a:lnSpc>
                <a:spcPct val="100000"/>
              </a:lnSpc>
              <a:spcBef>
                <a:spcPts val="640"/>
              </a:spcBef>
              <a:spcAft>
                <a:spcPts val="0"/>
              </a:spcAft>
              <a:buSzPts val="1700"/>
              <a:buNone/>
            </a:pPr>
            <a:r>
              <a:rPr lang="en" sz="1500" dirty="0">
                <a:highlight>
                  <a:srgbClr val="FEFEFC"/>
                </a:highlight>
              </a:rPr>
              <a:t>/* Multi line comments are good before the class code</a:t>
            </a:r>
            <a:endParaRPr sz="1500" dirty="0">
              <a:highlight>
                <a:srgbClr val="FEFEFC"/>
              </a:highlight>
            </a:endParaRPr>
          </a:p>
          <a:p>
            <a:pPr marL="0" lvl="0" indent="0" algn="l" rtl="0">
              <a:lnSpc>
                <a:spcPct val="100000"/>
              </a:lnSpc>
              <a:spcBef>
                <a:spcPts val="640"/>
              </a:spcBef>
              <a:spcAft>
                <a:spcPts val="0"/>
              </a:spcAft>
              <a:buSzPts val="1700"/>
              <a:buNone/>
            </a:pPr>
            <a:r>
              <a:rPr lang="en" sz="1500" dirty="0">
                <a:highlight>
                  <a:srgbClr val="FEFEFC"/>
                </a:highlight>
              </a:rPr>
              <a:t>Here you will explain what the program is doing*/</a:t>
            </a:r>
            <a:endParaRPr sz="1500" dirty="0">
              <a:highlight>
                <a:srgbClr val="FEFEFC"/>
              </a:highlight>
            </a:endParaRPr>
          </a:p>
          <a:p>
            <a:pPr marL="0" lvl="0" indent="0" algn="l" rtl="0">
              <a:lnSpc>
                <a:spcPct val="100000"/>
              </a:lnSpc>
              <a:spcBef>
                <a:spcPts val="0"/>
              </a:spcBef>
              <a:spcAft>
                <a:spcPts val="0"/>
              </a:spcAft>
              <a:buSzPts val="1700"/>
              <a:buNone/>
            </a:pPr>
            <a:endParaRPr sz="1500" dirty="0"/>
          </a:p>
          <a:p>
            <a:pPr marL="0" lvl="0" indent="0" algn="l" rtl="0">
              <a:lnSpc>
                <a:spcPct val="100000"/>
              </a:lnSpc>
              <a:spcBef>
                <a:spcPts val="640"/>
              </a:spcBef>
              <a:spcAft>
                <a:spcPts val="0"/>
              </a:spcAft>
              <a:buSzPts val="1700"/>
              <a:buNone/>
            </a:pPr>
            <a:r>
              <a:rPr lang="en" sz="1500" dirty="0"/>
              <a:t>Add comments to your code to explain the concepts </a:t>
            </a:r>
            <a:endParaRPr sz="1500" dirty="0"/>
          </a:p>
          <a:p>
            <a:pPr marL="0" lvl="0" indent="0" algn="l" rtl="0">
              <a:lnSpc>
                <a:spcPct val="100000"/>
              </a:lnSpc>
              <a:spcBef>
                <a:spcPts val="640"/>
              </a:spcBef>
              <a:spcAft>
                <a:spcPts val="0"/>
              </a:spcAft>
              <a:buSzPts val="1700"/>
              <a:buNone/>
            </a:pPr>
            <a:r>
              <a:rPr lang="en" sz="1500" dirty="0">
                <a:highlight>
                  <a:schemeClr val="lt1"/>
                </a:highlight>
              </a:rPr>
              <a:t>//declare variables will allocate memory based on data type.</a:t>
            </a:r>
            <a:endParaRPr sz="1500" dirty="0">
              <a:highlight>
                <a:schemeClr val="lt1"/>
              </a:highlight>
            </a:endParaRPr>
          </a:p>
          <a:p>
            <a:pPr marL="0" lvl="0" indent="0" algn="l" rtl="0">
              <a:lnSpc>
                <a:spcPct val="100000"/>
              </a:lnSpc>
              <a:spcBef>
                <a:spcPts val="640"/>
              </a:spcBef>
              <a:spcAft>
                <a:spcPts val="0"/>
              </a:spcAft>
              <a:buClr>
                <a:schemeClr val="dk1"/>
              </a:buClr>
              <a:buSzPts val="1100"/>
              <a:buFont typeface="Arial"/>
              <a:buNone/>
            </a:pPr>
            <a:r>
              <a:rPr lang="en" sz="1500" dirty="0">
                <a:highlight>
                  <a:schemeClr val="lt1"/>
                </a:highlight>
              </a:rPr>
              <a:t>double radius; </a:t>
            </a:r>
            <a:endParaRPr sz="1500" dirty="0">
              <a:highlight>
                <a:schemeClr val="lt1"/>
              </a:highlight>
            </a:endParaRPr>
          </a:p>
          <a:p>
            <a:pPr marL="0" lvl="0" indent="0" algn="l" rtl="0">
              <a:lnSpc>
                <a:spcPct val="100000"/>
              </a:lnSpc>
              <a:spcBef>
                <a:spcPts val="640"/>
              </a:spcBef>
              <a:spcAft>
                <a:spcPts val="0"/>
              </a:spcAft>
              <a:buSzPts val="1700"/>
              <a:buNone/>
            </a:pPr>
            <a:endParaRPr sz="1500" dirty="0"/>
          </a:p>
          <a:p>
            <a:pPr marL="0" lvl="0" indent="0" algn="l" rtl="0">
              <a:lnSpc>
                <a:spcPct val="100000"/>
              </a:lnSpc>
              <a:spcBef>
                <a:spcPts val="640"/>
              </a:spcBef>
              <a:spcAft>
                <a:spcPts val="0"/>
              </a:spcAft>
              <a:buSzPts val="1700"/>
              <a:buNone/>
            </a:pPr>
            <a:r>
              <a:rPr lang="en" sz="1500" dirty="0"/>
              <a:t>Add comment to your ending braces makes it easier to know where each block ends</a:t>
            </a:r>
            <a:endParaRPr sz="1500" dirty="0"/>
          </a:p>
          <a:p>
            <a:pPr marL="0" lvl="0" indent="0" algn="l" rtl="0">
              <a:lnSpc>
                <a:spcPct val="100000"/>
              </a:lnSpc>
              <a:spcBef>
                <a:spcPts val="640"/>
              </a:spcBef>
              <a:spcAft>
                <a:spcPts val="0"/>
              </a:spcAft>
              <a:buClr>
                <a:schemeClr val="dk1"/>
              </a:buClr>
              <a:buSzPts val="1100"/>
              <a:buFont typeface="Arial"/>
              <a:buNone/>
            </a:pPr>
            <a:r>
              <a:rPr lang="en" sz="1500" dirty="0">
                <a:highlight>
                  <a:schemeClr val="lt1"/>
                </a:highlight>
              </a:rPr>
              <a:t>    }//end of main</a:t>
            </a:r>
            <a:endParaRPr sz="1500" dirty="0">
              <a:highlight>
                <a:schemeClr val="lt1"/>
              </a:highlight>
            </a:endParaRPr>
          </a:p>
          <a:p>
            <a:pPr marL="0" lvl="0" indent="0" algn="l" rtl="0">
              <a:lnSpc>
                <a:spcPct val="100000"/>
              </a:lnSpc>
              <a:spcBef>
                <a:spcPts val="640"/>
              </a:spcBef>
              <a:spcAft>
                <a:spcPts val="0"/>
              </a:spcAft>
              <a:buClr>
                <a:schemeClr val="dk1"/>
              </a:buClr>
              <a:buSzPts val="1100"/>
              <a:buFont typeface="Arial"/>
              <a:buNone/>
            </a:pPr>
            <a:r>
              <a:rPr lang="en" sz="1500" dirty="0">
                <a:highlight>
                  <a:schemeClr val="lt1"/>
                </a:highlight>
              </a:rPr>
              <a:t>}//end of class</a:t>
            </a:r>
            <a:endParaRPr sz="1300" dirty="0">
              <a:highlight>
                <a:schemeClr val="lt1"/>
              </a:highlight>
            </a:endParaRPr>
          </a:p>
        </p:txBody>
      </p:sp>
      <p:sp>
        <p:nvSpPr>
          <p:cNvPr id="154" name="Google Shape;154;p12"/>
          <p:cNvSpPr/>
          <p:nvPr/>
        </p:nvSpPr>
        <p:spPr>
          <a:xfrm>
            <a:off x="2224350" y="4256250"/>
            <a:ext cx="6459900" cy="642000"/>
          </a:xfrm>
          <a:prstGeom prst="leftArrowCallout">
            <a:avLst>
              <a:gd name="adj1" fmla="val 25000"/>
              <a:gd name="adj2" fmla="val 25000"/>
              <a:gd name="adj3" fmla="val 25000"/>
              <a:gd name="adj4" fmla="val 92246"/>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Accidently deleting an ending brace can cause the program not to run.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Remember every starting { must have and end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3"/>
          <p:cNvSpPr txBox="1">
            <a:spLocks noGrp="1"/>
          </p:cNvSpPr>
          <p:nvPr>
            <p:ph type="title"/>
          </p:nvPr>
        </p:nvSpPr>
        <p:spPr>
          <a:xfrm>
            <a:off x="311700" y="2246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Variables</a:t>
            </a:r>
            <a:endParaRPr/>
          </a:p>
        </p:txBody>
      </p:sp>
      <p:sp>
        <p:nvSpPr>
          <p:cNvPr id="160" name="Google Shape;160;p13"/>
          <p:cNvSpPr txBox="1">
            <a:spLocks noGrp="1"/>
          </p:cNvSpPr>
          <p:nvPr>
            <p:ph type="body" idx="1"/>
          </p:nvPr>
        </p:nvSpPr>
        <p:spPr>
          <a:xfrm>
            <a:off x="197100" y="744800"/>
            <a:ext cx="6410400" cy="223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400"/>
              <a:t>Variables are used to store a value that may change (vary) </a:t>
            </a:r>
            <a:endParaRPr sz="1400"/>
          </a:p>
          <a:p>
            <a:pPr marL="457200" lvl="0" indent="-317500" algn="l" rtl="0">
              <a:lnSpc>
                <a:spcPct val="115000"/>
              </a:lnSpc>
              <a:spcBef>
                <a:spcPts val="1200"/>
              </a:spcBef>
              <a:spcAft>
                <a:spcPts val="0"/>
              </a:spcAft>
              <a:buSzPts val="1400"/>
              <a:buChar char="●"/>
            </a:pPr>
            <a:r>
              <a:rPr lang="en" sz="1400"/>
              <a:t>Have a data type such as String, boolean, integer, char, double</a:t>
            </a:r>
            <a:endParaRPr sz="1400"/>
          </a:p>
          <a:p>
            <a:pPr marL="457200" lvl="0" indent="-317500" algn="l" rtl="0">
              <a:lnSpc>
                <a:spcPct val="115000"/>
              </a:lnSpc>
              <a:spcBef>
                <a:spcPts val="0"/>
              </a:spcBef>
              <a:spcAft>
                <a:spcPts val="0"/>
              </a:spcAft>
              <a:buSzPts val="1400"/>
              <a:buChar char="●"/>
            </a:pPr>
            <a:r>
              <a:rPr lang="en" sz="1400"/>
              <a:t>Are stored in computer memory</a:t>
            </a:r>
            <a:endParaRPr sz="1400"/>
          </a:p>
          <a:p>
            <a:pPr marL="457200" lvl="0" indent="-317500" algn="l" rtl="0">
              <a:lnSpc>
                <a:spcPct val="115000"/>
              </a:lnSpc>
              <a:spcBef>
                <a:spcPts val="0"/>
              </a:spcBef>
              <a:spcAft>
                <a:spcPts val="0"/>
              </a:spcAft>
              <a:buSzPts val="1400"/>
              <a:buChar char="●"/>
            </a:pPr>
            <a:r>
              <a:rPr lang="en" sz="1400"/>
              <a:t>In the code </a:t>
            </a:r>
            <a:endParaRPr sz="1400"/>
          </a:p>
          <a:p>
            <a:pPr marL="914400" lvl="1" indent="-317500" algn="l" rtl="0">
              <a:lnSpc>
                <a:spcPct val="115000"/>
              </a:lnSpc>
              <a:spcBef>
                <a:spcPts val="0"/>
              </a:spcBef>
              <a:spcAft>
                <a:spcPts val="0"/>
              </a:spcAft>
              <a:buSzPts val="1400"/>
              <a:buChar char="o"/>
            </a:pPr>
            <a:r>
              <a:rPr lang="en" sz="1400"/>
              <a:t>Declare identifier and data type </a:t>
            </a:r>
            <a:endParaRPr sz="1400"/>
          </a:p>
          <a:p>
            <a:pPr marL="914400" lvl="1" indent="-317500" algn="l" rtl="0">
              <a:lnSpc>
                <a:spcPct val="115000"/>
              </a:lnSpc>
              <a:spcBef>
                <a:spcPts val="0"/>
              </a:spcBef>
              <a:spcAft>
                <a:spcPts val="0"/>
              </a:spcAft>
              <a:buSzPts val="1400"/>
              <a:buChar char="o"/>
            </a:pPr>
            <a:r>
              <a:rPr lang="en" sz="1400"/>
              <a:t>Initialize by assigning a value in memory</a:t>
            </a:r>
            <a:endParaRPr sz="1400"/>
          </a:p>
          <a:p>
            <a:pPr marL="914400" lvl="1" indent="-317500" algn="l" rtl="0">
              <a:lnSpc>
                <a:spcPct val="115000"/>
              </a:lnSpc>
              <a:spcBef>
                <a:spcPts val="0"/>
              </a:spcBef>
              <a:spcAft>
                <a:spcPts val="0"/>
              </a:spcAft>
              <a:buSzPts val="1400"/>
              <a:buChar char="o"/>
            </a:pPr>
            <a:r>
              <a:rPr lang="en" sz="1400"/>
              <a:t>Assign a new value in memory</a:t>
            </a:r>
            <a:endParaRPr sz="1400"/>
          </a:p>
          <a:p>
            <a:pPr marL="914400" lvl="1" indent="-317500" algn="l" rtl="0">
              <a:lnSpc>
                <a:spcPct val="115000"/>
              </a:lnSpc>
              <a:spcBef>
                <a:spcPts val="0"/>
              </a:spcBef>
              <a:spcAft>
                <a:spcPts val="0"/>
              </a:spcAft>
              <a:buSzPts val="1400"/>
              <a:buChar char="o"/>
            </a:pPr>
            <a:r>
              <a:rPr lang="en" sz="1400"/>
              <a:t>Read the value from memory</a:t>
            </a:r>
            <a:endParaRPr sz="1400"/>
          </a:p>
        </p:txBody>
      </p:sp>
      <p:pic>
        <p:nvPicPr>
          <p:cNvPr id="161" name="Google Shape;161;p13"/>
          <p:cNvPicPr preferRelativeResize="0"/>
          <p:nvPr/>
        </p:nvPicPr>
        <p:blipFill rotWithShape="1">
          <a:blip r:embed="rId3">
            <a:alphaModFix/>
          </a:blip>
          <a:srcRect/>
          <a:stretch/>
        </p:blipFill>
        <p:spPr>
          <a:xfrm>
            <a:off x="6442802" y="152650"/>
            <a:ext cx="2614200" cy="906825"/>
          </a:xfrm>
          <a:prstGeom prst="rect">
            <a:avLst/>
          </a:prstGeom>
          <a:noFill/>
          <a:ln>
            <a:noFill/>
          </a:ln>
        </p:spPr>
      </p:pic>
      <p:pic>
        <p:nvPicPr>
          <p:cNvPr id="162" name="Google Shape;162;p13"/>
          <p:cNvPicPr preferRelativeResize="0"/>
          <p:nvPr/>
        </p:nvPicPr>
        <p:blipFill rotWithShape="1">
          <a:blip r:embed="rId4">
            <a:alphaModFix/>
          </a:blip>
          <a:srcRect/>
          <a:stretch/>
        </p:blipFill>
        <p:spPr>
          <a:xfrm>
            <a:off x="81325" y="2977150"/>
            <a:ext cx="5976899" cy="2036000"/>
          </a:xfrm>
          <a:prstGeom prst="rect">
            <a:avLst/>
          </a:prstGeom>
          <a:noFill/>
          <a:ln>
            <a:noFill/>
          </a:ln>
        </p:spPr>
      </p:pic>
      <p:sp>
        <p:nvSpPr>
          <p:cNvPr id="163" name="Google Shape;163;p13"/>
          <p:cNvSpPr txBox="1"/>
          <p:nvPr/>
        </p:nvSpPr>
        <p:spPr>
          <a:xfrm>
            <a:off x="8530325" y="2531950"/>
            <a:ext cx="471300" cy="445200"/>
          </a:xfrm>
          <a:prstGeom prst="rect">
            <a:avLst/>
          </a:prstGeom>
          <a:solidFill>
            <a:srgbClr val="D9EAD3"/>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Verdana"/>
                <a:ea typeface="Verdana"/>
                <a:cs typeface="Verdana"/>
                <a:sym typeface="Verdana"/>
              </a:rPr>
              <a:t>4</a:t>
            </a:r>
            <a:endParaRPr sz="2100" b="1" i="0" u="none" strike="noStrike" cap="none">
              <a:solidFill>
                <a:srgbClr val="000000"/>
              </a:solidFill>
              <a:latin typeface="Verdana"/>
              <a:ea typeface="Verdana"/>
              <a:cs typeface="Verdana"/>
              <a:sym typeface="Verdana"/>
            </a:endParaRPr>
          </a:p>
        </p:txBody>
      </p:sp>
      <p:grpSp>
        <p:nvGrpSpPr>
          <p:cNvPr id="164" name="Google Shape;164;p13"/>
          <p:cNvGrpSpPr/>
          <p:nvPr/>
        </p:nvGrpSpPr>
        <p:grpSpPr>
          <a:xfrm>
            <a:off x="6955213" y="2512253"/>
            <a:ext cx="1460375" cy="544201"/>
            <a:chOff x="6905047" y="201008"/>
            <a:chExt cx="2002708" cy="689560"/>
          </a:xfrm>
        </p:grpSpPr>
        <p:pic>
          <p:nvPicPr>
            <p:cNvPr id="165" name="Google Shape;165;p13"/>
            <p:cNvPicPr preferRelativeResize="0"/>
            <p:nvPr/>
          </p:nvPicPr>
          <p:blipFill rotWithShape="1">
            <a:blip r:embed="rId5">
              <a:alphaModFix/>
            </a:blip>
            <a:srcRect r="85457"/>
            <a:stretch/>
          </p:blipFill>
          <p:spPr>
            <a:xfrm rot="5400000">
              <a:off x="7561621" y="-455566"/>
              <a:ext cx="689560" cy="2002708"/>
            </a:xfrm>
            <a:prstGeom prst="rect">
              <a:avLst/>
            </a:prstGeom>
            <a:noFill/>
            <a:ln>
              <a:noFill/>
            </a:ln>
          </p:spPr>
        </p:pic>
        <p:sp>
          <p:nvSpPr>
            <p:cNvPr id="166" name="Google Shape;166;p13"/>
            <p:cNvSpPr txBox="1"/>
            <p:nvPr/>
          </p:nvSpPr>
          <p:spPr>
            <a:xfrm>
              <a:off x="7378306" y="382741"/>
              <a:ext cx="1407300" cy="408000"/>
            </a:xfrm>
            <a:prstGeom prst="rect">
              <a:avLst/>
            </a:prstGeom>
            <a:solidFill>
              <a:srgbClr val="000000"/>
            </a:solidFill>
            <a:ln>
              <a:noFill/>
            </a:ln>
          </p:spPr>
          <p:txBody>
            <a:bodyPr spcFirstLastPara="1" wrap="square" lIns="76450" tIns="76450" rIns="76450" bIns="76450" anchor="t" anchorCtr="0">
              <a:noAutofit/>
            </a:bodyPr>
            <a:lstStyle/>
            <a:p>
              <a:pPr marL="0" marR="0" lvl="0" indent="0" algn="l" rtl="0">
                <a:lnSpc>
                  <a:spcPct val="100000"/>
                </a:lnSpc>
                <a:spcBef>
                  <a:spcPts val="0"/>
                </a:spcBef>
                <a:spcAft>
                  <a:spcPts val="0"/>
                </a:spcAft>
                <a:buClr>
                  <a:srgbClr val="000000"/>
                </a:buClr>
                <a:buSzPts val="1129"/>
                <a:buFont typeface="Arial"/>
                <a:buNone/>
              </a:pPr>
              <a:r>
                <a:rPr lang="en" sz="1128" b="0" i="0" u="none" strike="noStrike" cap="none">
                  <a:solidFill>
                    <a:srgbClr val="FFFFFF"/>
                  </a:solidFill>
                  <a:highlight>
                    <a:srgbClr val="000000"/>
                  </a:highlight>
                  <a:latin typeface="Verdana"/>
                  <a:ea typeface="Verdana"/>
                  <a:cs typeface="Verdana"/>
                  <a:sym typeface="Verdana"/>
                </a:rPr>
                <a:t>009AFD30</a:t>
              </a:r>
              <a:endParaRPr sz="1128" b="0" i="0" u="none" strike="noStrike" cap="none">
                <a:solidFill>
                  <a:srgbClr val="FFFFFF"/>
                </a:solidFill>
                <a:highlight>
                  <a:srgbClr val="000000"/>
                </a:highlight>
                <a:latin typeface="Verdana"/>
                <a:ea typeface="Verdana"/>
                <a:cs typeface="Verdana"/>
                <a:sym typeface="Verdana"/>
              </a:endParaRPr>
            </a:p>
          </p:txBody>
        </p:sp>
      </p:grpSp>
      <p:sp>
        <p:nvSpPr>
          <p:cNvPr id="167" name="Google Shape;167;p13"/>
          <p:cNvSpPr txBox="1"/>
          <p:nvPr/>
        </p:nvSpPr>
        <p:spPr>
          <a:xfrm>
            <a:off x="5926100" y="2584250"/>
            <a:ext cx="914400" cy="400200"/>
          </a:xfrm>
          <a:prstGeom prst="rect">
            <a:avLst/>
          </a:prstGeom>
          <a:solidFill>
            <a:srgbClr val="D9EAD3"/>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radius</a:t>
            </a:r>
            <a:endParaRPr sz="1400" b="0" i="0" u="none" strike="noStrike" cap="none">
              <a:solidFill>
                <a:srgbClr val="000000"/>
              </a:solidFill>
              <a:latin typeface="Arial"/>
              <a:ea typeface="Arial"/>
              <a:cs typeface="Arial"/>
              <a:sym typeface="Arial"/>
            </a:endParaRPr>
          </a:p>
        </p:txBody>
      </p:sp>
      <p:sp>
        <p:nvSpPr>
          <p:cNvPr id="168" name="Google Shape;168;p13"/>
          <p:cNvSpPr/>
          <p:nvPr/>
        </p:nvSpPr>
        <p:spPr>
          <a:xfrm>
            <a:off x="5473325" y="1647538"/>
            <a:ext cx="3528300" cy="906900"/>
          </a:xfrm>
          <a:prstGeom prst="downArrowCallout">
            <a:avLst>
              <a:gd name="adj1" fmla="val 25000"/>
              <a:gd name="adj2" fmla="val 25000"/>
              <a:gd name="adj3" fmla="val 25000"/>
              <a:gd name="adj4" fmla="val 6497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300" b="0" i="0" u="none" strike="noStrike" cap="none">
                <a:solidFill>
                  <a:srgbClr val="000000"/>
                </a:solidFill>
                <a:latin typeface="Lexend"/>
                <a:ea typeface="Lexend"/>
                <a:cs typeface="Lexend"/>
                <a:sym typeface="Lexend"/>
              </a:rPr>
              <a:t>Use identifier name to access memory location to store and retrieve information</a:t>
            </a:r>
            <a:endParaRPr sz="1300" b="0" i="0" u="none" strike="noStrike" cap="none">
              <a:solidFill>
                <a:srgbClr val="000000"/>
              </a:solidFill>
              <a:latin typeface="Lexend"/>
              <a:ea typeface="Lexend"/>
              <a:cs typeface="Lexend"/>
              <a:sym typeface="Lexend"/>
            </a:endParaRPr>
          </a:p>
        </p:txBody>
      </p:sp>
      <p:sp>
        <p:nvSpPr>
          <p:cNvPr id="169" name="Google Shape;169;p13"/>
          <p:cNvSpPr/>
          <p:nvPr/>
        </p:nvSpPr>
        <p:spPr>
          <a:xfrm>
            <a:off x="1743925" y="3195983"/>
            <a:ext cx="7100700" cy="445200"/>
          </a:xfrm>
          <a:prstGeom prst="leftArrowCallout">
            <a:avLst>
              <a:gd name="adj1" fmla="val 25000"/>
              <a:gd name="adj2" fmla="val 22713"/>
              <a:gd name="adj3" fmla="val 25000"/>
              <a:gd name="adj4" fmla="val 88225"/>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1200" b="0" i="0" u="none" strike="noStrike" cap="none">
                <a:solidFill>
                  <a:srgbClr val="000000"/>
                </a:solidFill>
                <a:latin typeface="Lexend"/>
                <a:ea typeface="Lexend"/>
                <a:cs typeface="Lexend"/>
                <a:sym typeface="Lexend"/>
              </a:rPr>
              <a:t>Declare radius to hold a double will create a location in memory to with enough bytes to store a double. The memory location identifier of the variable is radius</a:t>
            </a:r>
            <a:endParaRPr sz="1200" b="0" i="0" u="none" strike="noStrike" cap="none">
              <a:solidFill>
                <a:srgbClr val="000000"/>
              </a:solidFill>
              <a:latin typeface="Lexend"/>
              <a:ea typeface="Lexend"/>
              <a:cs typeface="Lexend"/>
              <a:sym typeface="Lexend"/>
            </a:endParaRPr>
          </a:p>
        </p:txBody>
      </p:sp>
      <p:sp>
        <p:nvSpPr>
          <p:cNvPr id="170" name="Google Shape;170;p13"/>
          <p:cNvSpPr/>
          <p:nvPr/>
        </p:nvSpPr>
        <p:spPr>
          <a:xfrm>
            <a:off x="1788450" y="3714775"/>
            <a:ext cx="6544500" cy="400200"/>
          </a:xfrm>
          <a:prstGeom prst="leftArrowCallout">
            <a:avLst>
              <a:gd name="adj1" fmla="val 25000"/>
              <a:gd name="adj2" fmla="val 25000"/>
              <a:gd name="adj3" fmla="val 25000"/>
              <a:gd name="adj4" fmla="val 8798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1200" b="0" i="0" u="none" strike="noStrike" cap="none">
                <a:solidFill>
                  <a:srgbClr val="000000"/>
                </a:solidFill>
                <a:latin typeface="Lexend"/>
                <a:ea typeface="Lexend"/>
                <a:cs typeface="Lexend"/>
                <a:sym typeface="Lexend"/>
              </a:rPr>
              <a:t>Initialize to a value by assign the value 4. Will be stored as a double 4.0 in the memory location identified by radius.</a:t>
            </a:r>
            <a:endParaRPr sz="1200" b="0" i="0" u="none" strike="noStrike" cap="none">
              <a:solidFill>
                <a:srgbClr val="000000"/>
              </a:solidFill>
              <a:latin typeface="Lexend"/>
              <a:ea typeface="Lexend"/>
              <a:cs typeface="Lexend"/>
              <a:sym typeface="Lexend"/>
            </a:endParaRPr>
          </a:p>
        </p:txBody>
      </p:sp>
      <p:sp>
        <p:nvSpPr>
          <p:cNvPr id="171" name="Google Shape;171;p13"/>
          <p:cNvSpPr/>
          <p:nvPr/>
        </p:nvSpPr>
        <p:spPr>
          <a:xfrm>
            <a:off x="1531525" y="4315175"/>
            <a:ext cx="6611100" cy="272100"/>
          </a:xfrm>
          <a:prstGeom prst="leftArrowCallout">
            <a:avLst>
              <a:gd name="adj1" fmla="val 25000"/>
              <a:gd name="adj2" fmla="val 25000"/>
              <a:gd name="adj3" fmla="val 25000"/>
              <a:gd name="adj4" fmla="val 8798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1200" b="0" i="0" u="none" strike="noStrike" cap="none">
                <a:solidFill>
                  <a:srgbClr val="000000"/>
                </a:solidFill>
                <a:latin typeface="Lexend"/>
                <a:ea typeface="Lexend"/>
                <a:cs typeface="Lexend"/>
                <a:sym typeface="Lexend"/>
              </a:rPr>
              <a:t>Assign a new value in memory 4.5. This removes 4 and replaces with 4.5</a:t>
            </a:r>
            <a:endParaRPr sz="1200" b="0" i="0" u="none" strike="noStrike" cap="none">
              <a:solidFill>
                <a:srgbClr val="000000"/>
              </a:solidFill>
              <a:latin typeface="Lexend"/>
              <a:ea typeface="Lexend"/>
              <a:cs typeface="Lexend"/>
              <a:sym typeface="Lexend"/>
            </a:endParaRPr>
          </a:p>
        </p:txBody>
      </p:sp>
      <p:sp>
        <p:nvSpPr>
          <p:cNvPr id="172" name="Google Shape;172;p13"/>
          <p:cNvSpPr/>
          <p:nvPr/>
        </p:nvSpPr>
        <p:spPr>
          <a:xfrm>
            <a:off x="5755925" y="4612950"/>
            <a:ext cx="3245700" cy="400200"/>
          </a:xfrm>
          <a:prstGeom prst="leftArrowCallout">
            <a:avLst>
              <a:gd name="adj1" fmla="val 25000"/>
              <a:gd name="adj2" fmla="val 25000"/>
              <a:gd name="adj3" fmla="val 25000"/>
              <a:gd name="adj4" fmla="val 91035"/>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1200" b="0" i="0" u="none" strike="noStrike" cap="none">
                <a:solidFill>
                  <a:srgbClr val="000000"/>
                </a:solidFill>
                <a:latin typeface="Lexend"/>
                <a:ea typeface="Lexend"/>
                <a:cs typeface="Lexend"/>
                <a:sym typeface="Lexend"/>
              </a:rPr>
              <a:t>Get the current value 4.5 from radius memory location</a:t>
            </a:r>
            <a:endParaRPr sz="1200" b="0" i="0" u="none" strike="noStrike" cap="none">
              <a:solidFill>
                <a:srgbClr val="000000"/>
              </a:solidFill>
              <a:latin typeface="Lexend"/>
              <a:ea typeface="Lexend"/>
              <a:cs typeface="Lexend"/>
              <a:sym typeface="Lexend"/>
            </a:endParaRPr>
          </a:p>
        </p:txBody>
      </p:sp>
      <p:sp>
        <p:nvSpPr>
          <p:cNvPr id="173" name="Google Shape;173;p13"/>
          <p:cNvSpPr/>
          <p:nvPr/>
        </p:nvSpPr>
        <p:spPr>
          <a:xfrm>
            <a:off x="6354625" y="1059475"/>
            <a:ext cx="770700" cy="400200"/>
          </a:xfrm>
          <a:prstGeom prst="upArrowCallout">
            <a:avLst>
              <a:gd name="adj1" fmla="val 25000"/>
              <a:gd name="adj2" fmla="val 25000"/>
              <a:gd name="adj3" fmla="val 25000"/>
              <a:gd name="adj4" fmla="val 6497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exend"/>
                <a:ea typeface="Lexend"/>
                <a:cs typeface="Lexend"/>
                <a:sym typeface="Lexend"/>
              </a:rPr>
              <a:t>String</a:t>
            </a:r>
            <a:endParaRPr sz="1200" b="0" i="0" u="none" strike="noStrike" cap="none">
              <a:solidFill>
                <a:srgbClr val="000000"/>
              </a:solidFill>
              <a:latin typeface="Lexend"/>
              <a:ea typeface="Lexend"/>
              <a:cs typeface="Lexend"/>
              <a:sym typeface="Lexend"/>
            </a:endParaRPr>
          </a:p>
        </p:txBody>
      </p:sp>
      <p:sp>
        <p:nvSpPr>
          <p:cNvPr id="174" name="Google Shape;174;p13"/>
          <p:cNvSpPr/>
          <p:nvPr/>
        </p:nvSpPr>
        <p:spPr>
          <a:xfrm>
            <a:off x="7228200" y="1059475"/>
            <a:ext cx="914400" cy="400200"/>
          </a:xfrm>
          <a:prstGeom prst="upArrowCallout">
            <a:avLst>
              <a:gd name="adj1" fmla="val 25000"/>
              <a:gd name="adj2" fmla="val 25000"/>
              <a:gd name="adj3" fmla="val 25000"/>
              <a:gd name="adj4" fmla="val 6497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Lexend"/>
                <a:ea typeface="Lexend"/>
                <a:cs typeface="Lexend"/>
                <a:sym typeface="Lexend"/>
              </a:rPr>
              <a:t>boolean</a:t>
            </a:r>
            <a:endParaRPr sz="1300" b="0" i="0" u="none" strike="noStrike" cap="none">
              <a:solidFill>
                <a:srgbClr val="000000"/>
              </a:solidFill>
              <a:latin typeface="Lexend"/>
              <a:ea typeface="Lexend"/>
              <a:cs typeface="Lexend"/>
              <a:sym typeface="Lexend"/>
            </a:endParaRPr>
          </a:p>
        </p:txBody>
      </p:sp>
      <p:sp>
        <p:nvSpPr>
          <p:cNvPr id="175" name="Google Shape;175;p13"/>
          <p:cNvSpPr/>
          <p:nvPr/>
        </p:nvSpPr>
        <p:spPr>
          <a:xfrm>
            <a:off x="8142600" y="1059475"/>
            <a:ext cx="914400" cy="400200"/>
          </a:xfrm>
          <a:prstGeom prst="upArrowCallout">
            <a:avLst>
              <a:gd name="adj1" fmla="val 25000"/>
              <a:gd name="adj2" fmla="val 25000"/>
              <a:gd name="adj3" fmla="val 25000"/>
              <a:gd name="adj4" fmla="val 6497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Lexend"/>
                <a:ea typeface="Lexend"/>
                <a:cs typeface="Lexend"/>
                <a:sym typeface="Lexend"/>
              </a:rPr>
              <a:t>integer</a:t>
            </a:r>
            <a:endParaRPr sz="1300" b="0" i="0" u="none" strike="noStrike" cap="none">
              <a:solidFill>
                <a:srgbClr val="000000"/>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4"/>
          <p:cNvSpPr txBox="1">
            <a:spLocks noGrp="1"/>
          </p:cNvSpPr>
          <p:nvPr>
            <p:ph type="title"/>
          </p:nvPr>
        </p:nvSpPr>
        <p:spPr>
          <a:xfrm>
            <a:off x="457200" y="205987"/>
            <a:ext cx="8229600" cy="5046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2500"/>
              <a:buFont typeface="Open Sans"/>
              <a:buNone/>
            </a:pPr>
            <a:r>
              <a:rPr lang="en" sz="2500" b="1"/>
              <a:t>Data Type</a:t>
            </a:r>
            <a:r>
              <a:rPr lang="en" sz="2500"/>
              <a:t> </a:t>
            </a:r>
            <a:endParaRPr sz="2500"/>
          </a:p>
        </p:txBody>
      </p:sp>
      <p:sp>
        <p:nvSpPr>
          <p:cNvPr id="181" name="Google Shape;181;p14"/>
          <p:cNvSpPr txBox="1">
            <a:spLocks noGrp="1"/>
          </p:cNvSpPr>
          <p:nvPr>
            <p:ph type="body" idx="1"/>
          </p:nvPr>
        </p:nvSpPr>
        <p:spPr>
          <a:xfrm>
            <a:off x="262625" y="710575"/>
            <a:ext cx="4432500" cy="16677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560"/>
              </a:spcBef>
              <a:spcAft>
                <a:spcPts val="0"/>
              </a:spcAft>
              <a:buClr>
                <a:schemeClr val="dk1"/>
              </a:buClr>
              <a:buSzPts val="1100"/>
              <a:buFont typeface="Arial"/>
              <a:buNone/>
            </a:pPr>
            <a:r>
              <a:rPr lang="en" sz="1400"/>
              <a:t>Java is a statically-typed language, meaning every variable must be declared with a data type. These data types determine:</a:t>
            </a:r>
            <a:endParaRPr sz="1400"/>
          </a:p>
          <a:p>
            <a:pPr marL="457200" lvl="0" indent="-317500" algn="l" rtl="0">
              <a:lnSpc>
                <a:spcPct val="100000"/>
              </a:lnSpc>
              <a:spcBef>
                <a:spcPts val="560"/>
              </a:spcBef>
              <a:spcAft>
                <a:spcPts val="0"/>
              </a:spcAft>
              <a:buSzPts val="1400"/>
              <a:buChar char="●"/>
            </a:pPr>
            <a:r>
              <a:rPr lang="en" sz="1400"/>
              <a:t>The kind of values a variable can hold</a:t>
            </a:r>
            <a:endParaRPr sz="1400"/>
          </a:p>
          <a:p>
            <a:pPr marL="457200" lvl="0" indent="-317500" algn="l" rtl="0">
              <a:lnSpc>
                <a:spcPct val="100000"/>
              </a:lnSpc>
              <a:spcBef>
                <a:spcPts val="560"/>
              </a:spcBef>
              <a:spcAft>
                <a:spcPts val="0"/>
              </a:spcAft>
              <a:buSzPts val="1400"/>
              <a:buChar char="●"/>
            </a:pPr>
            <a:r>
              <a:rPr lang="en" sz="1400"/>
              <a:t>How much memory it uses</a:t>
            </a:r>
            <a:endParaRPr sz="1400"/>
          </a:p>
          <a:p>
            <a:pPr marL="457200" lvl="0" indent="-317500" algn="l" rtl="0">
              <a:lnSpc>
                <a:spcPct val="100000"/>
              </a:lnSpc>
              <a:spcBef>
                <a:spcPts val="560"/>
              </a:spcBef>
              <a:spcAft>
                <a:spcPts val="0"/>
              </a:spcAft>
              <a:buSzPts val="1400"/>
              <a:buChar char="●"/>
            </a:pPr>
            <a:r>
              <a:rPr lang="en" sz="1400"/>
              <a:t>What operations can be performed on it</a:t>
            </a:r>
            <a:br>
              <a:rPr lang="en" sz="1400"/>
            </a:br>
            <a:endParaRPr sz="1400"/>
          </a:p>
          <a:p>
            <a:pPr marL="457200" lvl="0" indent="0" algn="l" rtl="0">
              <a:lnSpc>
                <a:spcPct val="100000"/>
              </a:lnSpc>
              <a:spcBef>
                <a:spcPts val="560"/>
              </a:spcBef>
              <a:spcAft>
                <a:spcPts val="0"/>
              </a:spcAft>
              <a:buSzPts val="1800"/>
              <a:buNone/>
            </a:pPr>
            <a:br>
              <a:rPr lang="en" sz="1400"/>
            </a:br>
            <a:endParaRPr sz="1400"/>
          </a:p>
        </p:txBody>
      </p:sp>
      <p:pic>
        <p:nvPicPr>
          <p:cNvPr id="182" name="Google Shape;182;p14"/>
          <p:cNvPicPr preferRelativeResize="0"/>
          <p:nvPr/>
        </p:nvPicPr>
        <p:blipFill rotWithShape="1">
          <a:blip r:embed="rId3">
            <a:alphaModFix/>
          </a:blip>
          <a:srcRect/>
          <a:stretch/>
        </p:blipFill>
        <p:spPr>
          <a:xfrm>
            <a:off x="3975870" y="2488875"/>
            <a:ext cx="5094130" cy="2547050"/>
          </a:xfrm>
          <a:prstGeom prst="rect">
            <a:avLst/>
          </a:prstGeom>
          <a:noFill/>
          <a:ln>
            <a:noFill/>
          </a:ln>
        </p:spPr>
      </p:pic>
      <p:sp>
        <p:nvSpPr>
          <p:cNvPr id="183" name="Google Shape;183;p14"/>
          <p:cNvSpPr txBox="1">
            <a:spLocks noGrp="1"/>
          </p:cNvSpPr>
          <p:nvPr>
            <p:ph type="body" idx="2"/>
          </p:nvPr>
        </p:nvSpPr>
        <p:spPr>
          <a:xfrm>
            <a:off x="4868750" y="771525"/>
            <a:ext cx="4038600" cy="1464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Clr>
                <a:schemeClr val="dk1"/>
              </a:buClr>
              <a:buSzPts val="1100"/>
              <a:buFont typeface="Arial"/>
              <a:buNone/>
            </a:pPr>
            <a:r>
              <a:rPr lang="en" sz="1400"/>
              <a:t>Java data types are broadly categorized into two types:</a:t>
            </a:r>
            <a:endParaRPr sz="1400"/>
          </a:p>
          <a:p>
            <a:pPr marL="457200" lvl="0" indent="-317500" algn="l" rtl="0">
              <a:lnSpc>
                <a:spcPct val="100000"/>
              </a:lnSpc>
              <a:spcBef>
                <a:spcPts val="360"/>
              </a:spcBef>
              <a:spcAft>
                <a:spcPts val="0"/>
              </a:spcAft>
              <a:buSzPts val="1400"/>
              <a:buChar char="●"/>
            </a:pPr>
            <a:r>
              <a:rPr lang="en" sz="1400"/>
              <a:t>Primitive Data Types</a:t>
            </a:r>
            <a:endParaRPr sz="1400"/>
          </a:p>
          <a:p>
            <a:pPr marL="457200" lvl="0" indent="-317500" algn="l" rtl="0">
              <a:lnSpc>
                <a:spcPct val="100000"/>
              </a:lnSpc>
              <a:spcBef>
                <a:spcPts val="360"/>
              </a:spcBef>
              <a:spcAft>
                <a:spcPts val="0"/>
              </a:spcAft>
              <a:buSzPts val="1400"/>
              <a:buChar char="●"/>
            </a:pPr>
            <a:r>
              <a:rPr lang="en" sz="1400"/>
              <a:t>Non-Primitive Data Types (Reference types)</a:t>
            </a:r>
            <a:endParaRPr/>
          </a:p>
        </p:txBody>
      </p:sp>
      <p:sp>
        <p:nvSpPr>
          <p:cNvPr id="184" name="Google Shape;184;p14"/>
          <p:cNvSpPr txBox="1"/>
          <p:nvPr/>
        </p:nvSpPr>
        <p:spPr>
          <a:xfrm>
            <a:off x="6739300" y="4681925"/>
            <a:ext cx="23307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sng" strike="noStrike" cap="none">
                <a:solidFill>
                  <a:schemeClr val="hlink"/>
                </a:solidFill>
                <a:latin typeface="Arial"/>
                <a:ea typeface="Arial"/>
                <a:cs typeface="Arial"/>
                <a:sym typeface="Arial"/>
                <a:hlinkClick r:id="rId4"/>
              </a:rPr>
              <a:t>Java Data Types - GeeksforGeeks</a:t>
            </a:r>
            <a:r>
              <a:rPr lang="en" sz="1100" b="0" i="0" u="none" strike="noStrike" cap="none">
                <a:solidFill>
                  <a:srgbClr val="000000"/>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185" name="Google Shape;185;p14"/>
          <p:cNvSpPr/>
          <p:nvPr/>
        </p:nvSpPr>
        <p:spPr>
          <a:xfrm>
            <a:off x="262625" y="3044375"/>
            <a:ext cx="3454200" cy="354000"/>
          </a:xfrm>
          <a:prstGeom prst="wedgeRectCallout">
            <a:avLst>
              <a:gd name="adj1" fmla="val 86252"/>
              <a:gd name="adj2" fmla="val -66164"/>
            </a:avLst>
          </a:prstGeom>
          <a:solidFill>
            <a:srgbClr val="D9EAD3"/>
          </a:solidFill>
          <a:ln w="9525" cap="flat" cmpd="sng">
            <a:solidFill>
              <a:srgbClr val="30303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Arial"/>
                <a:ea typeface="Arial"/>
                <a:cs typeface="Arial"/>
                <a:sym typeface="Arial"/>
              </a:rPr>
              <a:t>We will focus on primitive data types first.</a:t>
            </a:r>
            <a:endParaRPr sz="1300" b="0" i="0" u="none" strike="noStrike" cap="none">
              <a:solidFill>
                <a:srgbClr val="000000"/>
              </a:solidFill>
              <a:latin typeface="Arial"/>
              <a:ea typeface="Arial"/>
              <a:cs typeface="Arial"/>
              <a:sym typeface="Arial"/>
            </a:endParaRPr>
          </a:p>
        </p:txBody>
      </p:sp>
      <p:sp>
        <p:nvSpPr>
          <p:cNvPr id="186" name="Google Shape;186;p14"/>
          <p:cNvSpPr/>
          <p:nvPr/>
        </p:nvSpPr>
        <p:spPr>
          <a:xfrm>
            <a:off x="262625" y="2289299"/>
            <a:ext cx="3762000" cy="564900"/>
          </a:xfrm>
          <a:prstGeom prst="wedgeRectCallout">
            <a:avLst>
              <a:gd name="adj1" fmla="val 90317"/>
              <a:gd name="adj2" fmla="val -16149"/>
            </a:avLst>
          </a:prstGeom>
          <a:solidFill>
            <a:srgbClr val="D9EAD3"/>
          </a:solidFill>
          <a:ln w="9525" cap="flat" cmpd="sng">
            <a:solidFill>
              <a:srgbClr val="30303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300"/>
              <a:buFont typeface="Arial"/>
              <a:buNone/>
            </a:pPr>
            <a:r>
              <a:rPr lang="en" sz="1300" b="0" i="0" u="none" strike="noStrike" cap="none">
                <a:solidFill>
                  <a:schemeClr val="dk1"/>
                </a:solidFill>
                <a:latin typeface="Arial"/>
                <a:ea typeface="Arial"/>
                <a:cs typeface="Arial"/>
                <a:sym typeface="Arial"/>
              </a:rPr>
              <a:t>If you have programmed in Python you didn’t need to declare variables with a data type.</a:t>
            </a:r>
            <a:endParaRPr sz="13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5"/>
          <p:cNvSpPr txBox="1">
            <a:spLocks noGrp="1"/>
          </p:cNvSpPr>
          <p:nvPr>
            <p:ph type="title"/>
          </p:nvPr>
        </p:nvSpPr>
        <p:spPr>
          <a:xfrm>
            <a:off x="259450" y="2255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Data Types Ranges and Storage Size</a:t>
            </a:r>
            <a:endParaRPr/>
          </a:p>
        </p:txBody>
      </p:sp>
      <p:sp>
        <p:nvSpPr>
          <p:cNvPr id="192" name="Google Shape;192;p15"/>
          <p:cNvSpPr txBox="1">
            <a:spLocks noGrp="1"/>
          </p:cNvSpPr>
          <p:nvPr>
            <p:ph type="body" idx="1"/>
          </p:nvPr>
        </p:nvSpPr>
        <p:spPr>
          <a:xfrm>
            <a:off x="367475" y="704100"/>
            <a:ext cx="8686200" cy="655200"/>
          </a:xfrm>
          <a:prstGeom prst="rect">
            <a:avLst/>
          </a:prstGeom>
          <a:noFill/>
          <a:ln>
            <a:noFill/>
          </a:ln>
        </p:spPr>
        <p:txBody>
          <a:bodyPr spcFirstLastPara="1" wrap="square" lIns="91425" tIns="91425" rIns="91425" bIns="91425" anchor="t" anchorCtr="0">
            <a:normAutofit fontScale="85000" lnSpcReduction="10000"/>
          </a:bodyPr>
          <a:lstStyle/>
          <a:p>
            <a:pPr marL="0" lvl="0" indent="0" algn="l" rtl="0">
              <a:lnSpc>
                <a:spcPct val="95000"/>
              </a:lnSpc>
              <a:spcBef>
                <a:spcPts val="0"/>
              </a:spcBef>
              <a:spcAft>
                <a:spcPts val="1200"/>
              </a:spcAft>
              <a:buSzPts val="1800"/>
              <a:buNone/>
            </a:pPr>
            <a:r>
              <a:rPr lang="en" sz="1500"/>
              <a:t>When declaring a variable for a primitive data type enough memory is allocated based on the data type.</a:t>
            </a:r>
            <a:endParaRPr sz="1500"/>
          </a:p>
        </p:txBody>
      </p:sp>
      <p:sp>
        <p:nvSpPr>
          <p:cNvPr id="193" name="Google Shape;193;p15"/>
          <p:cNvSpPr/>
          <p:nvPr/>
        </p:nvSpPr>
        <p:spPr>
          <a:xfrm>
            <a:off x="2796425" y="1550900"/>
            <a:ext cx="1579800" cy="417600"/>
          </a:xfrm>
          <a:prstGeom prst="wedgeRoundRectCallout">
            <a:avLst>
              <a:gd name="adj1" fmla="val -88723"/>
              <a:gd name="adj2" fmla="val -37273"/>
              <a:gd name="adj3" fmla="val 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Arial"/>
                <a:ea typeface="Arial"/>
                <a:cs typeface="Arial"/>
                <a:sym typeface="Arial"/>
              </a:rPr>
              <a:t>Allocates 8 bytes</a:t>
            </a:r>
            <a:endParaRPr sz="1300" b="0" i="0" u="none" strike="noStrike" cap="none">
              <a:solidFill>
                <a:srgbClr val="000000"/>
              </a:solidFill>
              <a:latin typeface="Arial"/>
              <a:ea typeface="Arial"/>
              <a:cs typeface="Arial"/>
              <a:sym typeface="Arial"/>
            </a:endParaRPr>
          </a:p>
        </p:txBody>
      </p:sp>
      <p:pic>
        <p:nvPicPr>
          <p:cNvPr id="194" name="Google Shape;194;p15"/>
          <p:cNvPicPr preferRelativeResize="0"/>
          <p:nvPr/>
        </p:nvPicPr>
        <p:blipFill rotWithShape="1">
          <a:blip r:embed="rId3">
            <a:alphaModFix/>
          </a:blip>
          <a:srcRect/>
          <a:stretch/>
        </p:blipFill>
        <p:spPr>
          <a:xfrm>
            <a:off x="554313" y="1550900"/>
            <a:ext cx="1400175" cy="371475"/>
          </a:xfrm>
          <a:prstGeom prst="rect">
            <a:avLst/>
          </a:prstGeom>
          <a:noFill/>
          <a:ln>
            <a:noFill/>
          </a:ln>
        </p:spPr>
      </p:pic>
      <p:pic>
        <p:nvPicPr>
          <p:cNvPr id="195" name="Google Shape;195;p15"/>
          <p:cNvPicPr preferRelativeResize="0"/>
          <p:nvPr/>
        </p:nvPicPr>
        <p:blipFill rotWithShape="1">
          <a:blip r:embed="rId4">
            <a:alphaModFix/>
          </a:blip>
          <a:srcRect t="15795" r="21377" b="59946"/>
          <a:stretch/>
        </p:blipFill>
        <p:spPr>
          <a:xfrm>
            <a:off x="367475" y="1922375"/>
            <a:ext cx="1943100" cy="417600"/>
          </a:xfrm>
          <a:prstGeom prst="rect">
            <a:avLst/>
          </a:prstGeom>
          <a:noFill/>
          <a:ln>
            <a:noFill/>
          </a:ln>
        </p:spPr>
      </p:pic>
      <p:graphicFrame>
        <p:nvGraphicFramePr>
          <p:cNvPr id="196" name="Google Shape;196;p15"/>
          <p:cNvGraphicFramePr/>
          <p:nvPr/>
        </p:nvGraphicFramePr>
        <p:xfrm>
          <a:off x="90188" y="2571750"/>
          <a:ext cx="8963600" cy="2443104"/>
        </p:xfrm>
        <a:graphic>
          <a:graphicData uri="http://schemas.openxmlformats.org/drawingml/2006/table">
            <a:tbl>
              <a:tblPr>
                <a:noFill/>
                <a:tableStyleId>{9D2EE0CC-7538-43B8-9524-DCC69DCE895C}</a:tableStyleId>
              </a:tblPr>
              <a:tblGrid>
                <a:gridCol w="848825">
                  <a:extLst>
                    <a:ext uri="{9D8B030D-6E8A-4147-A177-3AD203B41FA5}">
                      <a16:colId xmlns:a16="http://schemas.microsoft.com/office/drawing/2014/main" val="20000"/>
                    </a:ext>
                  </a:extLst>
                </a:gridCol>
                <a:gridCol w="3317100">
                  <a:extLst>
                    <a:ext uri="{9D8B030D-6E8A-4147-A177-3AD203B41FA5}">
                      <a16:colId xmlns:a16="http://schemas.microsoft.com/office/drawing/2014/main" val="20001"/>
                    </a:ext>
                  </a:extLst>
                </a:gridCol>
                <a:gridCol w="2379625">
                  <a:extLst>
                    <a:ext uri="{9D8B030D-6E8A-4147-A177-3AD203B41FA5}">
                      <a16:colId xmlns:a16="http://schemas.microsoft.com/office/drawing/2014/main" val="20002"/>
                    </a:ext>
                  </a:extLst>
                </a:gridCol>
                <a:gridCol w="2418050">
                  <a:extLst>
                    <a:ext uri="{9D8B030D-6E8A-4147-A177-3AD203B41FA5}">
                      <a16:colId xmlns:a16="http://schemas.microsoft.com/office/drawing/2014/main" val="20003"/>
                    </a:ext>
                  </a:extLst>
                </a:gridCol>
              </a:tblGrid>
              <a:tr h="246450">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Data Type</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Description</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Size (memory allocated in bits)</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Example</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46450">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byte</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Smallest integer type</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1 byte (8-bit)</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byte age = 25;</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46450">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short</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Small integer</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2 bytes (16-bit)</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short year = 2025;</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46450">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int</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Default integer type</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4 bytes (32-bit)</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int population = 1000000;</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extLst>
                  <a:ext uri="{0D108BD9-81ED-4DB2-BD59-A6C34878D82A}">
                    <a16:rowId xmlns:a16="http://schemas.microsoft.com/office/drawing/2014/main" val="10003"/>
                  </a:ext>
                </a:extLst>
              </a:tr>
              <a:tr h="308950">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long</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Large integers</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8 bytes (64-bit)</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long distance = 15000000000L;</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246450">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float</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Single-precision decimal</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4 bytes</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u="none" strike="noStrike" cap="none">
                          <a:latin typeface="Lexend"/>
                          <a:ea typeface="Lexend"/>
                          <a:cs typeface="Lexend"/>
                          <a:sym typeface="Lexend"/>
                        </a:rPr>
                        <a:t>float grade = 89.5f;</a:t>
                      </a:r>
                      <a:endParaRPr sz="1100"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402475">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double</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Double-precision decimal (default for decimals)</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8 bytes</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double pi = 3.14159;</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extLst>
                  <a:ext uri="{0D108BD9-81ED-4DB2-BD59-A6C34878D82A}">
                    <a16:rowId xmlns:a16="http://schemas.microsoft.com/office/drawing/2014/main" val="10006"/>
                  </a:ext>
                </a:extLst>
              </a:tr>
              <a:tr h="246450">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char</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Single character (Unicode)</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2 bytes</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char grade = 'A';</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extLst>
                  <a:ext uri="{0D108BD9-81ED-4DB2-BD59-A6C34878D82A}">
                    <a16:rowId xmlns:a16="http://schemas.microsoft.com/office/drawing/2014/main" val="10007"/>
                  </a:ext>
                </a:extLst>
              </a:tr>
              <a:tr h="246450">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boolean</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True or false</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1 bit (typically 1 byte used)</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marR="0" lvl="0" indent="0" algn="l" rtl="0">
                        <a:lnSpc>
                          <a:spcPct val="115000"/>
                        </a:lnSpc>
                        <a:spcBef>
                          <a:spcPts val="0"/>
                        </a:spcBef>
                        <a:spcAft>
                          <a:spcPts val="0"/>
                        </a:spcAft>
                        <a:buClr>
                          <a:srgbClr val="000000"/>
                        </a:buClr>
                        <a:buSzPts val="1100"/>
                        <a:buFont typeface="Arial"/>
                        <a:buNone/>
                      </a:pPr>
                      <a:r>
                        <a:rPr lang="en" sz="1100" b="1" u="none" strike="noStrike" cap="none">
                          <a:latin typeface="Lexend"/>
                          <a:ea typeface="Lexend"/>
                          <a:cs typeface="Lexend"/>
                          <a:sym typeface="Lexend"/>
                        </a:rPr>
                        <a:t>boolean passed = true;</a:t>
                      </a:r>
                      <a:endParaRPr sz="1100" b="1" u="none" strike="noStrike" cap="none">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extLst>
                  <a:ext uri="{0D108BD9-81ED-4DB2-BD59-A6C34878D82A}">
                    <a16:rowId xmlns:a16="http://schemas.microsoft.com/office/drawing/2014/main" val="10008"/>
                  </a:ext>
                </a:extLst>
              </a:tr>
            </a:tbl>
          </a:graphicData>
        </a:graphic>
      </p:graphicFrame>
      <p:sp>
        <p:nvSpPr>
          <p:cNvPr id="197" name="Google Shape;197;p15"/>
          <p:cNvSpPr/>
          <p:nvPr/>
        </p:nvSpPr>
        <p:spPr>
          <a:xfrm>
            <a:off x="6143650" y="1419000"/>
            <a:ext cx="2515500" cy="802200"/>
          </a:xfrm>
          <a:prstGeom prst="wedgeRoundRectCallout">
            <a:avLst>
              <a:gd name="adj1" fmla="val -97100"/>
              <a:gd name="adj2" fmla="val 55083"/>
              <a:gd name="adj3" fmla="val 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Arial"/>
                <a:ea typeface="Arial"/>
                <a:cs typeface="Arial"/>
                <a:sym typeface="Arial"/>
              </a:rPr>
              <a:t>We will be using int, double, char and boolean. </a:t>
            </a:r>
            <a:endParaRPr sz="13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6"/>
          <p:cNvSpPr txBox="1">
            <a:spLocks noGrp="1"/>
          </p:cNvSpPr>
          <p:nvPr>
            <p:ph type="title"/>
          </p:nvPr>
        </p:nvSpPr>
        <p:spPr>
          <a:xfrm>
            <a:off x="311700" y="17470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Quality Code: Variable Naming Conventions</a:t>
            </a:r>
            <a:endParaRPr/>
          </a:p>
        </p:txBody>
      </p:sp>
      <p:sp>
        <p:nvSpPr>
          <p:cNvPr id="203" name="Google Shape;203;p16"/>
          <p:cNvSpPr txBox="1">
            <a:spLocks noGrp="1"/>
          </p:cNvSpPr>
          <p:nvPr>
            <p:ph type="body" idx="1"/>
          </p:nvPr>
        </p:nvSpPr>
        <p:spPr>
          <a:xfrm>
            <a:off x="229100" y="747400"/>
            <a:ext cx="5624100" cy="2872800"/>
          </a:xfrm>
          <a:prstGeom prst="rect">
            <a:avLst/>
          </a:prstGeom>
          <a:noFill/>
          <a:ln>
            <a:noFill/>
          </a:ln>
        </p:spPr>
        <p:txBody>
          <a:bodyPr spcFirstLastPara="1" wrap="square" lIns="91425" tIns="91425" rIns="91425" bIns="91425" anchor="t" anchorCtr="0">
            <a:normAutofit/>
          </a:bodyPr>
          <a:lstStyle/>
          <a:p>
            <a:pPr marL="0" lvl="0" indent="0" algn="l" rtl="0">
              <a:lnSpc>
                <a:spcPct val="105000"/>
              </a:lnSpc>
              <a:spcBef>
                <a:spcPts val="0"/>
              </a:spcBef>
              <a:spcAft>
                <a:spcPts val="0"/>
              </a:spcAft>
              <a:buSzPts val="1800"/>
              <a:buNone/>
            </a:pPr>
            <a:r>
              <a:rPr lang="en" sz="1500"/>
              <a:t>Create meaningful identifiers for variables</a:t>
            </a:r>
            <a:endParaRPr sz="1500"/>
          </a:p>
          <a:p>
            <a:pPr marL="457200" lvl="0" indent="-323850" algn="l" rtl="0">
              <a:lnSpc>
                <a:spcPct val="105000"/>
              </a:lnSpc>
              <a:spcBef>
                <a:spcPts val="1200"/>
              </a:spcBef>
              <a:spcAft>
                <a:spcPts val="0"/>
              </a:spcAft>
              <a:buSzPts val="1500"/>
              <a:buChar char="●"/>
            </a:pPr>
            <a:r>
              <a:rPr lang="en" sz="1500"/>
              <a:t>Use meaningful names</a:t>
            </a:r>
            <a:endParaRPr sz="1500"/>
          </a:p>
          <a:p>
            <a:pPr marL="457200" lvl="0" indent="-323850" algn="l" rtl="0">
              <a:lnSpc>
                <a:spcPct val="105000"/>
              </a:lnSpc>
              <a:spcBef>
                <a:spcPts val="0"/>
              </a:spcBef>
              <a:spcAft>
                <a:spcPts val="0"/>
              </a:spcAft>
              <a:buSzPts val="1500"/>
              <a:buChar char="●"/>
            </a:pPr>
            <a:r>
              <a:rPr lang="en" sz="1500"/>
              <a:t>Do not use one letter variable names</a:t>
            </a:r>
            <a:endParaRPr sz="1500"/>
          </a:p>
          <a:p>
            <a:pPr marL="457200" lvl="0" indent="-323850" algn="l" rtl="0">
              <a:lnSpc>
                <a:spcPct val="105000"/>
              </a:lnSpc>
              <a:spcBef>
                <a:spcPts val="0"/>
              </a:spcBef>
              <a:spcAft>
                <a:spcPts val="0"/>
              </a:spcAft>
              <a:buSzPts val="1500"/>
              <a:buChar char="●"/>
            </a:pPr>
            <a:r>
              <a:rPr lang="en" sz="1500"/>
              <a:t>Begin with lowercase</a:t>
            </a:r>
            <a:endParaRPr sz="1500"/>
          </a:p>
          <a:p>
            <a:pPr marL="457200" lvl="0" indent="-323850" algn="l" rtl="0">
              <a:lnSpc>
                <a:spcPct val="105000"/>
              </a:lnSpc>
              <a:spcBef>
                <a:spcPts val="0"/>
              </a:spcBef>
              <a:spcAft>
                <a:spcPts val="0"/>
              </a:spcAft>
              <a:buSzPts val="1500"/>
              <a:buChar char="●"/>
            </a:pPr>
            <a:r>
              <a:rPr lang="en" sz="1500"/>
              <a:t>Multiple-word identifiers use camel case</a:t>
            </a:r>
            <a:endParaRPr sz="1500"/>
          </a:p>
          <a:p>
            <a:pPr marL="914400" lvl="0" indent="-323850" algn="l" rtl="0">
              <a:lnSpc>
                <a:spcPct val="105000"/>
              </a:lnSpc>
              <a:spcBef>
                <a:spcPts val="0"/>
              </a:spcBef>
              <a:spcAft>
                <a:spcPts val="0"/>
              </a:spcAft>
              <a:buSzPts val="1500"/>
              <a:buChar char="●"/>
            </a:pPr>
            <a:r>
              <a:rPr lang="en" sz="1500"/>
              <a:t>First word starts with lowercase letter</a:t>
            </a:r>
            <a:endParaRPr sz="1500"/>
          </a:p>
          <a:p>
            <a:pPr marL="914400" lvl="0" indent="-323850" algn="l" rtl="0">
              <a:lnSpc>
                <a:spcPct val="105000"/>
              </a:lnSpc>
              <a:spcBef>
                <a:spcPts val="0"/>
              </a:spcBef>
              <a:spcAft>
                <a:spcPts val="0"/>
              </a:spcAft>
              <a:buSzPts val="1500"/>
              <a:buChar char="●"/>
            </a:pPr>
            <a:r>
              <a:rPr lang="en" sz="1500"/>
              <a:t>Each remaining word starts with upper case</a:t>
            </a:r>
            <a:endParaRPr sz="1500"/>
          </a:p>
          <a:p>
            <a:pPr marL="0" lvl="0" indent="0" algn="l" rtl="0">
              <a:lnSpc>
                <a:spcPct val="105000"/>
              </a:lnSpc>
              <a:spcBef>
                <a:spcPts val="0"/>
              </a:spcBef>
              <a:spcAft>
                <a:spcPts val="0"/>
              </a:spcAft>
              <a:buSzPts val="1700"/>
              <a:buNone/>
            </a:pPr>
            <a:endParaRPr sz="1500"/>
          </a:p>
        </p:txBody>
      </p:sp>
      <p:pic>
        <p:nvPicPr>
          <p:cNvPr id="204" name="Google Shape;204;p16" descr="Icon&#10;&#10;Description automatically generated"/>
          <p:cNvPicPr preferRelativeResize="0"/>
          <p:nvPr/>
        </p:nvPicPr>
        <p:blipFill rotWithShape="1">
          <a:blip r:embed="rId3">
            <a:alphaModFix/>
          </a:blip>
          <a:srcRect/>
          <a:stretch/>
        </p:blipFill>
        <p:spPr>
          <a:xfrm>
            <a:off x="881550" y="3620125"/>
            <a:ext cx="1815225" cy="1336500"/>
          </a:xfrm>
          <a:prstGeom prst="rect">
            <a:avLst/>
          </a:prstGeom>
          <a:noFill/>
          <a:ln>
            <a:noFill/>
          </a:ln>
        </p:spPr>
      </p:pic>
      <p:graphicFrame>
        <p:nvGraphicFramePr>
          <p:cNvPr id="205" name="Google Shape;205;p16"/>
          <p:cNvGraphicFramePr/>
          <p:nvPr/>
        </p:nvGraphicFramePr>
        <p:xfrm>
          <a:off x="6028825" y="1485788"/>
          <a:ext cx="2909400" cy="2003015"/>
        </p:xfrm>
        <a:graphic>
          <a:graphicData uri="http://schemas.openxmlformats.org/drawingml/2006/table">
            <a:tbl>
              <a:tblPr>
                <a:noFill/>
                <a:tableStyleId>{9DFEB85A-F1A4-47AA-AFD0-A1ABA40CD6E6}</a:tableStyleId>
              </a:tblPr>
              <a:tblGrid>
                <a:gridCol w="1454700">
                  <a:extLst>
                    <a:ext uri="{9D8B030D-6E8A-4147-A177-3AD203B41FA5}">
                      <a16:colId xmlns:a16="http://schemas.microsoft.com/office/drawing/2014/main" val="20000"/>
                    </a:ext>
                  </a:extLst>
                </a:gridCol>
                <a:gridCol w="1454700">
                  <a:extLst>
                    <a:ext uri="{9D8B030D-6E8A-4147-A177-3AD203B41FA5}">
                      <a16:colId xmlns:a16="http://schemas.microsoft.com/office/drawing/2014/main" val="20001"/>
                    </a:ext>
                  </a:extLst>
                </a:gridCol>
              </a:tblGrid>
              <a:tr h="4181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n</a:t>
                      </a:r>
                      <a:endParaRPr sz="1400" u="none" strike="noStrike" cap="none">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4CC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bad</a:t>
                      </a:r>
                      <a:endParaRPr sz="1400" u="none" strike="noStrike" cap="none">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0"/>
                  </a:ext>
                </a:extLst>
              </a:tr>
              <a:tr h="3962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NUMBER</a:t>
                      </a:r>
                      <a:endParaRPr sz="1400" u="none" strike="noStrike" cap="none">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4CC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bad</a:t>
                      </a:r>
                      <a:endParaRPr sz="1400" u="none" strike="noStrike" cap="none">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1"/>
                  </a:ext>
                </a:extLst>
              </a:tr>
              <a:tr h="3962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count</a:t>
                      </a:r>
                      <a:endParaRPr sz="1400" u="none" strike="noStrike" cap="none">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A little better</a:t>
                      </a:r>
                      <a:endParaRPr sz="1400" u="none" strike="noStrike" cap="none">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962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students</a:t>
                      </a:r>
                      <a:endParaRPr sz="1400" u="none" strike="noStrike" cap="none">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A little better</a:t>
                      </a:r>
                      <a:endParaRPr sz="1400" u="none" strike="noStrike" cap="none">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962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totalStudents</a:t>
                      </a:r>
                      <a:endParaRPr sz="1400" u="none" strike="noStrike" cap="none">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9EAD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best</a:t>
                      </a:r>
                      <a:endParaRPr sz="1400" u="none" strike="noStrike" cap="none">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4"/>
                  </a:ext>
                </a:extLst>
              </a:tr>
            </a:tbl>
          </a:graphicData>
        </a:graphic>
      </p:graphicFrame>
      <p:sp>
        <p:nvSpPr>
          <p:cNvPr id="206" name="Google Shape;206;p16"/>
          <p:cNvSpPr txBox="1"/>
          <p:nvPr/>
        </p:nvSpPr>
        <p:spPr>
          <a:xfrm>
            <a:off x="5108900" y="819150"/>
            <a:ext cx="3927300" cy="594900"/>
          </a:xfrm>
          <a:prstGeom prst="rect">
            <a:avLst/>
          </a:prstGeom>
          <a:solidFill>
            <a:srgbClr val="CFE2F3"/>
          </a:solidFill>
          <a:ln>
            <a:noFill/>
          </a:ln>
        </p:spPr>
        <p:txBody>
          <a:bodyPr spcFirstLastPara="1" wrap="square" lIns="91425" tIns="91425" rIns="91425" bIns="91425" anchor="t" anchorCtr="0">
            <a:spAutoFit/>
          </a:bodyPr>
          <a:lstStyle/>
          <a:p>
            <a:pPr marL="0" marR="0" lvl="0" indent="0" algn="l" rtl="0">
              <a:lnSpc>
                <a:spcPct val="105000"/>
              </a:lnSpc>
              <a:spcBef>
                <a:spcPts val="0"/>
              </a:spcBef>
              <a:spcAft>
                <a:spcPts val="1200"/>
              </a:spcAft>
              <a:buClr>
                <a:srgbClr val="000000"/>
              </a:buClr>
              <a:buSzPts val="1500"/>
              <a:buFont typeface="Arial"/>
              <a:buNone/>
            </a:pPr>
            <a:r>
              <a:rPr lang="en" sz="1300" b="0" i="0" u="none" strike="noStrike" cap="none">
                <a:solidFill>
                  <a:schemeClr val="dk1"/>
                </a:solidFill>
                <a:latin typeface="Lexend"/>
                <a:ea typeface="Lexend"/>
                <a:cs typeface="Lexend"/>
                <a:sym typeface="Lexend"/>
              </a:rPr>
              <a:t>What if I needed to create an identifier for a variable to hold the total number of students?</a:t>
            </a:r>
            <a:endParaRPr sz="1300" b="0" i="0" u="none" strike="noStrike" cap="none">
              <a:solidFill>
                <a:schemeClr val="dk1"/>
              </a:solidFill>
              <a:latin typeface="Lexend"/>
              <a:ea typeface="Lexend"/>
              <a:cs typeface="Lexend"/>
              <a:sym typeface="Lexend"/>
            </a:endParaRPr>
          </a:p>
        </p:txBody>
      </p:sp>
      <p:sp>
        <p:nvSpPr>
          <p:cNvPr id="207" name="Google Shape;207;p16"/>
          <p:cNvSpPr/>
          <p:nvPr/>
        </p:nvSpPr>
        <p:spPr>
          <a:xfrm>
            <a:off x="3864850" y="3092575"/>
            <a:ext cx="1910100" cy="531000"/>
          </a:xfrm>
          <a:prstGeom prst="rightArrow">
            <a:avLst>
              <a:gd name="adj1" fmla="val 50000"/>
              <a:gd name="adj2" fmla="val 5000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For this class</a:t>
            </a:r>
            <a:endParaRPr sz="1400" b="0" i="0" u="none" strike="noStrike" cap="none">
              <a:solidFill>
                <a:srgbClr val="000000"/>
              </a:solidFill>
              <a:latin typeface="Arial"/>
              <a:ea typeface="Arial"/>
              <a:cs typeface="Arial"/>
              <a:sym typeface="Arial"/>
            </a:endParaRPr>
          </a:p>
        </p:txBody>
      </p:sp>
      <p:sp>
        <p:nvSpPr>
          <p:cNvPr id="208" name="Google Shape;208;p16"/>
          <p:cNvSpPr/>
          <p:nvPr/>
        </p:nvSpPr>
        <p:spPr>
          <a:xfrm>
            <a:off x="5853250" y="3862025"/>
            <a:ext cx="2909400" cy="1088100"/>
          </a:xfrm>
          <a:prstGeom prst="wedgeEllipseCallout">
            <a:avLst>
              <a:gd name="adj1" fmla="val -61285"/>
              <a:gd name="adj2" fmla="val -37391"/>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exend"/>
                <a:ea typeface="Lexend"/>
                <a:cs typeface="Lexend"/>
                <a:sym typeface="Lexend"/>
              </a:rPr>
              <a:t>Unlike math class 1 letter variable names should not be used.</a:t>
            </a:r>
            <a:endParaRPr sz="1400" b="0" i="0" u="none" strike="noStrike" cap="none">
              <a:solidFill>
                <a:srgbClr val="000000"/>
              </a:solidFill>
              <a:latin typeface="Lexend"/>
              <a:ea typeface="Lexend"/>
              <a:cs typeface="Lexend"/>
              <a:sym typeface="Lexend"/>
            </a:endParaRPr>
          </a:p>
        </p:txBody>
      </p:sp>
      <p:pic>
        <p:nvPicPr>
          <p:cNvPr id="209" name="Google Shape;209;p16"/>
          <p:cNvPicPr preferRelativeResize="0"/>
          <p:nvPr/>
        </p:nvPicPr>
        <p:blipFill rotWithShape="1">
          <a:blip r:embed="rId4">
            <a:alphaModFix/>
          </a:blip>
          <a:srcRect/>
          <a:stretch/>
        </p:blipFill>
        <p:spPr>
          <a:xfrm>
            <a:off x="3569475" y="3870124"/>
            <a:ext cx="1910100" cy="107191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3ab4db5c9c8_0_0"/>
          <p:cNvSpPr txBox="1"/>
          <p:nvPr/>
        </p:nvSpPr>
        <p:spPr>
          <a:xfrm>
            <a:off x="234125" y="743388"/>
            <a:ext cx="8856900" cy="4139400"/>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700"/>
              </a:spcBef>
              <a:spcAft>
                <a:spcPts val="0"/>
              </a:spcAft>
              <a:buClr>
                <a:srgbClr val="000000"/>
              </a:buClr>
              <a:buSzPts val="1100"/>
              <a:buFont typeface="Arial"/>
              <a:buNone/>
            </a:pPr>
            <a:r>
              <a:rPr lang="en" i="0" u="none" strike="noStrike" cap="none" dirty="0">
                <a:solidFill>
                  <a:srgbClr val="434343"/>
                </a:solidFill>
                <a:latin typeface="Lexend"/>
                <a:ea typeface="Lexend"/>
                <a:cs typeface="Lexend"/>
                <a:sym typeface="Lexend"/>
              </a:rPr>
              <a:t>Read  </a:t>
            </a:r>
            <a:r>
              <a:rPr lang="en" i="0" u="sng" strike="noStrike" cap="none" dirty="0">
                <a:solidFill>
                  <a:schemeClr val="hlink"/>
                </a:solidFill>
                <a:latin typeface="Lexend"/>
                <a:ea typeface="Lexend"/>
                <a:cs typeface="Lexend"/>
                <a:sym typeface="Lexend"/>
                <a:hlinkClick r:id="rId3"/>
              </a:rPr>
              <a:t>Code Conventions for the Java Programming Language: 1. Introduction</a:t>
            </a:r>
            <a:r>
              <a:rPr lang="en" i="0" u="none" strike="noStrike" cap="none" dirty="0">
                <a:solidFill>
                  <a:srgbClr val="434343"/>
                </a:solidFill>
                <a:latin typeface="Lexend"/>
                <a:ea typeface="Lexend"/>
                <a:cs typeface="Lexend"/>
                <a:sym typeface="Lexend"/>
              </a:rPr>
              <a:t> </a:t>
            </a:r>
            <a:endParaRPr i="0" u="none" strike="noStrike" cap="none" dirty="0">
              <a:solidFill>
                <a:srgbClr val="434343"/>
              </a:solidFill>
              <a:latin typeface="Lexend"/>
              <a:ea typeface="Lexend"/>
              <a:cs typeface="Lexend"/>
              <a:sym typeface="Lexend"/>
            </a:endParaRPr>
          </a:p>
          <a:p>
            <a:pPr marL="0" marR="0" lvl="0" indent="0" algn="l" rtl="0">
              <a:lnSpc>
                <a:spcPct val="100000"/>
              </a:lnSpc>
              <a:spcBef>
                <a:spcPts val="700"/>
              </a:spcBef>
              <a:spcAft>
                <a:spcPts val="0"/>
              </a:spcAft>
              <a:buClr>
                <a:srgbClr val="000000"/>
              </a:buClr>
              <a:buSzPts val="1100"/>
              <a:buFont typeface="Arial"/>
              <a:buNone/>
            </a:pPr>
            <a:r>
              <a:rPr lang="en" i="0" u="none" strike="noStrike" cap="none" dirty="0">
                <a:solidFill>
                  <a:srgbClr val="434343"/>
                </a:solidFill>
                <a:latin typeface="Lexend"/>
                <a:ea typeface="Lexend"/>
                <a:cs typeface="Lexend"/>
                <a:sym typeface="Lexend"/>
              </a:rPr>
              <a:t>We will follow the following when implementing code   </a:t>
            </a:r>
            <a:endParaRPr i="0" u="none" strike="noStrike" cap="none" dirty="0">
              <a:solidFill>
                <a:srgbClr val="434343"/>
              </a:solidFill>
              <a:latin typeface="Lexend"/>
              <a:ea typeface="Lexend"/>
              <a:cs typeface="Lexend"/>
              <a:sym typeface="Lexend"/>
            </a:endParaRPr>
          </a:p>
          <a:p>
            <a:pPr marL="457200" marR="0" lvl="0" indent="-317500" algn="l" rtl="0">
              <a:lnSpc>
                <a:spcPct val="100000"/>
              </a:lnSpc>
              <a:spcBef>
                <a:spcPts val="700"/>
              </a:spcBef>
              <a:spcAft>
                <a:spcPts val="0"/>
              </a:spcAft>
              <a:buClr>
                <a:srgbClr val="434343"/>
              </a:buClr>
              <a:buSzPts val="1400"/>
              <a:buFont typeface="Lexend"/>
              <a:buChar char="•"/>
            </a:pPr>
            <a:r>
              <a:rPr lang="en" i="0" u="sng" strike="noStrike" cap="none" dirty="0">
                <a:solidFill>
                  <a:schemeClr val="hlink"/>
                </a:solidFill>
                <a:latin typeface="Lexend"/>
                <a:ea typeface="Lexend"/>
                <a:cs typeface="Lexend"/>
                <a:sym typeface="Lexend"/>
                <a:hlinkClick r:id="rId4"/>
              </a:rPr>
              <a:t>Naming Conventions - Java</a:t>
            </a:r>
            <a:endParaRPr i="0" u="none" strike="noStrike" cap="none" dirty="0">
              <a:solidFill>
                <a:srgbClr val="434343"/>
              </a:solidFill>
              <a:latin typeface="Lexend"/>
              <a:ea typeface="Lexend"/>
              <a:cs typeface="Lexend"/>
              <a:sym typeface="Lexend"/>
            </a:endParaRPr>
          </a:p>
          <a:p>
            <a:pPr marL="914400" marR="0" lvl="1" indent="-317500" algn="l" rtl="0">
              <a:lnSpc>
                <a:spcPct val="100000"/>
              </a:lnSpc>
              <a:spcBef>
                <a:spcPts val="0"/>
              </a:spcBef>
              <a:spcAft>
                <a:spcPts val="0"/>
              </a:spcAft>
              <a:buClr>
                <a:schemeClr val="dk1"/>
              </a:buClr>
              <a:buSzPts val="1400"/>
              <a:buFont typeface="Lexend"/>
              <a:buChar char="–"/>
            </a:pPr>
            <a:r>
              <a:rPr lang="en" i="0" u="none" strike="noStrike" cap="none" dirty="0">
                <a:solidFill>
                  <a:schemeClr val="dk1"/>
                </a:solidFill>
                <a:latin typeface="Lexend"/>
                <a:ea typeface="Lexend"/>
                <a:cs typeface="Lexend"/>
                <a:sym typeface="Lexend"/>
              </a:rPr>
              <a:t>Class name - </a:t>
            </a:r>
            <a:r>
              <a:rPr lang="en" i="0" u="none" strike="noStrike" cap="none" dirty="0" err="1">
                <a:solidFill>
                  <a:schemeClr val="dk1"/>
                </a:solidFill>
                <a:latin typeface="Lexend"/>
                <a:ea typeface="Lexend"/>
                <a:cs typeface="Lexend"/>
                <a:sym typeface="Lexend"/>
              </a:rPr>
              <a:t>FancyCars</a:t>
            </a:r>
            <a:endParaRPr i="0" u="none" strike="noStrike" cap="none" dirty="0">
              <a:solidFill>
                <a:schemeClr val="dk1"/>
              </a:solidFill>
              <a:latin typeface="Lexend"/>
              <a:ea typeface="Lexend"/>
              <a:cs typeface="Lexend"/>
              <a:sym typeface="Lexend"/>
            </a:endParaRPr>
          </a:p>
          <a:p>
            <a:pPr marL="914400" marR="0" lvl="1" indent="-317500" algn="l" rtl="0">
              <a:lnSpc>
                <a:spcPct val="100000"/>
              </a:lnSpc>
              <a:spcBef>
                <a:spcPts val="0"/>
              </a:spcBef>
              <a:spcAft>
                <a:spcPts val="0"/>
              </a:spcAft>
              <a:buClr>
                <a:schemeClr val="dk1"/>
              </a:buClr>
              <a:buSzPts val="1400"/>
              <a:buFont typeface="Lexend"/>
              <a:buChar char="–"/>
            </a:pPr>
            <a:r>
              <a:rPr lang="en" i="0" u="none" strike="noStrike" cap="none" dirty="0">
                <a:solidFill>
                  <a:schemeClr val="dk1"/>
                </a:solidFill>
                <a:latin typeface="Lexend"/>
                <a:ea typeface="Lexend"/>
                <a:cs typeface="Lexend"/>
                <a:sym typeface="Lexend"/>
              </a:rPr>
              <a:t>Methods - </a:t>
            </a:r>
            <a:r>
              <a:rPr lang="en" i="0" u="none" strike="noStrike" cap="none" dirty="0" err="1">
                <a:solidFill>
                  <a:schemeClr val="dk1"/>
                </a:solidFill>
                <a:latin typeface="Lexend"/>
                <a:ea typeface="Lexend"/>
                <a:cs typeface="Lexend"/>
                <a:sym typeface="Lexend"/>
              </a:rPr>
              <a:t>driveOnlyOnSunday</a:t>
            </a:r>
            <a:r>
              <a:rPr lang="en" i="0" u="none" strike="noStrike" cap="none" dirty="0">
                <a:solidFill>
                  <a:schemeClr val="dk1"/>
                </a:solidFill>
                <a:latin typeface="Lexend"/>
                <a:ea typeface="Lexend"/>
                <a:cs typeface="Lexend"/>
                <a:sym typeface="Lexend"/>
              </a:rPr>
              <a:t>()</a:t>
            </a:r>
            <a:endParaRPr i="0" u="none" strike="noStrike" cap="none" dirty="0">
              <a:solidFill>
                <a:schemeClr val="dk1"/>
              </a:solidFill>
              <a:latin typeface="Lexend"/>
              <a:ea typeface="Lexend"/>
              <a:cs typeface="Lexend"/>
              <a:sym typeface="Lexend"/>
            </a:endParaRPr>
          </a:p>
          <a:p>
            <a:pPr marL="914400" marR="0" lvl="1" indent="-317500" algn="l" rtl="0">
              <a:lnSpc>
                <a:spcPct val="100000"/>
              </a:lnSpc>
              <a:spcBef>
                <a:spcPts val="0"/>
              </a:spcBef>
              <a:spcAft>
                <a:spcPts val="0"/>
              </a:spcAft>
              <a:buClr>
                <a:schemeClr val="dk1"/>
              </a:buClr>
              <a:buSzPts val="1400"/>
              <a:buFont typeface="Lexend"/>
              <a:buChar char="–"/>
            </a:pPr>
            <a:r>
              <a:rPr lang="en" i="0" u="none" strike="noStrike" cap="none" dirty="0">
                <a:solidFill>
                  <a:schemeClr val="dk1"/>
                </a:solidFill>
                <a:latin typeface="Lexend"/>
                <a:ea typeface="Lexend"/>
                <a:cs typeface="Lexend"/>
                <a:sym typeface="Lexend"/>
              </a:rPr>
              <a:t>Variables - </a:t>
            </a:r>
            <a:r>
              <a:rPr lang="en" i="0" u="none" strike="noStrike" cap="none" dirty="0" err="1">
                <a:solidFill>
                  <a:schemeClr val="dk1"/>
                </a:solidFill>
                <a:latin typeface="Lexend"/>
                <a:ea typeface="Lexend"/>
                <a:cs typeface="Lexend"/>
                <a:sym typeface="Lexend"/>
              </a:rPr>
              <a:t>numberCylinders</a:t>
            </a:r>
            <a:endParaRPr i="0" u="none" strike="noStrike" cap="none" dirty="0">
              <a:solidFill>
                <a:schemeClr val="dk1"/>
              </a:solidFill>
              <a:latin typeface="Lexend"/>
              <a:ea typeface="Lexend"/>
              <a:cs typeface="Lexend"/>
              <a:sym typeface="Lexend"/>
            </a:endParaRPr>
          </a:p>
          <a:p>
            <a:pPr marL="914400" marR="0" lvl="1" indent="-317500" algn="l" rtl="0">
              <a:lnSpc>
                <a:spcPct val="100000"/>
              </a:lnSpc>
              <a:spcBef>
                <a:spcPts val="0"/>
              </a:spcBef>
              <a:spcAft>
                <a:spcPts val="0"/>
              </a:spcAft>
              <a:buClr>
                <a:schemeClr val="dk1"/>
              </a:buClr>
              <a:buSzPts val="1400"/>
              <a:buFont typeface="Lexend"/>
              <a:buChar char="–"/>
            </a:pPr>
            <a:r>
              <a:rPr lang="en" i="0" u="none" strike="noStrike" cap="none" dirty="0">
                <a:solidFill>
                  <a:schemeClr val="dk1"/>
                </a:solidFill>
                <a:latin typeface="Lexend"/>
                <a:ea typeface="Lexend"/>
                <a:cs typeface="Lexend"/>
                <a:sym typeface="Lexend"/>
              </a:rPr>
              <a:t>constant - MAX_STUDENTS</a:t>
            </a:r>
            <a:endParaRPr i="0" u="none" strike="noStrike" cap="none" dirty="0">
              <a:solidFill>
                <a:srgbClr val="434343"/>
              </a:solidFill>
              <a:latin typeface="Lexend"/>
              <a:ea typeface="Lexend"/>
              <a:cs typeface="Lexend"/>
              <a:sym typeface="Lexend"/>
            </a:endParaRPr>
          </a:p>
          <a:p>
            <a:pPr marL="457200" marR="0" lvl="0" indent="-317500" algn="l" rtl="0">
              <a:lnSpc>
                <a:spcPct val="100000"/>
              </a:lnSpc>
              <a:spcBef>
                <a:spcPts val="700"/>
              </a:spcBef>
              <a:spcAft>
                <a:spcPts val="0"/>
              </a:spcAft>
              <a:buClr>
                <a:srgbClr val="434343"/>
              </a:buClr>
              <a:buSzPts val="1400"/>
              <a:buFont typeface="Lexend"/>
              <a:buChar char="•"/>
            </a:pPr>
            <a:r>
              <a:rPr lang="en" i="0" u="sng" strike="noStrike" cap="none" dirty="0">
                <a:solidFill>
                  <a:schemeClr val="hlink"/>
                </a:solidFill>
                <a:latin typeface="Lexend"/>
                <a:ea typeface="Lexend"/>
                <a:cs typeface="Lexend"/>
                <a:sym typeface="Lexend"/>
                <a:hlinkClick r:id="rId5"/>
              </a:rPr>
              <a:t>One constant or variable declaration per line since it encourages commenting</a:t>
            </a:r>
            <a:r>
              <a:rPr lang="en" i="0" u="none" strike="noStrike" cap="none" dirty="0">
                <a:solidFill>
                  <a:srgbClr val="000000"/>
                </a:solidFill>
                <a:latin typeface="Lexend"/>
                <a:ea typeface="Lexend"/>
                <a:cs typeface="Lexend"/>
                <a:sym typeface="Lexend"/>
              </a:rPr>
              <a:t> and </a:t>
            </a:r>
            <a:r>
              <a:rPr lang="en" i="0" u="sng" strike="noStrike" cap="none" dirty="0">
                <a:solidFill>
                  <a:schemeClr val="hlink"/>
                </a:solidFill>
                <a:latin typeface="Lexend"/>
                <a:ea typeface="Lexend"/>
                <a:cs typeface="Lexend"/>
                <a:sym typeface="Lexend"/>
                <a:hlinkClick r:id="rId6"/>
              </a:rPr>
              <a:t>Put constant and </a:t>
            </a:r>
            <a:r>
              <a:rPr lang="en" u="sng" dirty="0">
                <a:solidFill>
                  <a:schemeClr val="hlink"/>
                </a:solidFill>
                <a:latin typeface="Lexend"/>
                <a:ea typeface="Lexend"/>
                <a:cs typeface="Lexend"/>
                <a:sym typeface="Lexend"/>
                <a:hlinkClick r:id="rId6"/>
              </a:rPr>
              <a:t>variable</a:t>
            </a:r>
            <a:r>
              <a:rPr lang="en" i="0" u="sng" strike="noStrike" cap="none" dirty="0">
                <a:solidFill>
                  <a:schemeClr val="hlink"/>
                </a:solidFill>
                <a:latin typeface="Lexend"/>
                <a:ea typeface="Lexend"/>
                <a:cs typeface="Lexend"/>
                <a:sym typeface="Lexend"/>
                <a:hlinkClick r:id="rId6"/>
              </a:rPr>
              <a:t> declarations at the beginning of method blocks and initialize.</a:t>
            </a:r>
            <a:r>
              <a:rPr lang="en" i="0" u="none" strike="noStrike" cap="none" dirty="0">
                <a:solidFill>
                  <a:srgbClr val="434343"/>
                </a:solidFill>
                <a:latin typeface="Lexend"/>
                <a:ea typeface="Lexend"/>
                <a:cs typeface="Lexend"/>
                <a:sym typeface="Lexend"/>
              </a:rPr>
              <a:t> </a:t>
            </a:r>
            <a:endParaRPr i="0" u="none" strike="noStrike" cap="none" dirty="0">
              <a:solidFill>
                <a:srgbClr val="434343"/>
              </a:solidFill>
              <a:latin typeface="Lexend"/>
              <a:ea typeface="Lexend"/>
              <a:cs typeface="Lexend"/>
              <a:sym typeface="Lexend"/>
            </a:endParaRPr>
          </a:p>
          <a:p>
            <a:pPr marL="685800" marR="0" lvl="0" indent="0" algn="l" rtl="0">
              <a:lnSpc>
                <a:spcPct val="115000"/>
              </a:lnSpc>
              <a:spcBef>
                <a:spcPts val="0"/>
              </a:spcBef>
              <a:spcAft>
                <a:spcPts val="0"/>
              </a:spcAft>
              <a:buClr>
                <a:srgbClr val="000000"/>
              </a:buClr>
              <a:buSzPts val="1000"/>
              <a:buFont typeface="Arial"/>
              <a:buNone/>
            </a:pPr>
            <a:r>
              <a:rPr lang="en" i="0" u="none" strike="noStrike" cap="none" dirty="0">
                <a:solidFill>
                  <a:srgbClr val="3F7F5F"/>
                </a:solidFill>
                <a:highlight>
                  <a:srgbClr val="FFFFFF"/>
                </a:highlight>
                <a:latin typeface="Lexend"/>
                <a:ea typeface="Lexend"/>
                <a:cs typeface="Lexend"/>
                <a:sym typeface="Lexend"/>
              </a:rPr>
              <a:t>// Constants for grade weights</a:t>
            </a:r>
            <a:endParaRPr i="0" u="none" strike="noStrike" cap="none" dirty="0">
              <a:solidFill>
                <a:srgbClr val="3F7F5F"/>
              </a:solidFill>
              <a:highlight>
                <a:srgbClr val="FFFFFF"/>
              </a:highlight>
              <a:latin typeface="Lexend"/>
              <a:ea typeface="Lexend"/>
              <a:cs typeface="Lexend"/>
              <a:sym typeface="Lexend"/>
            </a:endParaRPr>
          </a:p>
          <a:p>
            <a:pPr marL="685800" marR="0" lvl="0" indent="0" algn="l" rtl="0">
              <a:lnSpc>
                <a:spcPct val="115000"/>
              </a:lnSpc>
              <a:spcBef>
                <a:spcPts val="0"/>
              </a:spcBef>
              <a:spcAft>
                <a:spcPts val="0"/>
              </a:spcAft>
              <a:buClr>
                <a:srgbClr val="000000"/>
              </a:buClr>
              <a:buSzPts val="1000"/>
              <a:buFont typeface="Arial"/>
              <a:buNone/>
            </a:pPr>
            <a:r>
              <a:rPr lang="en" b="1" i="0" u="none" strike="noStrike" cap="none" dirty="0">
                <a:solidFill>
                  <a:srgbClr val="7F0055"/>
                </a:solidFill>
                <a:highlight>
                  <a:srgbClr val="FFFFFF"/>
                </a:highlight>
                <a:latin typeface="Lexend"/>
                <a:ea typeface="Lexend"/>
                <a:cs typeface="Lexend"/>
                <a:sym typeface="Lexend"/>
              </a:rPr>
              <a:t>final</a:t>
            </a:r>
            <a:r>
              <a:rPr lang="en" i="0" u="none" strike="noStrike" cap="none" dirty="0">
                <a:solidFill>
                  <a:schemeClr val="dk1"/>
                </a:solidFill>
                <a:highlight>
                  <a:srgbClr val="FFFFFF"/>
                </a:highlight>
                <a:latin typeface="Lexend"/>
                <a:ea typeface="Lexend"/>
                <a:cs typeface="Lexend"/>
                <a:sym typeface="Lexend"/>
              </a:rPr>
              <a:t> </a:t>
            </a:r>
            <a:r>
              <a:rPr lang="en" b="1" i="0" u="none" strike="noStrike" cap="none" dirty="0">
                <a:solidFill>
                  <a:srgbClr val="7F0055"/>
                </a:solidFill>
                <a:highlight>
                  <a:srgbClr val="FFFFFF"/>
                </a:highlight>
                <a:latin typeface="Lexend"/>
                <a:ea typeface="Lexend"/>
                <a:cs typeface="Lexend"/>
                <a:sym typeface="Lexend"/>
              </a:rPr>
              <a:t>double</a:t>
            </a:r>
            <a:r>
              <a:rPr lang="en" i="0" u="none" strike="noStrike" cap="none" dirty="0">
                <a:solidFill>
                  <a:schemeClr val="dk1"/>
                </a:solidFill>
                <a:highlight>
                  <a:srgbClr val="FFFFFF"/>
                </a:highlight>
                <a:latin typeface="Lexend"/>
                <a:ea typeface="Lexend"/>
                <a:cs typeface="Lexend"/>
                <a:sym typeface="Lexend"/>
              </a:rPr>
              <a:t> </a:t>
            </a:r>
            <a:r>
              <a:rPr lang="en" i="0" u="none" strike="noStrike" cap="none" dirty="0">
                <a:solidFill>
                  <a:srgbClr val="6A3E3E"/>
                </a:solidFill>
                <a:highlight>
                  <a:srgbClr val="FFFFFF"/>
                </a:highlight>
                <a:latin typeface="Lexend"/>
                <a:ea typeface="Lexend"/>
                <a:cs typeface="Lexend"/>
                <a:sym typeface="Lexend"/>
              </a:rPr>
              <a:t>CLASS_PART_PERCENT</a:t>
            </a:r>
            <a:r>
              <a:rPr lang="en" i="0" u="none" strike="noStrike" cap="none" dirty="0">
                <a:solidFill>
                  <a:schemeClr val="dk1"/>
                </a:solidFill>
                <a:highlight>
                  <a:srgbClr val="FFFFFF"/>
                </a:highlight>
                <a:latin typeface="Lexend"/>
                <a:ea typeface="Lexend"/>
                <a:cs typeface="Lexend"/>
                <a:sym typeface="Lexend"/>
              </a:rPr>
              <a:t> = .15;</a:t>
            </a:r>
            <a:endParaRPr i="0" u="none" strike="noStrike" cap="none" dirty="0">
              <a:solidFill>
                <a:schemeClr val="dk1"/>
              </a:solidFill>
              <a:highlight>
                <a:srgbClr val="FFFFFF"/>
              </a:highlight>
              <a:latin typeface="Lexend"/>
              <a:ea typeface="Lexend"/>
              <a:cs typeface="Lexend"/>
              <a:sym typeface="Lexend"/>
            </a:endParaRPr>
          </a:p>
          <a:p>
            <a:pPr marL="685800" marR="0" lvl="0" indent="0" algn="l" rtl="0">
              <a:lnSpc>
                <a:spcPct val="115000"/>
              </a:lnSpc>
              <a:spcBef>
                <a:spcPts val="0"/>
              </a:spcBef>
              <a:spcAft>
                <a:spcPts val="0"/>
              </a:spcAft>
              <a:buClr>
                <a:srgbClr val="000000"/>
              </a:buClr>
              <a:buSzPts val="1000"/>
              <a:buFont typeface="Arial"/>
              <a:buNone/>
            </a:pPr>
            <a:r>
              <a:rPr lang="en" b="1" i="0" u="none" strike="noStrike" cap="none" dirty="0">
                <a:solidFill>
                  <a:srgbClr val="7F0055"/>
                </a:solidFill>
                <a:highlight>
                  <a:srgbClr val="FFFFFF"/>
                </a:highlight>
                <a:latin typeface="Lexend"/>
                <a:ea typeface="Lexend"/>
                <a:cs typeface="Lexend"/>
                <a:sym typeface="Lexend"/>
              </a:rPr>
              <a:t>final</a:t>
            </a:r>
            <a:r>
              <a:rPr lang="en" i="0" u="none" strike="noStrike" cap="none" dirty="0">
                <a:solidFill>
                  <a:schemeClr val="dk1"/>
                </a:solidFill>
                <a:highlight>
                  <a:srgbClr val="FFFFFF"/>
                </a:highlight>
                <a:latin typeface="Lexend"/>
                <a:ea typeface="Lexend"/>
                <a:cs typeface="Lexend"/>
                <a:sym typeface="Lexend"/>
              </a:rPr>
              <a:t> </a:t>
            </a:r>
            <a:r>
              <a:rPr lang="en" b="1" i="0" u="none" strike="noStrike" cap="none" dirty="0">
                <a:solidFill>
                  <a:srgbClr val="7F0055"/>
                </a:solidFill>
                <a:highlight>
                  <a:srgbClr val="FFFFFF"/>
                </a:highlight>
                <a:latin typeface="Lexend"/>
                <a:ea typeface="Lexend"/>
                <a:cs typeface="Lexend"/>
                <a:sym typeface="Lexend"/>
              </a:rPr>
              <a:t>double</a:t>
            </a:r>
            <a:r>
              <a:rPr lang="en" i="0" u="none" strike="noStrike" cap="none" dirty="0">
                <a:solidFill>
                  <a:schemeClr val="dk1"/>
                </a:solidFill>
                <a:highlight>
                  <a:srgbClr val="FFFFFF"/>
                </a:highlight>
                <a:latin typeface="Lexend"/>
                <a:ea typeface="Lexend"/>
                <a:cs typeface="Lexend"/>
                <a:sym typeface="Lexend"/>
              </a:rPr>
              <a:t> </a:t>
            </a:r>
            <a:r>
              <a:rPr lang="en" i="0" u="none" strike="noStrike" cap="none" dirty="0">
                <a:solidFill>
                  <a:srgbClr val="6A3E3E"/>
                </a:solidFill>
                <a:highlight>
                  <a:srgbClr val="FFFFFF"/>
                </a:highlight>
                <a:latin typeface="Lexend"/>
                <a:ea typeface="Lexend"/>
                <a:cs typeface="Lexend"/>
                <a:sym typeface="Lexend"/>
              </a:rPr>
              <a:t>GUIDE_EXPL_PERCENT</a:t>
            </a:r>
            <a:r>
              <a:rPr lang="en" i="0" u="none" strike="noStrike" cap="none" dirty="0">
                <a:solidFill>
                  <a:schemeClr val="dk1"/>
                </a:solidFill>
                <a:highlight>
                  <a:srgbClr val="FFFFFF"/>
                </a:highlight>
                <a:latin typeface="Lexend"/>
                <a:ea typeface="Lexend"/>
                <a:cs typeface="Lexend"/>
                <a:sym typeface="Lexend"/>
              </a:rPr>
              <a:t> = .2;</a:t>
            </a:r>
            <a:endParaRPr i="0" u="none" strike="noStrike" cap="none" dirty="0">
              <a:solidFill>
                <a:schemeClr val="dk1"/>
              </a:solidFill>
              <a:highlight>
                <a:srgbClr val="FFFFFF"/>
              </a:highlight>
              <a:latin typeface="Lexend"/>
              <a:ea typeface="Lexend"/>
              <a:cs typeface="Lexend"/>
              <a:sym typeface="Lexend"/>
            </a:endParaRPr>
          </a:p>
          <a:p>
            <a:pPr marL="368300" marR="0" lvl="0" indent="317500" algn="l" rtl="0">
              <a:lnSpc>
                <a:spcPct val="115000"/>
              </a:lnSpc>
              <a:spcBef>
                <a:spcPts val="0"/>
              </a:spcBef>
              <a:spcAft>
                <a:spcPts val="0"/>
              </a:spcAft>
              <a:buClr>
                <a:srgbClr val="000000"/>
              </a:buClr>
              <a:buSzPts val="1000"/>
              <a:buFont typeface="Arial"/>
              <a:buNone/>
            </a:pPr>
            <a:r>
              <a:rPr lang="en" i="0" u="none" strike="noStrike" cap="none" dirty="0">
                <a:solidFill>
                  <a:srgbClr val="3F7F5F"/>
                </a:solidFill>
                <a:highlight>
                  <a:srgbClr val="FFFFFF"/>
                </a:highlight>
                <a:latin typeface="Lexend"/>
                <a:ea typeface="Lexend"/>
                <a:cs typeface="Lexend"/>
                <a:sym typeface="Lexend"/>
              </a:rPr>
              <a:t>// Initialize Variables to hold possible grade for each category</a:t>
            </a:r>
            <a:endParaRPr i="0" u="none" strike="noStrike" cap="none" dirty="0">
              <a:solidFill>
                <a:srgbClr val="3F7F5F"/>
              </a:solidFill>
              <a:highlight>
                <a:srgbClr val="FFFFFF"/>
              </a:highlight>
              <a:latin typeface="Lexend"/>
              <a:ea typeface="Lexend"/>
              <a:cs typeface="Lexend"/>
              <a:sym typeface="Lexend"/>
            </a:endParaRPr>
          </a:p>
          <a:p>
            <a:pPr marL="25400" marR="0" lvl="0" indent="0" algn="l" rtl="0">
              <a:lnSpc>
                <a:spcPct val="115000"/>
              </a:lnSpc>
              <a:spcBef>
                <a:spcPts val="0"/>
              </a:spcBef>
              <a:spcAft>
                <a:spcPts val="0"/>
              </a:spcAft>
              <a:buClr>
                <a:srgbClr val="000000"/>
              </a:buClr>
              <a:buSzPts val="1000"/>
              <a:buFont typeface="Arial"/>
              <a:buNone/>
            </a:pPr>
            <a:r>
              <a:rPr lang="en" i="0" u="none" strike="noStrike" cap="none" dirty="0">
                <a:solidFill>
                  <a:schemeClr val="dk1"/>
                </a:solidFill>
                <a:highlight>
                  <a:srgbClr val="FFFFFF"/>
                </a:highlight>
                <a:latin typeface="Lexend"/>
                <a:ea typeface="Lexend"/>
                <a:cs typeface="Lexend"/>
                <a:sym typeface="Lexend"/>
              </a:rPr>
              <a:t>		</a:t>
            </a:r>
            <a:r>
              <a:rPr lang="en" b="1" i="0" u="none" strike="noStrike" cap="none" dirty="0">
                <a:solidFill>
                  <a:srgbClr val="7F0055"/>
                </a:solidFill>
                <a:highlight>
                  <a:srgbClr val="FFFFFF"/>
                </a:highlight>
                <a:latin typeface="Lexend"/>
                <a:ea typeface="Lexend"/>
                <a:cs typeface="Lexend"/>
                <a:sym typeface="Lexend"/>
              </a:rPr>
              <a:t>double</a:t>
            </a:r>
            <a:r>
              <a:rPr lang="en" i="0" u="none" strike="noStrike" cap="none" dirty="0">
                <a:solidFill>
                  <a:schemeClr val="dk1"/>
                </a:solidFill>
                <a:highlight>
                  <a:srgbClr val="FFFFFF"/>
                </a:highlight>
                <a:latin typeface="Lexend"/>
                <a:ea typeface="Lexend"/>
                <a:cs typeface="Lexend"/>
                <a:sym typeface="Lexend"/>
              </a:rPr>
              <a:t> </a:t>
            </a:r>
            <a:r>
              <a:rPr lang="en" i="0" u="none" strike="noStrike" cap="none" dirty="0" err="1">
                <a:solidFill>
                  <a:srgbClr val="6A3E3E"/>
                </a:solidFill>
                <a:highlight>
                  <a:srgbClr val="FFFFFF"/>
                </a:highlight>
                <a:latin typeface="Lexend"/>
                <a:ea typeface="Lexend"/>
                <a:cs typeface="Lexend"/>
                <a:sym typeface="Lexend"/>
              </a:rPr>
              <a:t>guideExpl</a:t>
            </a:r>
            <a:r>
              <a:rPr lang="en" i="0" u="none" strike="noStrike" cap="none" dirty="0">
                <a:solidFill>
                  <a:schemeClr val="dk1"/>
                </a:solidFill>
                <a:highlight>
                  <a:srgbClr val="FFFFFF"/>
                </a:highlight>
                <a:latin typeface="Lexend"/>
                <a:ea typeface="Lexend"/>
                <a:cs typeface="Lexend"/>
                <a:sym typeface="Lexend"/>
              </a:rPr>
              <a:t> = 0;</a:t>
            </a:r>
            <a:endParaRPr i="0" u="none" strike="noStrike" cap="none" dirty="0">
              <a:solidFill>
                <a:schemeClr val="dk1"/>
              </a:solidFill>
              <a:highlight>
                <a:srgbClr val="FFFFFF"/>
              </a:highlight>
              <a:latin typeface="Lexend"/>
              <a:ea typeface="Lexend"/>
              <a:cs typeface="Lexend"/>
              <a:sym typeface="Lexend"/>
            </a:endParaRPr>
          </a:p>
          <a:p>
            <a:pPr marL="25400" marR="0" lvl="0" indent="0" algn="l" rtl="0">
              <a:lnSpc>
                <a:spcPct val="115000"/>
              </a:lnSpc>
              <a:spcBef>
                <a:spcPts val="0"/>
              </a:spcBef>
              <a:spcAft>
                <a:spcPts val="0"/>
              </a:spcAft>
              <a:buClr>
                <a:srgbClr val="000000"/>
              </a:buClr>
              <a:buSzPts val="1000"/>
              <a:buFont typeface="Arial"/>
              <a:buNone/>
            </a:pPr>
            <a:r>
              <a:rPr lang="en" i="0" u="none" strike="noStrike" cap="none" dirty="0">
                <a:solidFill>
                  <a:schemeClr val="dk1"/>
                </a:solidFill>
                <a:highlight>
                  <a:srgbClr val="FFFFFF"/>
                </a:highlight>
                <a:latin typeface="Lexend"/>
                <a:ea typeface="Lexend"/>
                <a:cs typeface="Lexend"/>
                <a:sym typeface="Lexend"/>
              </a:rPr>
              <a:t>		</a:t>
            </a:r>
            <a:r>
              <a:rPr lang="en" b="1" i="0" u="none" strike="noStrike" cap="none" dirty="0">
                <a:solidFill>
                  <a:srgbClr val="7F0055"/>
                </a:solidFill>
                <a:highlight>
                  <a:srgbClr val="FFFFFF"/>
                </a:highlight>
                <a:latin typeface="Lexend"/>
                <a:ea typeface="Lexend"/>
                <a:cs typeface="Lexend"/>
                <a:sym typeface="Lexend"/>
              </a:rPr>
              <a:t>double</a:t>
            </a:r>
            <a:r>
              <a:rPr lang="en" i="0" u="none" strike="noStrike" cap="none" dirty="0">
                <a:solidFill>
                  <a:schemeClr val="dk1"/>
                </a:solidFill>
                <a:highlight>
                  <a:srgbClr val="FFFFFF"/>
                </a:highlight>
                <a:latin typeface="Lexend"/>
                <a:ea typeface="Lexend"/>
                <a:cs typeface="Lexend"/>
                <a:sym typeface="Lexend"/>
              </a:rPr>
              <a:t> </a:t>
            </a:r>
            <a:r>
              <a:rPr lang="en" i="0" u="none" strike="noStrike" cap="none" dirty="0" err="1">
                <a:solidFill>
                  <a:srgbClr val="6A3E3E"/>
                </a:solidFill>
                <a:highlight>
                  <a:srgbClr val="FFFFFF"/>
                </a:highlight>
                <a:latin typeface="Lexend"/>
                <a:ea typeface="Lexend"/>
                <a:cs typeface="Lexend"/>
                <a:sym typeface="Lexend"/>
              </a:rPr>
              <a:t>classPart</a:t>
            </a:r>
            <a:r>
              <a:rPr lang="en" i="0" u="none" strike="noStrike" cap="none" dirty="0">
                <a:solidFill>
                  <a:schemeClr val="dk1"/>
                </a:solidFill>
                <a:highlight>
                  <a:srgbClr val="FFFFFF"/>
                </a:highlight>
                <a:latin typeface="Lexend"/>
                <a:ea typeface="Lexend"/>
                <a:cs typeface="Lexend"/>
                <a:sym typeface="Lexend"/>
              </a:rPr>
              <a:t> = 0;</a:t>
            </a:r>
            <a:endParaRPr i="0" u="none" strike="noStrike" cap="none" dirty="0">
              <a:solidFill>
                <a:schemeClr val="dk1"/>
              </a:solidFill>
              <a:highlight>
                <a:srgbClr val="FFFFFF"/>
              </a:highlight>
              <a:latin typeface="Lexend"/>
              <a:ea typeface="Lexend"/>
              <a:cs typeface="Lexend"/>
              <a:sym typeface="Lexend"/>
            </a:endParaRPr>
          </a:p>
          <a:p>
            <a:pPr marL="0" marR="0" lvl="0" indent="0" algn="l" rtl="0">
              <a:lnSpc>
                <a:spcPct val="100000"/>
              </a:lnSpc>
              <a:spcBef>
                <a:spcPts val="700"/>
              </a:spcBef>
              <a:spcAft>
                <a:spcPts val="0"/>
              </a:spcAft>
              <a:buNone/>
            </a:pPr>
            <a:endParaRPr i="0" u="none" strike="noStrike" cap="none" dirty="0">
              <a:solidFill>
                <a:srgbClr val="000000"/>
              </a:solidFill>
              <a:latin typeface="Lexend"/>
              <a:ea typeface="Lexend"/>
              <a:cs typeface="Lexend"/>
              <a:sym typeface="Lexend"/>
            </a:endParaRPr>
          </a:p>
        </p:txBody>
      </p:sp>
      <p:sp>
        <p:nvSpPr>
          <p:cNvPr id="215" name="Google Shape;215;g3ab4db5c9c8_0_0"/>
          <p:cNvSpPr txBox="1">
            <a:spLocks noGrp="1"/>
          </p:cNvSpPr>
          <p:nvPr>
            <p:ph type="title"/>
          </p:nvPr>
        </p:nvSpPr>
        <p:spPr>
          <a:xfrm>
            <a:off x="234113" y="107511"/>
            <a:ext cx="8520600" cy="4200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0714"/>
              <a:buNone/>
            </a:pPr>
            <a:r>
              <a:rPr lang="en"/>
              <a:t>Quality Coding Guide Using Industry Standards</a:t>
            </a:r>
            <a:endParaRPr/>
          </a:p>
        </p:txBody>
      </p:sp>
      <p:pic>
        <p:nvPicPr>
          <p:cNvPr id="216" name="Google Shape;216;g3ab4db5c9c8_0_0"/>
          <p:cNvPicPr preferRelativeResize="0"/>
          <p:nvPr/>
        </p:nvPicPr>
        <p:blipFill rotWithShape="1">
          <a:blip r:embed="rId7">
            <a:alphaModFix/>
          </a:blip>
          <a:srcRect/>
          <a:stretch/>
        </p:blipFill>
        <p:spPr>
          <a:xfrm>
            <a:off x="8080964" y="152288"/>
            <a:ext cx="862167" cy="686437"/>
          </a:xfrm>
          <a:prstGeom prst="rect">
            <a:avLst/>
          </a:prstGeom>
          <a:noFill/>
          <a:ln>
            <a:noFill/>
          </a:ln>
        </p:spPr>
      </p:pic>
      <p:pic>
        <p:nvPicPr>
          <p:cNvPr id="217" name="Google Shape;217;g3ab4db5c9c8_0_0"/>
          <p:cNvPicPr preferRelativeResize="0"/>
          <p:nvPr/>
        </p:nvPicPr>
        <p:blipFill rotWithShape="1">
          <a:blip r:embed="rId8">
            <a:alphaModFix/>
          </a:blip>
          <a:srcRect r="2439" b="42359"/>
          <a:stretch/>
        </p:blipFill>
        <p:spPr>
          <a:xfrm>
            <a:off x="6712563" y="1213281"/>
            <a:ext cx="2230556" cy="1029544"/>
          </a:xfrm>
          <a:prstGeom prst="rect">
            <a:avLst/>
          </a:prstGeom>
          <a:noFill/>
          <a:ln>
            <a:noFill/>
          </a:ln>
        </p:spPr>
      </p:pic>
      <p:pic>
        <p:nvPicPr>
          <p:cNvPr id="218" name="Google Shape;218;g3ab4db5c9c8_0_0" descr="Icon&#10;&#10;Description automatically generated"/>
          <p:cNvPicPr preferRelativeResize="0"/>
          <p:nvPr/>
        </p:nvPicPr>
        <p:blipFill rotWithShape="1">
          <a:blip r:embed="rId9">
            <a:alphaModFix/>
          </a:blip>
          <a:srcRect/>
          <a:stretch/>
        </p:blipFill>
        <p:spPr>
          <a:xfrm>
            <a:off x="4342263" y="1824684"/>
            <a:ext cx="727610" cy="5357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7"/>
          <p:cNvSpPr txBox="1">
            <a:spLocks noGrp="1"/>
          </p:cNvSpPr>
          <p:nvPr>
            <p:ph type="title"/>
          </p:nvPr>
        </p:nvSpPr>
        <p:spPr>
          <a:xfrm>
            <a:off x="229100" y="234775"/>
            <a:ext cx="55320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Declare and Initialize Variables</a:t>
            </a:r>
            <a:endParaRPr/>
          </a:p>
        </p:txBody>
      </p:sp>
      <p:sp>
        <p:nvSpPr>
          <p:cNvPr id="224" name="Google Shape;224;p17"/>
          <p:cNvSpPr txBox="1">
            <a:spLocks noGrp="1"/>
          </p:cNvSpPr>
          <p:nvPr>
            <p:ph type="body" idx="1"/>
          </p:nvPr>
        </p:nvSpPr>
        <p:spPr>
          <a:xfrm>
            <a:off x="101300" y="741975"/>
            <a:ext cx="5659800" cy="244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500"/>
              <a:t>Declare variables by defining what data type. </a:t>
            </a:r>
            <a:endParaRPr sz="1500"/>
          </a:p>
          <a:p>
            <a:pPr marL="0" lvl="0" indent="0" algn="l" rtl="0">
              <a:lnSpc>
                <a:spcPct val="115000"/>
              </a:lnSpc>
              <a:spcBef>
                <a:spcPts val="1200"/>
              </a:spcBef>
              <a:spcAft>
                <a:spcPts val="0"/>
              </a:spcAft>
              <a:buSzPts val="1800"/>
              <a:buNone/>
            </a:pPr>
            <a:r>
              <a:rPr lang="en" sz="1500"/>
              <a:t>Initializing a variable means to assign an initial value to it </a:t>
            </a:r>
            <a:endParaRPr sz="1500"/>
          </a:p>
          <a:p>
            <a:pPr marL="0" lvl="0" indent="0" algn="l" rtl="0">
              <a:lnSpc>
                <a:spcPct val="115000"/>
              </a:lnSpc>
              <a:spcBef>
                <a:spcPts val="1200"/>
              </a:spcBef>
              <a:spcAft>
                <a:spcPts val="0"/>
              </a:spcAft>
              <a:buSzPts val="1800"/>
              <a:buNone/>
            </a:pPr>
            <a:endParaRPr sz="1500"/>
          </a:p>
          <a:p>
            <a:pPr marL="0" lvl="0" indent="0" algn="l" rtl="0">
              <a:lnSpc>
                <a:spcPct val="115000"/>
              </a:lnSpc>
              <a:spcBef>
                <a:spcPts val="1200"/>
              </a:spcBef>
              <a:spcAft>
                <a:spcPts val="0"/>
              </a:spcAft>
              <a:buSzPts val="1800"/>
              <a:buNone/>
            </a:pPr>
            <a:r>
              <a:rPr lang="en" sz="1500"/>
              <a:t>You can declare and initialize in one step</a:t>
            </a:r>
            <a:endParaRPr sz="1500"/>
          </a:p>
          <a:p>
            <a:pPr marL="0" lvl="0" indent="0" algn="l" rtl="0">
              <a:lnSpc>
                <a:spcPct val="115000"/>
              </a:lnSpc>
              <a:spcBef>
                <a:spcPts val="1200"/>
              </a:spcBef>
              <a:spcAft>
                <a:spcPts val="0"/>
              </a:spcAft>
              <a:buSzPts val="1800"/>
              <a:buNone/>
            </a:pPr>
            <a:endParaRPr sz="1500"/>
          </a:p>
          <a:p>
            <a:pPr marL="0" lvl="0" indent="0" algn="l" rtl="0">
              <a:lnSpc>
                <a:spcPct val="115000"/>
              </a:lnSpc>
              <a:spcBef>
                <a:spcPts val="1200"/>
              </a:spcBef>
              <a:spcAft>
                <a:spcPts val="0"/>
              </a:spcAft>
              <a:buSzPts val="1800"/>
              <a:buNone/>
            </a:pPr>
            <a:r>
              <a:rPr lang="en" sz="1500"/>
              <a:t>Always initialize before using</a:t>
            </a:r>
            <a:endParaRPr sz="1500"/>
          </a:p>
          <a:p>
            <a:pPr marL="0" lvl="0" indent="0" algn="l" rtl="0">
              <a:lnSpc>
                <a:spcPct val="115000"/>
              </a:lnSpc>
              <a:spcBef>
                <a:spcPts val="1200"/>
              </a:spcBef>
              <a:spcAft>
                <a:spcPts val="0"/>
              </a:spcAft>
              <a:buSzPts val="1800"/>
              <a:buNone/>
            </a:pPr>
            <a:endParaRPr sz="1500"/>
          </a:p>
          <a:p>
            <a:pPr marL="0" lvl="0" indent="0" algn="l" rtl="0">
              <a:lnSpc>
                <a:spcPct val="115000"/>
              </a:lnSpc>
              <a:spcBef>
                <a:spcPts val="1200"/>
              </a:spcBef>
              <a:spcAft>
                <a:spcPts val="1200"/>
              </a:spcAft>
              <a:buSzPts val="1800"/>
              <a:buNone/>
            </a:pPr>
            <a:endParaRPr sz="1500"/>
          </a:p>
        </p:txBody>
      </p:sp>
      <p:pic>
        <p:nvPicPr>
          <p:cNvPr id="225" name="Google Shape;225;p17"/>
          <p:cNvPicPr preferRelativeResize="0"/>
          <p:nvPr/>
        </p:nvPicPr>
        <p:blipFill rotWithShape="1">
          <a:blip r:embed="rId3">
            <a:alphaModFix/>
          </a:blip>
          <a:srcRect l="13703"/>
          <a:stretch/>
        </p:blipFill>
        <p:spPr>
          <a:xfrm>
            <a:off x="101300" y="3183725"/>
            <a:ext cx="5154300" cy="928250"/>
          </a:xfrm>
          <a:prstGeom prst="rect">
            <a:avLst/>
          </a:prstGeom>
          <a:noFill/>
          <a:ln>
            <a:noFill/>
          </a:ln>
        </p:spPr>
      </p:pic>
      <p:pic>
        <p:nvPicPr>
          <p:cNvPr id="226" name="Google Shape;226;p17"/>
          <p:cNvPicPr preferRelativeResize="0"/>
          <p:nvPr/>
        </p:nvPicPr>
        <p:blipFill rotWithShape="1">
          <a:blip r:embed="rId4">
            <a:alphaModFix/>
          </a:blip>
          <a:srcRect/>
          <a:stretch/>
        </p:blipFill>
        <p:spPr>
          <a:xfrm>
            <a:off x="130300" y="4111975"/>
            <a:ext cx="5096300" cy="858125"/>
          </a:xfrm>
          <a:prstGeom prst="rect">
            <a:avLst/>
          </a:prstGeom>
          <a:noFill/>
          <a:ln>
            <a:noFill/>
          </a:ln>
        </p:spPr>
      </p:pic>
      <p:pic>
        <p:nvPicPr>
          <p:cNvPr id="227" name="Google Shape;227;p17"/>
          <p:cNvPicPr preferRelativeResize="0"/>
          <p:nvPr/>
        </p:nvPicPr>
        <p:blipFill rotWithShape="1">
          <a:blip r:embed="rId5">
            <a:alphaModFix/>
          </a:blip>
          <a:srcRect r="6975"/>
          <a:stretch/>
        </p:blipFill>
        <p:spPr>
          <a:xfrm>
            <a:off x="5928650" y="686475"/>
            <a:ext cx="3157325" cy="858125"/>
          </a:xfrm>
          <a:prstGeom prst="rect">
            <a:avLst/>
          </a:prstGeom>
          <a:noFill/>
          <a:ln>
            <a:noFill/>
          </a:ln>
        </p:spPr>
      </p:pic>
      <p:pic>
        <p:nvPicPr>
          <p:cNvPr id="228" name="Google Shape;228;p17"/>
          <p:cNvPicPr preferRelativeResize="0"/>
          <p:nvPr/>
        </p:nvPicPr>
        <p:blipFill rotWithShape="1">
          <a:blip r:embed="rId6">
            <a:alphaModFix/>
          </a:blip>
          <a:srcRect/>
          <a:stretch/>
        </p:blipFill>
        <p:spPr>
          <a:xfrm>
            <a:off x="4867199" y="1755763"/>
            <a:ext cx="4218784" cy="662700"/>
          </a:xfrm>
          <a:prstGeom prst="rect">
            <a:avLst/>
          </a:prstGeom>
          <a:noFill/>
          <a:ln>
            <a:noFill/>
          </a:ln>
        </p:spPr>
      </p:pic>
      <p:sp>
        <p:nvSpPr>
          <p:cNvPr id="229" name="Google Shape;229;p17"/>
          <p:cNvSpPr/>
          <p:nvPr/>
        </p:nvSpPr>
        <p:spPr>
          <a:xfrm rot="572933">
            <a:off x="5134795" y="3884167"/>
            <a:ext cx="3851971" cy="855747"/>
          </a:xfrm>
          <a:prstGeom prst="leftArrowCallout">
            <a:avLst>
              <a:gd name="adj1" fmla="val 25000"/>
              <a:gd name="adj2" fmla="val 25000"/>
              <a:gd name="adj3" fmla="val 25000"/>
              <a:gd name="adj4" fmla="val 92553"/>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100"/>
              <a:buFont typeface="Arial"/>
              <a:buNone/>
            </a:pPr>
            <a:r>
              <a:rPr lang="en" sz="1100" b="0" i="0" u="none" strike="noStrike" cap="none">
                <a:solidFill>
                  <a:schemeClr val="dk1"/>
                </a:solidFill>
                <a:latin typeface="Lexend"/>
                <a:ea typeface="Lexend"/>
                <a:cs typeface="Lexend"/>
                <a:sym typeface="Lexend"/>
              </a:rPr>
              <a:t>Error: A variable that is declared but not initialized does not have a defined value, hence it cannot be used until it is assigned a value.</a:t>
            </a:r>
            <a:endParaRPr sz="1100" b="0" i="0" u="none" strike="noStrike" cap="none">
              <a:solidFill>
                <a:schemeClr val="dk1"/>
              </a:solidFill>
              <a:latin typeface="Lexend"/>
              <a:ea typeface="Lexend"/>
              <a:cs typeface="Lexend"/>
              <a:sym typeface="Lexend"/>
            </a:endParaRPr>
          </a:p>
        </p:txBody>
      </p:sp>
      <p:sp>
        <p:nvSpPr>
          <p:cNvPr id="230" name="Google Shape;230;p17"/>
          <p:cNvSpPr/>
          <p:nvPr/>
        </p:nvSpPr>
        <p:spPr>
          <a:xfrm>
            <a:off x="3691225" y="2257375"/>
            <a:ext cx="4850400" cy="983100"/>
          </a:xfrm>
          <a:prstGeom prst="upArrowCallout">
            <a:avLst>
              <a:gd name="adj1" fmla="val 25000"/>
              <a:gd name="adj2" fmla="val 25000"/>
              <a:gd name="adj3" fmla="val 25000"/>
              <a:gd name="adj4" fmla="val 6497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Lexend"/>
                <a:ea typeface="Lexend"/>
                <a:cs typeface="Lexend"/>
                <a:sym typeface="Lexend"/>
              </a:rPr>
              <a:t>The = symbol means assign (not equal to). Read as radius is assigned 4.5. This is assigning that value to the memory location identified by radius.</a:t>
            </a:r>
            <a:endParaRPr sz="1100" b="0" i="0" u="none" strike="noStrike" cap="none">
              <a:solidFill>
                <a:srgbClr val="000000"/>
              </a:solidFill>
              <a:latin typeface="Lexend"/>
              <a:ea typeface="Lexend"/>
              <a:cs typeface="Lexend"/>
              <a:sym typeface="Lexend"/>
            </a:endParaRPr>
          </a:p>
        </p:txBody>
      </p:sp>
      <p:sp>
        <p:nvSpPr>
          <p:cNvPr id="231" name="Google Shape;231;p17"/>
          <p:cNvSpPr/>
          <p:nvPr/>
        </p:nvSpPr>
        <p:spPr>
          <a:xfrm>
            <a:off x="4572000" y="894625"/>
            <a:ext cx="1202400" cy="252600"/>
          </a:xfrm>
          <a:prstGeom prst="rightArrow">
            <a:avLst>
              <a:gd name="adj1" fmla="val 50000"/>
              <a:gd name="adj2" fmla="val 5000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exend"/>
              <a:ea typeface="Lexend"/>
              <a:cs typeface="Lexend"/>
              <a:sym typeface="Lexend"/>
            </a:endParaRPr>
          </a:p>
        </p:txBody>
      </p:sp>
      <p:sp>
        <p:nvSpPr>
          <p:cNvPr id="232" name="Google Shape;232;p17"/>
          <p:cNvSpPr/>
          <p:nvPr/>
        </p:nvSpPr>
        <p:spPr>
          <a:xfrm>
            <a:off x="5432750" y="1234375"/>
            <a:ext cx="495900" cy="252600"/>
          </a:xfrm>
          <a:prstGeom prst="rightArrow">
            <a:avLst>
              <a:gd name="adj1" fmla="val 50000"/>
              <a:gd name="adj2" fmla="val 5000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exend"/>
              <a:ea typeface="Lexend"/>
              <a:cs typeface="Lexend"/>
              <a:sym typeface="Lexend"/>
            </a:endParaRPr>
          </a:p>
        </p:txBody>
      </p:sp>
      <p:sp>
        <p:nvSpPr>
          <p:cNvPr id="233" name="Google Shape;233;p17"/>
          <p:cNvSpPr/>
          <p:nvPr/>
        </p:nvSpPr>
        <p:spPr>
          <a:xfrm>
            <a:off x="4053250" y="2081699"/>
            <a:ext cx="759000" cy="252600"/>
          </a:xfrm>
          <a:prstGeom prst="rightArrow">
            <a:avLst>
              <a:gd name="adj1" fmla="val 50000"/>
              <a:gd name="adj2" fmla="val 5000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8"/>
          <p:cNvSpPr txBox="1">
            <a:spLocks noGrp="1"/>
          </p:cNvSpPr>
          <p:nvPr>
            <p:ph type="title"/>
          </p:nvPr>
        </p:nvSpPr>
        <p:spPr>
          <a:xfrm>
            <a:off x="311700" y="1972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Constants</a:t>
            </a:r>
            <a:endParaRPr/>
          </a:p>
        </p:txBody>
      </p:sp>
      <p:sp>
        <p:nvSpPr>
          <p:cNvPr id="239" name="Google Shape;239;p18"/>
          <p:cNvSpPr txBox="1">
            <a:spLocks noGrp="1"/>
          </p:cNvSpPr>
          <p:nvPr>
            <p:ph type="body" idx="1"/>
          </p:nvPr>
        </p:nvSpPr>
        <p:spPr>
          <a:xfrm>
            <a:off x="266650" y="736075"/>
            <a:ext cx="8520600" cy="4077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600"/>
              <a:t>Constants are used to store a value that will not be changed when the program runs. Constants can be beneficial so information is not hardcoded in the program. More on this later. </a:t>
            </a:r>
            <a:endParaRPr sz="1600"/>
          </a:p>
          <a:p>
            <a:pPr marL="457200" lvl="0" indent="-330200" algn="l" rtl="0">
              <a:lnSpc>
                <a:spcPct val="115000"/>
              </a:lnSpc>
              <a:spcBef>
                <a:spcPts val="1200"/>
              </a:spcBef>
              <a:spcAft>
                <a:spcPts val="0"/>
              </a:spcAft>
              <a:buSzPts val="1600"/>
              <a:buChar char="●"/>
            </a:pPr>
            <a:r>
              <a:rPr lang="en" sz="1600"/>
              <a:t>Declare and initialize using final keyword with name and data type</a:t>
            </a:r>
            <a:endParaRPr sz="1600"/>
          </a:p>
          <a:p>
            <a:pPr marL="457200" lvl="0" indent="-330200" algn="l" rtl="0">
              <a:lnSpc>
                <a:spcPct val="115000"/>
              </a:lnSpc>
              <a:spcBef>
                <a:spcPts val="0"/>
              </a:spcBef>
              <a:spcAft>
                <a:spcPts val="0"/>
              </a:spcAft>
              <a:buSzPts val="1600"/>
              <a:buChar char="●"/>
            </a:pPr>
            <a:r>
              <a:rPr lang="en" sz="1600"/>
              <a:t>Enough memory will be allocated for that data type but it will be read only memory</a:t>
            </a:r>
            <a:endParaRPr/>
          </a:p>
          <a:p>
            <a:pPr marL="0" lvl="0" indent="0" algn="l" rtl="0">
              <a:lnSpc>
                <a:spcPct val="115000"/>
              </a:lnSpc>
              <a:spcBef>
                <a:spcPts val="1200"/>
              </a:spcBef>
              <a:spcAft>
                <a:spcPts val="0"/>
              </a:spcAft>
              <a:buSzPts val="1800"/>
              <a:buNone/>
            </a:pPr>
            <a:r>
              <a:rPr lang="en" sz="1600"/>
              <a:t>Naming conventions:</a:t>
            </a:r>
            <a:endParaRPr sz="1600"/>
          </a:p>
          <a:p>
            <a:pPr marL="457200" lvl="0" indent="-330200" algn="l" rtl="0">
              <a:lnSpc>
                <a:spcPct val="115000"/>
              </a:lnSpc>
              <a:spcBef>
                <a:spcPts val="1200"/>
              </a:spcBef>
              <a:spcAft>
                <a:spcPts val="0"/>
              </a:spcAft>
              <a:buSzPts val="1600"/>
              <a:buChar char="●"/>
            </a:pPr>
            <a:r>
              <a:rPr lang="en" sz="1600"/>
              <a:t>Using meaningful names</a:t>
            </a:r>
            <a:endParaRPr sz="1600"/>
          </a:p>
          <a:p>
            <a:pPr marL="457200" lvl="0" indent="-330200" algn="l" rtl="0">
              <a:lnSpc>
                <a:spcPct val="115000"/>
              </a:lnSpc>
              <a:spcBef>
                <a:spcPts val="0"/>
              </a:spcBef>
              <a:spcAft>
                <a:spcPts val="0"/>
              </a:spcAft>
              <a:buSzPts val="1600"/>
              <a:buChar char="●"/>
            </a:pPr>
            <a:r>
              <a:rPr lang="en" sz="1600"/>
              <a:t>Use all uppercase</a:t>
            </a:r>
            <a:endParaRPr sz="1600"/>
          </a:p>
          <a:p>
            <a:pPr marL="457200" lvl="0" indent="-330200" algn="l" rtl="0">
              <a:lnSpc>
                <a:spcPct val="115000"/>
              </a:lnSpc>
              <a:spcBef>
                <a:spcPts val="0"/>
              </a:spcBef>
              <a:spcAft>
                <a:spcPts val="0"/>
              </a:spcAft>
              <a:buSzPts val="1600"/>
              <a:buChar char="●"/>
            </a:pPr>
            <a:r>
              <a:rPr lang="en" sz="1600"/>
              <a:t>Words separated with underscore</a:t>
            </a:r>
            <a:endParaRPr sz="1600"/>
          </a:p>
        </p:txBody>
      </p:sp>
      <p:sp>
        <p:nvSpPr>
          <p:cNvPr id="240" name="Google Shape;240;p18"/>
          <p:cNvSpPr/>
          <p:nvPr/>
        </p:nvSpPr>
        <p:spPr>
          <a:xfrm>
            <a:off x="485750" y="4158775"/>
            <a:ext cx="3725700" cy="7143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25400" marR="0" lvl="0" indent="0" algn="l" rtl="0">
              <a:lnSpc>
                <a:spcPct val="115000"/>
              </a:lnSpc>
              <a:spcBef>
                <a:spcPts val="0"/>
              </a:spcBef>
              <a:spcAft>
                <a:spcPts val="0"/>
              </a:spcAft>
              <a:buClr>
                <a:schemeClr val="dk1"/>
              </a:buClr>
              <a:buSzPts val="1100"/>
              <a:buFont typeface="Arial"/>
              <a:buNone/>
            </a:pPr>
            <a:r>
              <a:rPr lang="en" sz="1400" b="1" i="0" u="none" strike="noStrike" cap="none">
                <a:solidFill>
                  <a:srgbClr val="7F0055"/>
                </a:solidFill>
                <a:highlight>
                  <a:srgbClr val="FFFFFF"/>
                </a:highlight>
                <a:latin typeface="Arial"/>
                <a:ea typeface="Arial"/>
                <a:cs typeface="Arial"/>
                <a:sym typeface="Arial"/>
              </a:rPr>
              <a:t>final</a:t>
            </a:r>
            <a:r>
              <a:rPr lang="en" sz="1400" b="0" i="0" u="none" strike="noStrike" cap="none">
                <a:solidFill>
                  <a:schemeClr val="dk1"/>
                </a:solidFill>
                <a:highlight>
                  <a:srgbClr val="FFFFFF"/>
                </a:highlight>
                <a:latin typeface="Arial"/>
                <a:ea typeface="Arial"/>
                <a:cs typeface="Arial"/>
                <a:sym typeface="Arial"/>
              </a:rPr>
              <a:t> </a:t>
            </a:r>
            <a:r>
              <a:rPr lang="en" sz="1400" b="1" i="0" u="none" strike="noStrike" cap="none">
                <a:solidFill>
                  <a:srgbClr val="7F0055"/>
                </a:solidFill>
                <a:highlight>
                  <a:srgbClr val="FFFFFF"/>
                </a:highlight>
                <a:latin typeface="Arial"/>
                <a:ea typeface="Arial"/>
                <a:cs typeface="Arial"/>
                <a:sym typeface="Arial"/>
              </a:rPr>
              <a:t>int</a:t>
            </a:r>
            <a:r>
              <a:rPr lang="en" sz="1400" b="0" i="0" u="none" strike="noStrike" cap="none">
                <a:solidFill>
                  <a:schemeClr val="dk1"/>
                </a:solidFill>
                <a:highlight>
                  <a:srgbClr val="FFFFFF"/>
                </a:highlight>
                <a:latin typeface="Arial"/>
                <a:ea typeface="Arial"/>
                <a:cs typeface="Arial"/>
                <a:sym typeface="Arial"/>
              </a:rPr>
              <a:t> </a:t>
            </a:r>
            <a:r>
              <a:rPr lang="en" sz="1400" b="0" i="0" u="none" strike="noStrike" cap="none">
                <a:solidFill>
                  <a:srgbClr val="6A3E3E"/>
                </a:solidFill>
                <a:highlight>
                  <a:srgbClr val="FFFFFF"/>
                </a:highlight>
                <a:latin typeface="Arial"/>
                <a:ea typeface="Arial"/>
                <a:cs typeface="Arial"/>
                <a:sym typeface="Arial"/>
              </a:rPr>
              <a:t>RANDOM_MULTIPLIER</a:t>
            </a:r>
            <a:r>
              <a:rPr lang="en" sz="1400" b="0" i="0" u="none" strike="noStrike" cap="none">
                <a:solidFill>
                  <a:schemeClr val="dk1"/>
                </a:solidFill>
                <a:highlight>
                  <a:srgbClr val="FFFFFF"/>
                </a:highlight>
                <a:latin typeface="Arial"/>
                <a:ea typeface="Arial"/>
                <a:cs typeface="Arial"/>
                <a:sym typeface="Arial"/>
              </a:rPr>
              <a:t> = 100;</a:t>
            </a:r>
            <a:endParaRPr sz="1400" b="0" i="0" u="none" strike="noStrike" cap="none">
              <a:solidFill>
                <a:srgbClr val="000000"/>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9"/>
          <p:cNvSpPr txBox="1">
            <a:spLocks noGrp="1"/>
          </p:cNvSpPr>
          <p:nvPr>
            <p:ph type="title"/>
          </p:nvPr>
        </p:nvSpPr>
        <p:spPr>
          <a:xfrm>
            <a:off x="311700" y="25490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Number Literals</a:t>
            </a:r>
            <a:endParaRPr/>
          </a:p>
        </p:txBody>
      </p:sp>
      <p:sp>
        <p:nvSpPr>
          <p:cNvPr id="246" name="Google Shape;246;p19"/>
          <p:cNvSpPr txBox="1">
            <a:spLocks noGrp="1"/>
          </p:cNvSpPr>
          <p:nvPr>
            <p:ph type="body" idx="1"/>
          </p:nvPr>
        </p:nvSpPr>
        <p:spPr>
          <a:xfrm>
            <a:off x="311700" y="863550"/>
            <a:ext cx="8520600" cy="384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640"/>
              </a:spcBef>
              <a:spcAft>
                <a:spcPts val="0"/>
              </a:spcAft>
              <a:buSzPts val="1800"/>
              <a:buNone/>
            </a:pPr>
            <a:r>
              <a:rPr lang="en"/>
              <a:t>A literal is a fixed value that appears directly in your code. When you type 10, 3.14, “Hello” in a program, you're using a number literal.</a:t>
            </a:r>
            <a:endParaRPr/>
          </a:p>
          <a:p>
            <a:pPr marL="0" lvl="0" indent="0" algn="l" rtl="0">
              <a:lnSpc>
                <a:spcPct val="100000"/>
              </a:lnSpc>
              <a:spcBef>
                <a:spcPts val="640"/>
              </a:spcBef>
              <a:spcAft>
                <a:spcPts val="0"/>
              </a:spcAft>
              <a:buSzPts val="1800"/>
              <a:buNone/>
            </a:pPr>
            <a:endParaRPr/>
          </a:p>
          <a:p>
            <a:pPr marL="0" lvl="0" indent="0" algn="l" rtl="0">
              <a:lnSpc>
                <a:spcPct val="100000"/>
              </a:lnSpc>
              <a:spcBef>
                <a:spcPts val="640"/>
              </a:spcBef>
              <a:spcAft>
                <a:spcPts val="0"/>
              </a:spcAft>
              <a:buSzPts val="1800"/>
              <a:buNone/>
            </a:pPr>
            <a:endParaRPr/>
          </a:p>
          <a:p>
            <a:pPr marL="0" lvl="0" indent="0" algn="l" rtl="0">
              <a:lnSpc>
                <a:spcPct val="100000"/>
              </a:lnSpc>
              <a:spcBef>
                <a:spcPts val="640"/>
              </a:spcBef>
              <a:spcAft>
                <a:spcPts val="0"/>
              </a:spcAft>
              <a:buSzPts val="1800"/>
              <a:buNone/>
            </a:pPr>
            <a:endParaRPr/>
          </a:p>
          <a:p>
            <a:pPr marL="0" lvl="0" indent="0" algn="l" rtl="0">
              <a:lnSpc>
                <a:spcPct val="100000"/>
              </a:lnSpc>
              <a:spcBef>
                <a:spcPts val="640"/>
              </a:spcBef>
              <a:spcAft>
                <a:spcPts val="0"/>
              </a:spcAft>
              <a:buSzPts val="1800"/>
              <a:buNone/>
            </a:pPr>
            <a:endParaRPr/>
          </a:p>
          <a:p>
            <a:pPr marL="0" lvl="0" indent="0" algn="l" rtl="0">
              <a:lnSpc>
                <a:spcPct val="100000"/>
              </a:lnSpc>
              <a:spcBef>
                <a:spcPts val="640"/>
              </a:spcBef>
              <a:spcAft>
                <a:spcPts val="0"/>
              </a:spcAft>
              <a:buSzPts val="1800"/>
              <a:buNone/>
            </a:pPr>
            <a:endParaRPr/>
          </a:p>
          <a:p>
            <a:pPr marL="0" lvl="0" indent="0" algn="l" rtl="0">
              <a:lnSpc>
                <a:spcPct val="115000"/>
              </a:lnSpc>
              <a:spcBef>
                <a:spcPts val="0"/>
              </a:spcBef>
              <a:spcAft>
                <a:spcPts val="0"/>
              </a:spcAft>
              <a:buSzPts val="1700"/>
              <a:buNone/>
            </a:pPr>
            <a:endParaRPr sz="1200">
              <a:solidFill>
                <a:schemeClr val="dk1"/>
              </a:solidFill>
            </a:endParaRPr>
          </a:p>
          <a:p>
            <a:pPr marL="0" lvl="0" indent="0" algn="l" rtl="0">
              <a:lnSpc>
                <a:spcPct val="115000"/>
              </a:lnSpc>
              <a:spcBef>
                <a:spcPts val="0"/>
              </a:spcBef>
              <a:spcAft>
                <a:spcPts val="0"/>
              </a:spcAft>
              <a:buSzPts val="1700"/>
              <a:buNone/>
            </a:pPr>
            <a:r>
              <a:rPr lang="en" sz="1200">
                <a:solidFill>
                  <a:schemeClr val="dk1"/>
                </a:solidFill>
              </a:rPr>
              <a:t>The = means assign what is on the right and store in memory identified by name on the left</a:t>
            </a:r>
            <a:endParaRPr/>
          </a:p>
          <a:p>
            <a:pPr marL="0" lvl="0" indent="0" algn="l" rtl="0">
              <a:lnSpc>
                <a:spcPct val="100000"/>
              </a:lnSpc>
              <a:spcBef>
                <a:spcPts val="640"/>
              </a:spcBef>
              <a:spcAft>
                <a:spcPts val="0"/>
              </a:spcAft>
              <a:buSzPts val="1800"/>
              <a:buNone/>
            </a:pPr>
            <a:endParaRPr sz="1500"/>
          </a:p>
          <a:p>
            <a:pPr marL="0" lvl="0" indent="0" algn="l" rtl="0">
              <a:lnSpc>
                <a:spcPct val="100000"/>
              </a:lnSpc>
              <a:spcBef>
                <a:spcPts val="640"/>
              </a:spcBef>
              <a:spcAft>
                <a:spcPts val="0"/>
              </a:spcAft>
              <a:buSzPts val="1800"/>
              <a:buNone/>
            </a:pPr>
            <a:r>
              <a:rPr lang="en" sz="1500"/>
              <a:t>Java allows scientific notation for large/small decimal numbers (e.g., 1.5e6 = 1,500,000), but we won’t need it for this course. </a:t>
            </a:r>
            <a:endParaRPr/>
          </a:p>
        </p:txBody>
      </p:sp>
      <p:sp>
        <p:nvSpPr>
          <p:cNvPr id="247" name="Google Shape;247;p19"/>
          <p:cNvSpPr txBox="1"/>
          <p:nvPr/>
        </p:nvSpPr>
        <p:spPr>
          <a:xfrm>
            <a:off x="385725" y="1712625"/>
            <a:ext cx="6751500" cy="1417500"/>
          </a:xfrm>
          <a:prstGeom prst="rect">
            <a:avLst/>
          </a:prstGeom>
          <a:solidFill>
            <a:schemeClr val="lt1"/>
          </a:solidFill>
          <a:ln>
            <a:noFill/>
          </a:ln>
        </p:spPr>
        <p:txBody>
          <a:bodyPr spcFirstLastPara="1" wrap="square" lIns="91425" tIns="91425" rIns="91425" bIns="91425" anchor="t" anchorCtr="0">
            <a:spAutoFit/>
          </a:bodyPr>
          <a:lstStyle/>
          <a:p>
            <a:pPr marL="0" marR="0" lvl="0" indent="0" algn="just" rtl="0">
              <a:lnSpc>
                <a:spcPct val="90000"/>
              </a:lnSpc>
              <a:spcBef>
                <a:spcPts val="700"/>
              </a:spcBef>
              <a:spcAft>
                <a:spcPts val="0"/>
              </a:spcAft>
              <a:buClr>
                <a:srgbClr val="000000"/>
              </a:buClr>
              <a:buSzPts val="1600"/>
              <a:buFont typeface="Arial"/>
              <a:buNone/>
            </a:pPr>
            <a:r>
              <a:rPr lang="en" sz="1600" b="1" i="0" u="none" strike="noStrike" cap="none">
                <a:solidFill>
                  <a:srgbClr val="000000"/>
                </a:solidFill>
                <a:latin typeface="Arial"/>
                <a:ea typeface="Arial"/>
                <a:cs typeface="Arial"/>
                <a:sym typeface="Arial"/>
              </a:rPr>
              <a:t>                 </a:t>
            </a:r>
            <a:r>
              <a:rPr lang="en" sz="1600" b="1" i="0" u="none" strike="noStrike" cap="none">
                <a:solidFill>
                  <a:srgbClr val="000000"/>
                </a:solidFill>
                <a:highlight>
                  <a:srgbClr val="FFE599"/>
                </a:highlight>
                <a:latin typeface="Arial"/>
                <a:ea typeface="Arial"/>
                <a:cs typeface="Arial"/>
                <a:sym typeface="Arial"/>
              </a:rPr>
              <a:t>type</a:t>
            </a:r>
            <a:r>
              <a:rPr lang="en" sz="1600" b="1" i="0" u="none" strike="noStrike" cap="none">
                <a:solidFill>
                  <a:srgbClr val="000000"/>
                </a:solidFill>
                <a:latin typeface="Arial"/>
                <a:ea typeface="Arial"/>
                <a:cs typeface="Arial"/>
                <a:sym typeface="Arial"/>
              </a:rPr>
              <a:t>  </a:t>
            </a:r>
            <a:r>
              <a:rPr lang="en" sz="1600" b="1" i="0" u="none" strike="noStrike" cap="none">
                <a:solidFill>
                  <a:srgbClr val="000000"/>
                </a:solidFill>
                <a:highlight>
                  <a:srgbClr val="B6D7A8"/>
                </a:highlight>
                <a:latin typeface="Arial"/>
                <a:ea typeface="Arial"/>
                <a:cs typeface="Arial"/>
                <a:sym typeface="Arial"/>
              </a:rPr>
              <a:t>identifier</a:t>
            </a:r>
            <a:r>
              <a:rPr lang="en" sz="1600" b="1" i="0" u="none" strike="noStrike" cap="none">
                <a:solidFill>
                  <a:srgbClr val="000000"/>
                </a:solidFill>
                <a:latin typeface="Arial"/>
                <a:ea typeface="Arial"/>
                <a:cs typeface="Arial"/>
                <a:sym typeface="Arial"/>
              </a:rPr>
              <a:t>  </a:t>
            </a:r>
            <a:r>
              <a:rPr lang="en" sz="1600" b="1" i="0" u="none" strike="noStrike" cap="none">
                <a:solidFill>
                  <a:srgbClr val="000000"/>
                </a:solidFill>
                <a:highlight>
                  <a:srgbClr val="A4C2F4"/>
                </a:highlight>
                <a:latin typeface="Arial"/>
                <a:ea typeface="Arial"/>
                <a:cs typeface="Arial"/>
                <a:sym typeface="Arial"/>
              </a:rPr>
              <a:t>assignment</a:t>
            </a:r>
            <a:r>
              <a:rPr lang="en" sz="1600" b="1" i="0" u="none" strike="noStrike" cap="none">
                <a:solidFill>
                  <a:srgbClr val="000000"/>
                </a:solidFill>
                <a:latin typeface="Arial"/>
                <a:ea typeface="Arial"/>
                <a:cs typeface="Arial"/>
                <a:sym typeface="Arial"/>
              </a:rPr>
              <a:t>   </a:t>
            </a:r>
            <a:r>
              <a:rPr lang="en" sz="1600" b="1" i="0" u="none" strike="noStrike" cap="none">
                <a:solidFill>
                  <a:srgbClr val="000000"/>
                </a:solidFill>
                <a:highlight>
                  <a:srgbClr val="D9D2E9"/>
                </a:highlight>
                <a:latin typeface="Arial"/>
                <a:ea typeface="Arial"/>
                <a:cs typeface="Arial"/>
                <a:sym typeface="Arial"/>
              </a:rPr>
              <a:t>literal</a:t>
            </a:r>
            <a:endParaRPr sz="1600" b="1" i="0" u="none" strike="noStrike" cap="none">
              <a:solidFill>
                <a:srgbClr val="D9EAD3"/>
              </a:solidFill>
              <a:highlight>
                <a:srgbClr val="D9D2E9"/>
              </a:highlight>
              <a:latin typeface="Arial"/>
              <a:ea typeface="Arial"/>
              <a:cs typeface="Arial"/>
              <a:sym typeface="Arial"/>
            </a:endParaRPr>
          </a:p>
          <a:p>
            <a:pPr marL="0" marR="0" lvl="0" indent="0" algn="just" rtl="0">
              <a:lnSpc>
                <a:spcPct val="90000"/>
              </a:lnSpc>
              <a:spcBef>
                <a:spcPts val="90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                   </a:t>
            </a:r>
            <a:r>
              <a:rPr lang="en" sz="1600" b="0" i="0" u="none" strike="noStrike" cap="none">
                <a:solidFill>
                  <a:srgbClr val="000000"/>
                </a:solidFill>
                <a:highlight>
                  <a:srgbClr val="FFE599"/>
                </a:highlight>
                <a:latin typeface="Arial"/>
                <a:ea typeface="Arial"/>
                <a:cs typeface="Arial"/>
                <a:sym typeface="Arial"/>
              </a:rPr>
              <a:t>int</a:t>
            </a:r>
            <a:r>
              <a:rPr lang="en" sz="1600" b="0" i="0" u="none" strike="noStrike" cap="none">
                <a:solidFill>
                  <a:srgbClr val="000000"/>
                </a:solidFill>
                <a:latin typeface="Arial"/>
                <a:ea typeface="Arial"/>
                <a:cs typeface="Arial"/>
                <a:sym typeface="Arial"/>
              </a:rPr>
              <a:t>                       </a:t>
            </a:r>
            <a:r>
              <a:rPr lang="en" sz="1600" b="0" i="0" u="none" strike="noStrike" cap="none">
                <a:solidFill>
                  <a:srgbClr val="000000"/>
                </a:solidFill>
                <a:highlight>
                  <a:srgbClr val="B6D7A8"/>
                </a:highlight>
                <a:latin typeface="Arial"/>
                <a:ea typeface="Arial"/>
                <a:cs typeface="Arial"/>
                <a:sym typeface="Arial"/>
              </a:rPr>
              <a:t>years</a:t>
            </a:r>
            <a:r>
              <a:rPr lang="en" sz="1600" b="0" i="0" u="none" strike="noStrike" cap="none">
                <a:solidFill>
                  <a:srgbClr val="000000"/>
                </a:solidFill>
                <a:latin typeface="Arial"/>
                <a:ea typeface="Arial"/>
                <a:cs typeface="Arial"/>
                <a:sym typeface="Arial"/>
              </a:rPr>
              <a:t>         </a:t>
            </a:r>
            <a:r>
              <a:rPr lang="en" sz="1600" b="0" i="0" u="none" strike="noStrike" cap="none">
                <a:solidFill>
                  <a:srgbClr val="000000"/>
                </a:solidFill>
                <a:highlight>
                  <a:srgbClr val="9FC5E8"/>
                </a:highlight>
                <a:latin typeface="Arial"/>
                <a:ea typeface="Arial"/>
                <a:cs typeface="Arial"/>
                <a:sym typeface="Arial"/>
              </a:rPr>
              <a:t>=</a:t>
            </a:r>
            <a:r>
              <a:rPr lang="en" sz="1600" b="0" i="0" u="none" strike="noStrike" cap="none">
                <a:solidFill>
                  <a:srgbClr val="000000"/>
                </a:solidFill>
                <a:latin typeface="Arial"/>
                <a:ea typeface="Arial"/>
                <a:cs typeface="Arial"/>
                <a:sym typeface="Arial"/>
              </a:rPr>
              <a:t>               </a:t>
            </a:r>
            <a:r>
              <a:rPr lang="en" sz="1600" b="0" i="0" u="none" strike="noStrike" cap="none">
                <a:solidFill>
                  <a:srgbClr val="000000"/>
                </a:solidFill>
                <a:highlight>
                  <a:srgbClr val="D9D2E9"/>
                </a:highlight>
                <a:latin typeface="Arial"/>
                <a:ea typeface="Arial"/>
                <a:cs typeface="Arial"/>
                <a:sym typeface="Arial"/>
              </a:rPr>
              <a:t>15</a:t>
            </a:r>
            <a:r>
              <a:rPr lang="en" sz="1600" b="0" i="0" u="none" strike="noStrike" cap="none">
                <a:solidFill>
                  <a:srgbClr val="000000"/>
                </a:solidFill>
                <a:latin typeface="Arial"/>
                <a:ea typeface="Arial"/>
                <a:cs typeface="Arial"/>
                <a:sym typeface="Arial"/>
              </a:rPr>
              <a:t>;</a:t>
            </a:r>
            <a:endParaRPr sz="1600" b="0" i="0" u="none" strike="noStrike" cap="none">
              <a:solidFill>
                <a:srgbClr val="000000"/>
              </a:solidFill>
              <a:latin typeface="Arial"/>
              <a:ea typeface="Arial"/>
              <a:cs typeface="Arial"/>
              <a:sym typeface="Arial"/>
            </a:endParaRPr>
          </a:p>
          <a:p>
            <a:pPr marL="0" marR="0" lvl="0" indent="0" algn="just" rtl="0">
              <a:lnSpc>
                <a:spcPct val="90000"/>
              </a:lnSpc>
              <a:spcBef>
                <a:spcPts val="90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         final </a:t>
            </a:r>
            <a:r>
              <a:rPr lang="en" sz="1600" b="0" i="0" u="none" strike="noStrike" cap="none">
                <a:solidFill>
                  <a:srgbClr val="000000"/>
                </a:solidFill>
                <a:highlight>
                  <a:srgbClr val="FFF2CC"/>
                </a:highlight>
                <a:latin typeface="Arial"/>
                <a:ea typeface="Arial"/>
                <a:cs typeface="Arial"/>
                <a:sym typeface="Arial"/>
              </a:rPr>
              <a:t> </a:t>
            </a:r>
            <a:r>
              <a:rPr lang="en" sz="1600" b="0" i="0" u="none" strike="noStrike" cap="none">
                <a:solidFill>
                  <a:srgbClr val="000000"/>
                </a:solidFill>
                <a:highlight>
                  <a:srgbClr val="FFE599"/>
                </a:highlight>
                <a:latin typeface="Arial"/>
                <a:ea typeface="Arial"/>
                <a:cs typeface="Arial"/>
                <a:sym typeface="Arial"/>
              </a:rPr>
              <a:t>double </a:t>
            </a:r>
            <a:r>
              <a:rPr lang="en" sz="1600" b="0" i="0" u="none" strike="noStrike" cap="none">
                <a:solidFill>
                  <a:srgbClr val="000000"/>
                </a:solidFill>
                <a:latin typeface="Arial"/>
                <a:ea typeface="Arial"/>
                <a:cs typeface="Arial"/>
                <a:sym typeface="Arial"/>
              </a:rPr>
              <a:t>                </a:t>
            </a:r>
            <a:r>
              <a:rPr lang="en" sz="1600" b="0" i="0" u="none" strike="noStrike" cap="none">
                <a:solidFill>
                  <a:srgbClr val="000000"/>
                </a:solidFill>
                <a:highlight>
                  <a:srgbClr val="B6D7A8"/>
                </a:highlight>
                <a:latin typeface="Arial"/>
                <a:ea typeface="Arial"/>
                <a:cs typeface="Arial"/>
                <a:sym typeface="Arial"/>
              </a:rPr>
              <a:t>PI  </a:t>
            </a:r>
            <a:r>
              <a:rPr lang="en" sz="1600" b="0" i="0" u="none" strike="noStrike" cap="none">
                <a:solidFill>
                  <a:srgbClr val="000000"/>
                </a:solidFill>
                <a:latin typeface="Arial"/>
                <a:ea typeface="Arial"/>
                <a:cs typeface="Arial"/>
                <a:sym typeface="Arial"/>
              </a:rPr>
              <a:t>           </a:t>
            </a:r>
            <a:r>
              <a:rPr lang="en" sz="1600" b="0" i="0" u="none" strike="noStrike" cap="none">
                <a:solidFill>
                  <a:srgbClr val="000000"/>
                </a:solidFill>
                <a:highlight>
                  <a:srgbClr val="C9DAF8"/>
                </a:highlight>
                <a:latin typeface="Arial"/>
                <a:ea typeface="Arial"/>
                <a:cs typeface="Arial"/>
                <a:sym typeface="Arial"/>
              </a:rPr>
              <a:t>  =   </a:t>
            </a:r>
            <a:r>
              <a:rPr lang="en" sz="1600" b="0" i="0" u="none" strike="noStrike" cap="none">
                <a:solidFill>
                  <a:srgbClr val="000000"/>
                </a:solidFill>
                <a:latin typeface="Arial"/>
                <a:ea typeface="Arial"/>
                <a:cs typeface="Arial"/>
                <a:sym typeface="Arial"/>
              </a:rPr>
              <a:t>             </a:t>
            </a:r>
            <a:r>
              <a:rPr lang="en" sz="1600" b="0" i="0" u="none" strike="noStrike" cap="none">
                <a:solidFill>
                  <a:srgbClr val="000000"/>
                </a:solidFill>
                <a:highlight>
                  <a:srgbClr val="D9D2E9"/>
                </a:highlight>
                <a:latin typeface="Arial"/>
                <a:ea typeface="Arial"/>
                <a:cs typeface="Arial"/>
                <a:sym typeface="Arial"/>
              </a:rPr>
              <a:t>3.14</a:t>
            </a:r>
            <a:r>
              <a:rPr lang="en" sz="1600" b="0" i="0" u="none" strike="noStrike" cap="none">
                <a:solidFill>
                  <a:srgbClr val="000000"/>
                </a:solidFill>
                <a:latin typeface="Arial"/>
                <a:ea typeface="Arial"/>
                <a:cs typeface="Arial"/>
                <a:sym typeface="Arial"/>
              </a:rPr>
              <a:t>;</a:t>
            </a:r>
            <a:endParaRPr sz="1600" b="0" i="0" u="none" strike="noStrike" cap="none">
              <a:solidFill>
                <a:srgbClr val="000000"/>
              </a:solidFill>
              <a:latin typeface="Arial"/>
              <a:ea typeface="Arial"/>
              <a:cs typeface="Arial"/>
              <a:sym typeface="Arial"/>
            </a:endParaRPr>
          </a:p>
          <a:p>
            <a:pPr marL="0" marR="0" lvl="0" indent="0" algn="just" rtl="0">
              <a:lnSpc>
                <a:spcPct val="90000"/>
              </a:lnSpc>
              <a:spcBef>
                <a:spcPts val="900"/>
              </a:spcBef>
              <a:spcAft>
                <a:spcPts val="900"/>
              </a:spcAft>
              <a:buClr>
                <a:srgbClr val="000000"/>
              </a:buClr>
              <a:buSzPts val="1600"/>
              <a:buFont typeface="Arial"/>
              <a:buNone/>
            </a:pPr>
            <a:r>
              <a:rPr lang="en" sz="1600" b="0" i="0" u="none" strike="noStrike" cap="none">
                <a:solidFill>
                  <a:srgbClr val="000000"/>
                </a:solidFill>
                <a:highlight>
                  <a:schemeClr val="lt1"/>
                </a:highlight>
                <a:latin typeface="Arial"/>
                <a:ea typeface="Arial"/>
                <a:cs typeface="Arial"/>
                <a:sym typeface="Arial"/>
              </a:rPr>
              <a:t>                 </a:t>
            </a:r>
            <a:r>
              <a:rPr lang="en" sz="1600" b="0" i="0" u="none" strike="noStrike" cap="none">
                <a:solidFill>
                  <a:srgbClr val="000000"/>
                </a:solidFill>
                <a:highlight>
                  <a:srgbClr val="FFE599"/>
                </a:highlight>
                <a:latin typeface="Arial"/>
                <a:ea typeface="Arial"/>
                <a:cs typeface="Arial"/>
                <a:sym typeface="Arial"/>
              </a:rPr>
              <a:t>double</a:t>
            </a:r>
            <a:r>
              <a:rPr lang="en" sz="1600" b="0" i="0" u="none" strike="noStrike" cap="none">
                <a:solidFill>
                  <a:srgbClr val="000000"/>
                </a:solidFill>
                <a:latin typeface="Arial"/>
                <a:ea typeface="Arial"/>
                <a:cs typeface="Arial"/>
                <a:sym typeface="Arial"/>
              </a:rPr>
              <a:t>                </a:t>
            </a:r>
            <a:r>
              <a:rPr lang="en" sz="1600" b="0" i="0" u="none" strike="noStrike" cap="none">
                <a:solidFill>
                  <a:srgbClr val="000000"/>
                </a:solidFill>
                <a:highlight>
                  <a:srgbClr val="B6D7A8"/>
                </a:highlight>
                <a:latin typeface="Arial"/>
                <a:ea typeface="Arial"/>
                <a:cs typeface="Arial"/>
                <a:sym typeface="Arial"/>
              </a:rPr>
              <a:t>rate </a:t>
            </a:r>
            <a:r>
              <a:rPr lang="en" sz="1600" b="0" i="0" u="none" strike="noStrike" cap="none">
                <a:solidFill>
                  <a:srgbClr val="000000"/>
                </a:solidFill>
                <a:latin typeface="Arial"/>
                <a:ea typeface="Arial"/>
                <a:cs typeface="Arial"/>
                <a:sym typeface="Arial"/>
              </a:rPr>
              <a:t>             </a:t>
            </a:r>
            <a:r>
              <a:rPr lang="en" sz="1600" b="0" i="0" u="none" strike="noStrike" cap="none">
                <a:solidFill>
                  <a:srgbClr val="000000"/>
                </a:solidFill>
                <a:highlight>
                  <a:srgbClr val="A4C2F4"/>
                </a:highlight>
                <a:latin typeface="Arial"/>
                <a:ea typeface="Arial"/>
                <a:cs typeface="Arial"/>
                <a:sym typeface="Arial"/>
              </a:rPr>
              <a:t>=</a:t>
            </a:r>
            <a:r>
              <a:rPr lang="en" sz="1600" b="0" i="0" u="none" strike="noStrike" cap="none">
                <a:solidFill>
                  <a:srgbClr val="000000"/>
                </a:solidFill>
                <a:latin typeface="Arial"/>
                <a:ea typeface="Arial"/>
                <a:cs typeface="Arial"/>
                <a:sym typeface="Arial"/>
              </a:rPr>
              <a:t>              </a:t>
            </a:r>
            <a:r>
              <a:rPr lang="en" sz="1600" b="0" i="0" u="none" strike="noStrike" cap="none">
                <a:solidFill>
                  <a:srgbClr val="000000"/>
                </a:solidFill>
                <a:highlight>
                  <a:srgbClr val="D9D2E9"/>
                </a:highlight>
                <a:latin typeface="Arial"/>
                <a:ea typeface="Arial"/>
                <a:cs typeface="Arial"/>
                <a:sym typeface="Arial"/>
              </a:rPr>
              <a:t>.05</a:t>
            </a:r>
            <a:r>
              <a:rPr lang="en" sz="1600" b="0" i="0" u="none" strike="noStrike" cap="none">
                <a:solidFill>
                  <a:srgbClr val="000000"/>
                </a:solidFill>
                <a:latin typeface="Arial"/>
                <a:ea typeface="Arial"/>
                <a:cs typeface="Arial"/>
                <a:sym typeface="Arial"/>
              </a:rPr>
              <a:t>;</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0"/>
          <p:cNvSpPr txBox="1">
            <a:spLocks noGrp="1"/>
          </p:cNvSpPr>
          <p:nvPr>
            <p:ph type="title"/>
          </p:nvPr>
        </p:nvSpPr>
        <p:spPr>
          <a:xfrm>
            <a:off x="311700" y="254900"/>
            <a:ext cx="8520600" cy="5727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800"/>
              <a:buNone/>
            </a:pPr>
            <a:r>
              <a:rPr lang="en"/>
              <a:t>Print Methods</a:t>
            </a:r>
            <a:endParaRPr/>
          </a:p>
        </p:txBody>
      </p:sp>
      <p:sp>
        <p:nvSpPr>
          <p:cNvPr id="253" name="Google Shape;253;p20"/>
          <p:cNvSpPr txBox="1">
            <a:spLocks noGrp="1"/>
          </p:cNvSpPr>
          <p:nvPr>
            <p:ph type="body" idx="1"/>
          </p:nvPr>
        </p:nvSpPr>
        <p:spPr>
          <a:xfrm>
            <a:off x="311700" y="863550"/>
            <a:ext cx="8520600" cy="38427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640"/>
              </a:spcBef>
              <a:spcAft>
                <a:spcPts val="0"/>
              </a:spcAft>
              <a:buSzPts val="1700"/>
              <a:buNone/>
            </a:pPr>
            <a:r>
              <a:rPr lang="en"/>
              <a:t>The method println prints value followed by a new line.</a:t>
            </a:r>
            <a:endParaRPr/>
          </a:p>
          <a:p>
            <a:pPr marL="0" lvl="0" indent="0" algn="l" rtl="0">
              <a:lnSpc>
                <a:spcPct val="100000"/>
              </a:lnSpc>
              <a:spcBef>
                <a:spcPts val="640"/>
              </a:spcBef>
              <a:spcAft>
                <a:spcPts val="0"/>
              </a:spcAft>
              <a:buSzPts val="1700"/>
              <a:buNone/>
            </a:pPr>
            <a:r>
              <a:rPr lang="en"/>
              <a:t>The method printing prints value without going to a new line</a:t>
            </a:r>
            <a:endParaRPr/>
          </a:p>
          <a:p>
            <a:pPr marL="0" lvl="0" indent="0" algn="l" rtl="0">
              <a:lnSpc>
                <a:spcPct val="100000"/>
              </a:lnSpc>
              <a:spcBef>
                <a:spcPts val="640"/>
              </a:spcBef>
              <a:spcAft>
                <a:spcPts val="0"/>
              </a:spcAft>
              <a:buSzPts val="1700"/>
              <a:buNone/>
            </a:pPr>
            <a:r>
              <a:rPr lang="en">
                <a:highlight>
                  <a:schemeClr val="lt1"/>
                </a:highlight>
              </a:rPr>
              <a:t>System.out.println("Hi there!"); </a:t>
            </a:r>
            <a:endParaRPr>
              <a:highlight>
                <a:schemeClr val="lt1"/>
              </a:highlight>
            </a:endParaRPr>
          </a:p>
          <a:p>
            <a:pPr marL="0" lvl="0" indent="0" algn="l" rtl="0">
              <a:lnSpc>
                <a:spcPct val="100000"/>
              </a:lnSpc>
              <a:spcBef>
                <a:spcPts val="640"/>
              </a:spcBef>
              <a:spcAft>
                <a:spcPts val="0"/>
              </a:spcAft>
              <a:buSzPts val="1700"/>
              <a:buNone/>
            </a:pPr>
            <a:r>
              <a:rPr lang="en"/>
              <a:t>prints out the string between the first " and the second " followed by a new line. The "Hi there!" is called a string literal.</a:t>
            </a:r>
            <a:endParaRPr/>
          </a:p>
          <a:p>
            <a:pPr marL="0" lvl="0" indent="0" algn="l" rtl="0">
              <a:lnSpc>
                <a:spcPct val="100000"/>
              </a:lnSpc>
              <a:spcBef>
                <a:spcPts val="640"/>
              </a:spcBef>
              <a:spcAft>
                <a:spcPts val="0"/>
              </a:spcAft>
              <a:buSzPts val="1700"/>
              <a:buNone/>
            </a:pPr>
            <a:endParaRPr/>
          </a:p>
          <a:p>
            <a:pPr marL="0" lvl="0" indent="0" algn="l" rtl="0">
              <a:lnSpc>
                <a:spcPct val="100000"/>
              </a:lnSpc>
              <a:spcBef>
                <a:spcPts val="640"/>
              </a:spcBef>
              <a:spcAft>
                <a:spcPts val="0"/>
              </a:spcAft>
              <a:buSzPts val="1700"/>
              <a:buNone/>
            </a:pPr>
            <a:r>
              <a:rPr lang="en" sz="1600">
                <a:solidFill>
                  <a:schemeClr val="dk1"/>
                </a:solidFill>
                <a:highlight>
                  <a:schemeClr val="lt1"/>
                </a:highlight>
              </a:rPr>
              <a:t>System.out.println(</a:t>
            </a:r>
            <a:r>
              <a:rPr lang="en" sz="1600">
                <a:solidFill>
                  <a:srgbClr val="007D9F"/>
                </a:solidFill>
                <a:highlight>
                  <a:schemeClr val="lt1"/>
                </a:highlight>
              </a:rPr>
              <a:t>"The area for the circle of radius "</a:t>
            </a:r>
            <a:r>
              <a:rPr lang="en" sz="1600">
                <a:solidFill>
                  <a:schemeClr val="dk1"/>
                </a:solidFill>
                <a:highlight>
                  <a:schemeClr val="lt1"/>
                </a:highlight>
              </a:rPr>
              <a:t> +  radius + </a:t>
            </a:r>
            <a:r>
              <a:rPr lang="en" sz="1600">
                <a:solidFill>
                  <a:srgbClr val="007D9F"/>
                </a:solidFill>
                <a:highlight>
                  <a:schemeClr val="lt1"/>
                </a:highlight>
              </a:rPr>
              <a:t>" is "</a:t>
            </a:r>
            <a:r>
              <a:rPr lang="en" sz="1600">
                <a:solidFill>
                  <a:schemeClr val="dk1"/>
                </a:solidFill>
                <a:highlight>
                  <a:schemeClr val="lt1"/>
                </a:highlight>
              </a:rPr>
              <a:t> + area);</a:t>
            </a:r>
            <a:endParaRPr sz="1600">
              <a:solidFill>
                <a:schemeClr val="dk1"/>
              </a:solidFill>
              <a:highlight>
                <a:schemeClr val="lt1"/>
              </a:highlight>
            </a:endParaRPr>
          </a:p>
          <a:p>
            <a:pPr marL="0" lvl="0" indent="0" algn="l" rtl="0">
              <a:lnSpc>
                <a:spcPct val="100000"/>
              </a:lnSpc>
              <a:spcBef>
                <a:spcPts val="640"/>
              </a:spcBef>
              <a:spcAft>
                <a:spcPts val="0"/>
              </a:spcAft>
              <a:buSzPts val="1700"/>
              <a:buNone/>
            </a:pPr>
            <a:r>
              <a:rPr lang="en"/>
              <a:t>Print the string literal and adds on after (+ radius) the value of the radius currently in memory, followed by string “ is “ and adds on value assigned to area.</a:t>
            </a:r>
            <a:endParaRPr/>
          </a:p>
          <a:p>
            <a:pPr marL="0" lvl="0" indent="0" algn="l" rtl="0">
              <a:lnSpc>
                <a:spcPct val="100000"/>
              </a:lnSpc>
              <a:spcBef>
                <a:spcPts val="640"/>
              </a:spcBef>
              <a:spcAft>
                <a:spcPts val="0"/>
              </a:spcAft>
              <a:buSzPts val="1700"/>
              <a:buNone/>
            </a:pPr>
            <a:r>
              <a:rPr lang="en"/>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1"/>
          <p:cNvSpPr txBox="1"/>
          <p:nvPr/>
        </p:nvSpPr>
        <p:spPr>
          <a:xfrm>
            <a:off x="83200" y="1553475"/>
            <a:ext cx="5459400" cy="32016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FD6"/>
                </a:solidFill>
                <a:latin typeface="Arial"/>
                <a:ea typeface="Arial"/>
                <a:cs typeface="Arial"/>
                <a:sym typeface="Arial"/>
              </a:rPr>
              <a:t>public</a:t>
            </a:r>
            <a:r>
              <a:rPr lang="en" sz="1400" b="0" i="0" u="none" strike="noStrike" cap="none">
                <a:solidFill>
                  <a:schemeClr val="dk1"/>
                </a:solidFill>
                <a:latin typeface="Arial"/>
                <a:ea typeface="Arial"/>
                <a:cs typeface="Arial"/>
                <a:sym typeface="Arial"/>
              </a:rPr>
              <a:t> </a:t>
            </a:r>
            <a:r>
              <a:rPr lang="en" sz="1400" b="1" i="0" u="none" strike="noStrike" cap="none">
                <a:solidFill>
                  <a:srgbClr val="000FD6"/>
                </a:solidFill>
                <a:latin typeface="Arial"/>
                <a:ea typeface="Arial"/>
                <a:cs typeface="Arial"/>
                <a:sym typeface="Arial"/>
              </a:rPr>
              <a:t>class</a:t>
            </a:r>
            <a:r>
              <a:rPr lang="en" sz="1400" b="0" i="0" u="none" strike="noStrike" cap="none">
                <a:solidFill>
                  <a:schemeClr val="dk1"/>
                </a:solidFill>
                <a:latin typeface="Arial"/>
                <a:ea typeface="Arial"/>
                <a:cs typeface="Arial"/>
                <a:sym typeface="Arial"/>
              </a:rPr>
              <a:t> ComputeArea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   </a:t>
            </a:r>
            <a:r>
              <a:rPr lang="en" sz="1400" b="1" i="0" u="none" strike="noStrike" cap="none">
                <a:solidFill>
                  <a:srgbClr val="000FD6"/>
                </a:solidFill>
                <a:latin typeface="Arial"/>
                <a:ea typeface="Arial"/>
                <a:cs typeface="Arial"/>
                <a:sym typeface="Arial"/>
              </a:rPr>
              <a:t>public</a:t>
            </a:r>
            <a:r>
              <a:rPr lang="en" sz="1400" b="0" i="0" u="none" strike="noStrike" cap="none">
                <a:solidFill>
                  <a:schemeClr val="dk1"/>
                </a:solidFill>
                <a:latin typeface="Arial"/>
                <a:ea typeface="Arial"/>
                <a:cs typeface="Arial"/>
                <a:sym typeface="Arial"/>
              </a:rPr>
              <a:t> </a:t>
            </a:r>
            <a:r>
              <a:rPr lang="en" sz="1400" b="1" i="0" u="none" strike="noStrike" cap="none">
                <a:solidFill>
                  <a:srgbClr val="000FD6"/>
                </a:solidFill>
                <a:latin typeface="Arial"/>
                <a:ea typeface="Arial"/>
                <a:cs typeface="Arial"/>
                <a:sym typeface="Arial"/>
              </a:rPr>
              <a:t>static</a:t>
            </a:r>
            <a:r>
              <a:rPr lang="en" sz="1400" b="0" i="0" u="none" strike="noStrike" cap="none">
                <a:solidFill>
                  <a:schemeClr val="dk1"/>
                </a:solidFill>
                <a:latin typeface="Arial"/>
                <a:ea typeface="Arial"/>
                <a:cs typeface="Arial"/>
                <a:sym typeface="Arial"/>
              </a:rPr>
              <a:t> </a:t>
            </a:r>
            <a:r>
              <a:rPr lang="en" sz="1400" b="1" i="0" u="none" strike="noStrike" cap="none">
                <a:solidFill>
                  <a:srgbClr val="000FD6"/>
                </a:solidFill>
                <a:latin typeface="Arial"/>
                <a:ea typeface="Arial"/>
                <a:cs typeface="Arial"/>
                <a:sym typeface="Arial"/>
              </a:rPr>
              <a:t>void</a:t>
            </a:r>
            <a:r>
              <a:rPr lang="en" sz="1400" b="0" i="0" u="none" strike="noStrike" cap="none">
                <a:solidFill>
                  <a:schemeClr val="dk1"/>
                </a:solidFill>
                <a:latin typeface="Arial"/>
                <a:ea typeface="Arial"/>
                <a:cs typeface="Arial"/>
                <a:sym typeface="Arial"/>
              </a:rPr>
              <a:t> main(String[] args)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         </a:t>
            </a:r>
            <a:r>
              <a:rPr lang="en" sz="1400" b="0" i="0" u="none" strike="noStrike" cap="none">
                <a:solidFill>
                  <a:srgbClr val="3F7F5F"/>
                </a:solidFill>
                <a:latin typeface="Arial"/>
                <a:ea typeface="Arial"/>
                <a:cs typeface="Arial"/>
                <a:sym typeface="Arial"/>
              </a:rPr>
              <a:t>//declare and initialize constant in read only</a:t>
            </a:r>
            <a:endParaRPr sz="14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FD6"/>
                </a:solidFill>
                <a:latin typeface="Arial"/>
                <a:ea typeface="Arial"/>
                <a:cs typeface="Arial"/>
                <a:sym typeface="Arial"/>
              </a:rPr>
              <a:t>final</a:t>
            </a:r>
            <a:r>
              <a:rPr lang="en" sz="1400" b="0" i="0" u="none" strike="noStrike" cap="none">
                <a:solidFill>
                  <a:schemeClr val="dk1"/>
                </a:solidFill>
                <a:latin typeface="Arial"/>
                <a:ea typeface="Arial"/>
                <a:cs typeface="Arial"/>
                <a:sym typeface="Arial"/>
              </a:rPr>
              <a:t> </a:t>
            </a:r>
            <a:r>
              <a:rPr lang="en" sz="1400" b="1" i="0" u="none" strike="noStrike" cap="none">
                <a:solidFill>
                  <a:srgbClr val="000FD6"/>
                </a:solidFill>
                <a:latin typeface="Arial"/>
                <a:ea typeface="Arial"/>
                <a:cs typeface="Arial"/>
                <a:sym typeface="Arial"/>
              </a:rPr>
              <a:t>double</a:t>
            </a:r>
            <a:r>
              <a:rPr lang="en" sz="1400" b="0" i="0" u="none" strike="noStrike" cap="none">
                <a:solidFill>
                  <a:schemeClr val="dk1"/>
                </a:solidFill>
                <a:latin typeface="Arial"/>
                <a:ea typeface="Arial"/>
                <a:cs typeface="Arial"/>
                <a:sym typeface="Arial"/>
              </a:rPr>
              <a:t> PI = </a:t>
            </a:r>
            <a:r>
              <a:rPr lang="en" sz="1400" b="0" i="0" u="none" strike="noStrike" cap="none">
                <a:solidFill>
                  <a:srgbClr val="007D9F"/>
                </a:solidFill>
                <a:latin typeface="Arial"/>
                <a:ea typeface="Arial"/>
                <a:cs typeface="Arial"/>
                <a:sym typeface="Arial"/>
              </a:rPr>
              <a:t>3.14159</a:t>
            </a:r>
            <a:r>
              <a:rPr lang="en" sz="1400" b="0" i="0" u="none" strike="noStrike" cap="none">
                <a:solidFill>
                  <a:schemeClr val="dk1"/>
                </a:solidFill>
                <a:latin typeface="Arial"/>
                <a:ea typeface="Arial"/>
                <a:cs typeface="Arial"/>
                <a:sym typeface="Arial"/>
              </a:rPr>
              <a:t>;</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    	</a:t>
            </a:r>
            <a:r>
              <a:rPr lang="en" sz="1400" b="1" i="0" u="none" strike="noStrike" cap="none">
                <a:solidFill>
                  <a:srgbClr val="000FD6"/>
                </a:solidFill>
                <a:latin typeface="Arial"/>
                <a:ea typeface="Arial"/>
                <a:cs typeface="Arial"/>
                <a:sym typeface="Arial"/>
              </a:rPr>
              <a:t>double</a:t>
            </a:r>
            <a:r>
              <a:rPr lang="en" sz="1400" b="0" i="0" u="none" strike="noStrike" cap="none">
                <a:solidFill>
                  <a:schemeClr val="dk1"/>
                </a:solidFill>
                <a:latin typeface="Arial"/>
                <a:ea typeface="Arial"/>
                <a:cs typeface="Arial"/>
                <a:sym typeface="Arial"/>
              </a:rPr>
              <a:t> radius;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    	</a:t>
            </a:r>
            <a:r>
              <a:rPr lang="en" sz="1400" b="1" i="0" u="none" strike="noStrike" cap="none">
                <a:solidFill>
                  <a:srgbClr val="000FD6"/>
                </a:solidFill>
                <a:latin typeface="Arial"/>
                <a:ea typeface="Arial"/>
                <a:cs typeface="Arial"/>
                <a:sym typeface="Arial"/>
              </a:rPr>
              <a:t>double</a:t>
            </a:r>
            <a:r>
              <a:rPr lang="en" sz="1400" b="0" i="0" u="none" strike="noStrike" cap="none">
                <a:solidFill>
                  <a:schemeClr val="dk1"/>
                </a:solidFill>
                <a:latin typeface="Arial"/>
                <a:ea typeface="Arial"/>
                <a:cs typeface="Arial"/>
                <a:sym typeface="Arial"/>
              </a:rPr>
              <a:t> area;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    	radius = </a:t>
            </a:r>
            <a:r>
              <a:rPr lang="en" sz="1400" b="0" i="0" u="none" strike="noStrike" cap="none">
                <a:solidFill>
                  <a:srgbClr val="007D9F"/>
                </a:solidFill>
                <a:latin typeface="Arial"/>
                <a:ea typeface="Arial"/>
                <a:cs typeface="Arial"/>
                <a:sym typeface="Arial"/>
              </a:rPr>
              <a:t>20</a:t>
            </a:r>
            <a:r>
              <a:rPr lang="en" sz="1400" b="0" i="0" u="none" strike="noStrike" cap="none">
                <a:solidFill>
                  <a:schemeClr val="dk1"/>
                </a:solidFill>
                <a:latin typeface="Arial"/>
                <a:ea typeface="Arial"/>
                <a:cs typeface="Arial"/>
                <a:sym typeface="Arial"/>
              </a:rPr>
              <a:t>;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    	 area = radius * radius * PI;</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    	System.out.println(</a:t>
            </a:r>
            <a:r>
              <a:rPr lang="en" sz="1400" b="0" i="0" u="none" strike="noStrike" cap="none">
                <a:solidFill>
                  <a:srgbClr val="007D9F"/>
                </a:solidFill>
                <a:latin typeface="Arial"/>
                <a:ea typeface="Arial"/>
                <a:cs typeface="Arial"/>
                <a:sym typeface="Arial"/>
              </a:rPr>
              <a:t>"The area for the circle of radius "</a:t>
            </a:r>
            <a:r>
              <a:rPr lang="en" sz="1400" b="0" i="0" u="none" strike="noStrike" cap="none">
                <a:solidFill>
                  <a:schemeClr val="dk1"/>
                </a:solidFill>
                <a:latin typeface="Arial"/>
                <a:ea typeface="Arial"/>
                <a:cs typeface="Arial"/>
                <a:sym typeface="Arial"/>
              </a:rPr>
              <a:t> +</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      radius + </a:t>
            </a:r>
            <a:r>
              <a:rPr lang="en" sz="1400" b="0" i="0" u="none" strike="noStrike" cap="none">
                <a:solidFill>
                  <a:srgbClr val="007D9F"/>
                </a:solidFill>
                <a:latin typeface="Arial"/>
                <a:ea typeface="Arial"/>
                <a:cs typeface="Arial"/>
                <a:sym typeface="Arial"/>
              </a:rPr>
              <a:t>" is "</a:t>
            </a:r>
            <a:r>
              <a:rPr lang="en" sz="1400" b="0" i="0" u="none" strike="noStrike" cap="none">
                <a:solidFill>
                  <a:schemeClr val="dk1"/>
                </a:solidFill>
                <a:latin typeface="Arial"/>
                <a:ea typeface="Arial"/>
                <a:cs typeface="Arial"/>
                <a:sym typeface="Arial"/>
              </a:rPr>
              <a:t> + area);</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  }</a:t>
            </a:r>
            <a:r>
              <a:rPr lang="en" sz="1200" b="0" i="0" u="none" strike="noStrike" cap="none">
                <a:solidFill>
                  <a:srgbClr val="3F7F5F"/>
                </a:solidFill>
                <a:highlight>
                  <a:srgbClr val="FFFFFF"/>
                </a:highlight>
                <a:latin typeface="Arial"/>
                <a:ea typeface="Arial"/>
                <a:cs typeface="Arial"/>
                <a:sym typeface="Arial"/>
              </a:rPr>
              <a:t>//end of main</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a:t>
            </a:r>
            <a:r>
              <a:rPr lang="en" sz="1200" b="0" i="0" u="none" strike="noStrike" cap="none">
                <a:solidFill>
                  <a:srgbClr val="3F7F5F"/>
                </a:solidFill>
                <a:highlight>
                  <a:srgbClr val="FFFFFF"/>
                </a:highlight>
                <a:latin typeface="Arial"/>
                <a:ea typeface="Arial"/>
                <a:cs typeface="Arial"/>
                <a:sym typeface="Arial"/>
              </a:rPr>
              <a:t>//end of class</a:t>
            </a:r>
            <a:endParaRPr sz="1400" b="0" i="0" u="none" strike="noStrike" cap="none">
              <a:solidFill>
                <a:schemeClr val="dk1"/>
              </a:solidFill>
              <a:latin typeface="Arial"/>
              <a:ea typeface="Arial"/>
              <a:cs typeface="Arial"/>
              <a:sym typeface="Arial"/>
            </a:endParaRPr>
          </a:p>
        </p:txBody>
      </p:sp>
      <p:sp>
        <p:nvSpPr>
          <p:cNvPr id="259" name="Google Shape;259;p21"/>
          <p:cNvSpPr txBox="1">
            <a:spLocks noGrp="1"/>
          </p:cNvSpPr>
          <p:nvPr>
            <p:ph type="title"/>
          </p:nvPr>
        </p:nvSpPr>
        <p:spPr>
          <a:xfrm>
            <a:off x="311700" y="254900"/>
            <a:ext cx="8520600" cy="5727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800"/>
              <a:buNone/>
            </a:pPr>
            <a:r>
              <a:rPr lang="en"/>
              <a:t>Discuss</a:t>
            </a:r>
            <a:endParaRPr/>
          </a:p>
        </p:txBody>
      </p:sp>
      <p:sp>
        <p:nvSpPr>
          <p:cNvPr id="260" name="Google Shape;260;p21"/>
          <p:cNvSpPr txBox="1"/>
          <p:nvPr/>
        </p:nvSpPr>
        <p:spPr>
          <a:xfrm>
            <a:off x="4292025" y="1420050"/>
            <a:ext cx="4726500" cy="1843200"/>
          </a:xfrm>
          <a:prstGeom prst="rect">
            <a:avLst/>
          </a:prstGeom>
          <a:solidFill>
            <a:srgbClr val="D9D2E9"/>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en" sz="1300" b="0" i="0" u="none" strike="noStrike" cap="none" dirty="0">
                <a:solidFill>
                  <a:srgbClr val="434343"/>
                </a:solidFill>
                <a:latin typeface="Lexend"/>
                <a:ea typeface="Lexend"/>
                <a:cs typeface="Lexend"/>
                <a:sym typeface="Lexend"/>
              </a:rPr>
              <a:t>Your group will discuss the code. </a:t>
            </a:r>
            <a:endParaRPr sz="1300" b="0" i="0" u="none" strike="noStrike" cap="none" dirty="0">
              <a:solidFill>
                <a:srgbClr val="434343"/>
              </a:solidFill>
              <a:latin typeface="Lexend"/>
              <a:ea typeface="Lexend"/>
              <a:cs typeface="Lexend"/>
              <a:sym typeface="Lexend"/>
            </a:endParaRPr>
          </a:p>
          <a:p>
            <a:pPr marL="457200" marR="0" lvl="0" indent="-311150" algn="l" rtl="0">
              <a:lnSpc>
                <a:spcPct val="115000"/>
              </a:lnSpc>
              <a:spcBef>
                <a:spcPts val="1200"/>
              </a:spcBef>
              <a:spcAft>
                <a:spcPts val="0"/>
              </a:spcAft>
              <a:buClr>
                <a:srgbClr val="434343"/>
              </a:buClr>
              <a:buSzPts val="1300"/>
              <a:buFont typeface="Lexend"/>
              <a:buAutoNum type="arabicPeriod"/>
            </a:pPr>
            <a:r>
              <a:rPr lang="en" sz="1300" b="0" i="0" u="none" strike="noStrike" cap="none" dirty="0">
                <a:solidFill>
                  <a:srgbClr val="434343"/>
                </a:solidFill>
                <a:latin typeface="Lexend"/>
                <a:ea typeface="Lexend"/>
                <a:cs typeface="Lexend"/>
                <a:sym typeface="Lexend"/>
              </a:rPr>
              <a:t>Rotate in your group to share one term to explain something in the code.</a:t>
            </a:r>
            <a:endParaRPr sz="1300" b="0" i="0" u="none" strike="noStrike" cap="none" dirty="0">
              <a:solidFill>
                <a:srgbClr val="434343"/>
              </a:solidFill>
              <a:latin typeface="Lexend"/>
              <a:ea typeface="Lexend"/>
              <a:cs typeface="Lexend"/>
              <a:sym typeface="Lexend"/>
            </a:endParaRPr>
          </a:p>
          <a:p>
            <a:pPr marL="457200" marR="0" lvl="0" indent="-311150" algn="l" rtl="0">
              <a:lnSpc>
                <a:spcPct val="115000"/>
              </a:lnSpc>
              <a:spcBef>
                <a:spcPts val="1200"/>
              </a:spcBef>
              <a:spcAft>
                <a:spcPts val="0"/>
              </a:spcAft>
              <a:buClr>
                <a:srgbClr val="434343"/>
              </a:buClr>
              <a:buSzPts val="1300"/>
              <a:buFont typeface="Lexend"/>
              <a:buAutoNum type="arabicPeriod"/>
            </a:pPr>
            <a:r>
              <a:rPr lang="en" sz="1300" b="0" i="0" u="none" strike="noStrike" cap="none" dirty="0">
                <a:solidFill>
                  <a:srgbClr val="434343"/>
                </a:solidFill>
                <a:latin typeface="Lexend"/>
                <a:ea typeface="Lexend"/>
                <a:cs typeface="Lexend"/>
                <a:sym typeface="Lexend"/>
              </a:rPr>
              <a:t>Go to </a:t>
            </a:r>
            <a:r>
              <a:rPr lang="en" sz="1300" b="0" i="0" u="sng" strike="noStrike" cap="none" dirty="0">
                <a:solidFill>
                  <a:schemeClr val="hlink"/>
                </a:solidFill>
                <a:latin typeface="Lexend"/>
                <a:ea typeface="Lexend"/>
                <a:cs typeface="Lexend"/>
                <a:sym typeface="Lexend"/>
                <a:hlinkClick r:id="rId3"/>
              </a:rPr>
              <a:t>ComputeArea</a:t>
            </a:r>
            <a:r>
              <a:rPr lang="en" sz="1300" b="0" i="0" u="none" strike="noStrike" cap="none" dirty="0">
                <a:solidFill>
                  <a:srgbClr val="434343"/>
                </a:solidFill>
                <a:latin typeface="Lexend"/>
                <a:ea typeface="Lexend"/>
                <a:cs typeface="Lexend"/>
                <a:sym typeface="Lexend"/>
              </a:rPr>
              <a:t> example.  Run animation to see if you are understanding the different parts.</a:t>
            </a:r>
            <a:endParaRPr sz="1300" b="0" i="0" u="none" strike="noStrike" cap="none" dirty="0">
              <a:solidFill>
                <a:srgbClr val="434343"/>
              </a:solidFill>
              <a:latin typeface="Lexend"/>
              <a:ea typeface="Lexend"/>
              <a:cs typeface="Lexend"/>
              <a:sym typeface="Lexend"/>
            </a:endParaRPr>
          </a:p>
          <a:p>
            <a:pPr marL="0" marR="0" lvl="0" indent="0" algn="l" rtl="0">
              <a:lnSpc>
                <a:spcPct val="115000"/>
              </a:lnSpc>
              <a:spcBef>
                <a:spcPts val="0"/>
              </a:spcBef>
              <a:spcAft>
                <a:spcPts val="0"/>
              </a:spcAft>
              <a:buNone/>
            </a:pPr>
            <a:endParaRPr sz="1300" b="0" i="0" u="none" strike="noStrike" cap="none" dirty="0">
              <a:solidFill>
                <a:srgbClr val="434343"/>
              </a:solidFill>
              <a:latin typeface="Lexend"/>
              <a:ea typeface="Lexend"/>
              <a:cs typeface="Lexend"/>
              <a:sym typeface="Lexend"/>
            </a:endParaRPr>
          </a:p>
        </p:txBody>
      </p:sp>
      <p:sp>
        <p:nvSpPr>
          <p:cNvPr id="261" name="Google Shape;261;p21"/>
          <p:cNvSpPr txBox="1"/>
          <p:nvPr/>
        </p:nvSpPr>
        <p:spPr>
          <a:xfrm>
            <a:off x="235350" y="763325"/>
            <a:ext cx="8673300" cy="681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Clr>
                <a:srgbClr val="000000"/>
              </a:buClr>
              <a:buSzPts val="1500"/>
              <a:buFont typeface="Arial"/>
              <a:buNone/>
            </a:pPr>
            <a:r>
              <a:rPr lang="en" sz="1500" b="1" i="0" u="none" strike="noStrike" cap="none" dirty="0">
                <a:solidFill>
                  <a:srgbClr val="434343"/>
                </a:solidFill>
                <a:latin typeface="Lexend"/>
                <a:ea typeface="Lexend"/>
                <a:cs typeface="Lexend"/>
                <a:sym typeface="Lexend"/>
              </a:rPr>
              <a:t>Terms:</a:t>
            </a:r>
            <a:r>
              <a:rPr lang="en" sz="1500" b="0" i="0" u="none" strike="noStrike" cap="none" dirty="0">
                <a:solidFill>
                  <a:srgbClr val="434343"/>
                </a:solidFill>
                <a:latin typeface="Lexend"/>
                <a:ea typeface="Lexend"/>
                <a:cs typeface="Lexend"/>
                <a:sym typeface="Lexend"/>
              </a:rPr>
              <a:t> keyword, class, identifier, method, variable, constants, declare, memory, assign, initialize, literals, data type, primitive data type, naming conventions, comments</a:t>
            </a:r>
            <a:endParaRPr sz="1500" b="0" i="0" u="none" strike="noStrike" cap="none" dirty="0">
              <a:solidFill>
                <a:srgbClr val="000000"/>
              </a:solidFill>
              <a:latin typeface="Lexend"/>
              <a:ea typeface="Lexend"/>
              <a:cs typeface="Lexend"/>
              <a:sym typeface="Lexend"/>
            </a:endParaRPr>
          </a:p>
        </p:txBody>
      </p:sp>
      <p:sp>
        <p:nvSpPr>
          <p:cNvPr id="262" name="Google Shape;262;p21"/>
          <p:cNvSpPr/>
          <p:nvPr/>
        </p:nvSpPr>
        <p:spPr>
          <a:xfrm>
            <a:off x="4475275" y="190625"/>
            <a:ext cx="4477500" cy="572700"/>
          </a:xfrm>
          <a:prstGeom prst="wedgeRoundRectCallout">
            <a:avLst>
              <a:gd name="adj1" fmla="val -57855"/>
              <a:gd name="adj2" fmla="val 54942"/>
              <a:gd name="adj3" fmla="val 0"/>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exend"/>
                <a:ea typeface="Lexend"/>
                <a:cs typeface="Lexend"/>
                <a:sym typeface="Lexend"/>
              </a:rPr>
              <a:t>How can you learn these terms and concepts?</a:t>
            </a:r>
            <a:endParaRPr sz="1400" b="0" i="0" u="none" strike="noStrike" cap="none">
              <a:solidFill>
                <a:srgbClr val="000000"/>
              </a:solidFill>
              <a:latin typeface="Lexend"/>
              <a:ea typeface="Lexend"/>
              <a:cs typeface="Lexend"/>
              <a:sym typeface="Lexend"/>
            </a:endParaRPr>
          </a:p>
        </p:txBody>
      </p:sp>
      <p:sp>
        <p:nvSpPr>
          <p:cNvPr id="263" name="Google Shape;263;p21"/>
          <p:cNvSpPr/>
          <p:nvPr/>
        </p:nvSpPr>
        <p:spPr>
          <a:xfrm>
            <a:off x="5200650" y="3829025"/>
            <a:ext cx="3708000" cy="1110000"/>
          </a:xfrm>
          <a:prstGeom prst="wedgeRectCallout">
            <a:avLst>
              <a:gd name="adj1" fmla="val -28956"/>
              <a:gd name="adj2" fmla="val -70791"/>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1200"/>
              </a:spcAft>
              <a:buClr>
                <a:schemeClr val="dk1"/>
              </a:buClr>
              <a:buSzPts val="1100"/>
              <a:buFont typeface="Arial"/>
              <a:buNone/>
            </a:pPr>
            <a:r>
              <a:rPr lang="en" sz="1300" b="0" i="0" u="none" strike="noStrike" cap="none">
                <a:solidFill>
                  <a:srgbClr val="434343"/>
                </a:solidFill>
                <a:latin typeface="Lexend"/>
                <a:ea typeface="Lexend"/>
                <a:cs typeface="Lexend"/>
                <a:sym typeface="Lexend"/>
              </a:rPr>
              <a:t>Do not worry if you don’t fully understand. Remember learning is making mistakes and receiving feedback to improve. Feel free to go back to previous slides.</a:t>
            </a:r>
            <a:endParaRPr sz="1400" b="0" i="0" u="none" strike="noStrike" cap="none">
              <a:solidFill>
                <a:srgbClr val="000000"/>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2"/>
          <p:cNvSpPr txBox="1">
            <a:spLocks noGrp="1"/>
          </p:cNvSpPr>
          <p:nvPr>
            <p:ph type="title"/>
          </p:nvPr>
        </p:nvSpPr>
        <p:spPr>
          <a:xfrm>
            <a:off x="311700" y="22860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Operators and Evaluating Expressions</a:t>
            </a:r>
            <a:endParaRPr/>
          </a:p>
        </p:txBody>
      </p:sp>
      <p:pic>
        <p:nvPicPr>
          <p:cNvPr id="269" name="Google Shape;269;p22"/>
          <p:cNvPicPr preferRelativeResize="0"/>
          <p:nvPr/>
        </p:nvPicPr>
        <p:blipFill rotWithShape="1">
          <a:blip r:embed="rId3">
            <a:alphaModFix/>
          </a:blip>
          <a:srcRect/>
          <a:stretch/>
        </p:blipFill>
        <p:spPr>
          <a:xfrm>
            <a:off x="402150" y="801300"/>
            <a:ext cx="5424725" cy="2403850"/>
          </a:xfrm>
          <a:prstGeom prst="rect">
            <a:avLst/>
          </a:prstGeom>
          <a:noFill/>
          <a:ln>
            <a:noFill/>
          </a:ln>
        </p:spPr>
      </p:pic>
      <p:sp>
        <p:nvSpPr>
          <p:cNvPr id="270" name="Google Shape;270;p22"/>
          <p:cNvSpPr txBox="1"/>
          <p:nvPr/>
        </p:nvSpPr>
        <p:spPr>
          <a:xfrm>
            <a:off x="568050" y="3205150"/>
            <a:ext cx="8007900" cy="179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700"/>
              <a:buFont typeface="Arial"/>
              <a:buNone/>
            </a:pPr>
            <a:r>
              <a:rPr lang="en" sz="1700" b="0" i="0" u="none" strike="noStrike" cap="none">
                <a:solidFill>
                  <a:srgbClr val="434343"/>
                </a:solidFill>
                <a:latin typeface="Lexend"/>
                <a:ea typeface="Lexend"/>
                <a:cs typeface="Lexend"/>
                <a:sym typeface="Lexend"/>
              </a:rPr>
              <a:t>Recall from math the </a:t>
            </a:r>
            <a:r>
              <a:rPr lang="en" sz="1700" b="0" i="0" u="sng" strike="noStrike" cap="none">
                <a:solidFill>
                  <a:schemeClr val="hlink"/>
                </a:solidFill>
                <a:latin typeface="Lexend"/>
                <a:ea typeface="Lexend"/>
                <a:cs typeface="Lexend"/>
                <a:sym typeface="Lexend"/>
                <a:hlinkClick r:id="rId4"/>
              </a:rPr>
              <a:t>order of operators</a:t>
            </a:r>
            <a:r>
              <a:rPr lang="en" sz="1700" b="0" i="0" u="none" strike="noStrike" cap="none">
                <a:solidFill>
                  <a:srgbClr val="434343"/>
                </a:solidFill>
                <a:latin typeface="Lexend"/>
                <a:ea typeface="Lexend"/>
                <a:cs typeface="Lexend"/>
                <a:sym typeface="Lexend"/>
              </a:rPr>
              <a:t>:</a:t>
            </a:r>
            <a:endParaRPr sz="1700" b="0" i="0" u="none" strike="noStrike" cap="none">
              <a:solidFill>
                <a:srgbClr val="434343"/>
              </a:solidFill>
              <a:latin typeface="Lexend"/>
              <a:ea typeface="Lexend"/>
              <a:cs typeface="Lexend"/>
              <a:sym typeface="Lexend"/>
            </a:endParaRPr>
          </a:p>
          <a:p>
            <a:pPr marL="457200" marR="0" lvl="0" indent="-336550" algn="l" rtl="0">
              <a:lnSpc>
                <a:spcPct val="100000"/>
              </a:lnSpc>
              <a:spcBef>
                <a:spcPts val="0"/>
              </a:spcBef>
              <a:spcAft>
                <a:spcPts val="0"/>
              </a:spcAft>
              <a:buClr>
                <a:srgbClr val="000000"/>
              </a:buClr>
              <a:buSzPts val="1700"/>
              <a:buFont typeface="Lexend"/>
              <a:buAutoNum type="arabicPeriod"/>
            </a:pPr>
            <a:r>
              <a:rPr lang="en" sz="1700" b="0" i="0" u="none" strike="noStrike" cap="none">
                <a:solidFill>
                  <a:srgbClr val="000000"/>
                </a:solidFill>
                <a:latin typeface="Lexend"/>
                <a:ea typeface="Lexend"/>
                <a:cs typeface="Lexend"/>
                <a:sym typeface="Lexend"/>
              </a:rPr>
              <a:t>Anything in parentheses</a:t>
            </a:r>
            <a:endParaRPr sz="1700" b="0" i="0" u="none" strike="noStrike" cap="none">
              <a:solidFill>
                <a:srgbClr val="000000"/>
              </a:solidFill>
              <a:latin typeface="Lexend"/>
              <a:ea typeface="Lexend"/>
              <a:cs typeface="Lexend"/>
              <a:sym typeface="Lexend"/>
            </a:endParaRPr>
          </a:p>
          <a:p>
            <a:pPr marL="457200" marR="0" lvl="0" indent="-336550" algn="l" rtl="0">
              <a:lnSpc>
                <a:spcPct val="100000"/>
              </a:lnSpc>
              <a:spcBef>
                <a:spcPts val="0"/>
              </a:spcBef>
              <a:spcAft>
                <a:spcPts val="0"/>
              </a:spcAft>
              <a:buClr>
                <a:srgbClr val="000000"/>
              </a:buClr>
              <a:buSzPts val="1700"/>
              <a:buFont typeface="Lexend"/>
              <a:buAutoNum type="arabicPeriod"/>
            </a:pPr>
            <a:r>
              <a:rPr lang="en" sz="1700" b="0" i="0" u="none" strike="noStrike" cap="none">
                <a:solidFill>
                  <a:srgbClr val="000000"/>
                </a:solidFill>
                <a:latin typeface="Lexend"/>
                <a:ea typeface="Lexend"/>
                <a:cs typeface="Lexend"/>
                <a:sym typeface="Lexend"/>
              </a:rPr>
              <a:t>Exponents (powers, square roots, and so on)</a:t>
            </a:r>
            <a:endParaRPr sz="1700" b="0" i="0" u="none" strike="noStrike" cap="none">
              <a:solidFill>
                <a:srgbClr val="000000"/>
              </a:solidFill>
              <a:latin typeface="Lexend"/>
              <a:ea typeface="Lexend"/>
              <a:cs typeface="Lexend"/>
              <a:sym typeface="Lexend"/>
            </a:endParaRPr>
          </a:p>
          <a:p>
            <a:pPr marL="457200" marR="0" lvl="0" indent="-336550" algn="l" rtl="0">
              <a:lnSpc>
                <a:spcPct val="100000"/>
              </a:lnSpc>
              <a:spcBef>
                <a:spcPts val="0"/>
              </a:spcBef>
              <a:spcAft>
                <a:spcPts val="0"/>
              </a:spcAft>
              <a:buClr>
                <a:srgbClr val="000000"/>
              </a:buClr>
              <a:buSzPts val="1700"/>
              <a:buFont typeface="Lexend"/>
              <a:buAutoNum type="arabicPeriod"/>
            </a:pPr>
            <a:r>
              <a:rPr lang="en" sz="1700" b="0" i="0" u="none" strike="noStrike" cap="none">
                <a:solidFill>
                  <a:srgbClr val="000000"/>
                </a:solidFill>
                <a:latin typeface="Lexend"/>
                <a:ea typeface="Lexend"/>
                <a:cs typeface="Lexend"/>
                <a:sym typeface="Lexend"/>
              </a:rPr>
              <a:t>*   /   %		(multiplication, division, remainder from left to right)</a:t>
            </a:r>
            <a:endParaRPr sz="1700" b="0" i="0" u="none" strike="noStrike" cap="none">
              <a:solidFill>
                <a:srgbClr val="000000"/>
              </a:solidFill>
              <a:latin typeface="Lexend"/>
              <a:ea typeface="Lexend"/>
              <a:cs typeface="Lexend"/>
              <a:sym typeface="Lexend"/>
            </a:endParaRPr>
          </a:p>
          <a:p>
            <a:pPr marL="457200" marR="0" lvl="0" indent="-336550" algn="l" rtl="0">
              <a:lnSpc>
                <a:spcPct val="100000"/>
              </a:lnSpc>
              <a:spcBef>
                <a:spcPts val="0"/>
              </a:spcBef>
              <a:spcAft>
                <a:spcPts val="0"/>
              </a:spcAft>
              <a:buClr>
                <a:srgbClr val="000000"/>
              </a:buClr>
              <a:buSzPts val="1700"/>
              <a:buFont typeface="Lexend"/>
              <a:buAutoNum type="arabicPeriod"/>
            </a:pPr>
            <a:r>
              <a:rPr lang="en" sz="1700" b="0" i="0" u="none" strike="noStrike" cap="none">
                <a:solidFill>
                  <a:srgbClr val="000000"/>
                </a:solidFill>
                <a:latin typeface="Lexend"/>
                <a:ea typeface="Lexend"/>
                <a:cs typeface="Lexend"/>
                <a:sym typeface="Lexend"/>
              </a:rPr>
              <a:t>+  - 		(addition, subtraction from left to right)</a:t>
            </a:r>
            <a:endParaRPr sz="1700" b="0" i="0" u="none" strike="noStrike" cap="none">
              <a:solidFill>
                <a:srgbClr val="434343"/>
              </a:solidFill>
              <a:latin typeface="Lexend"/>
              <a:ea typeface="Lexend"/>
              <a:cs typeface="Lexend"/>
              <a:sym typeface="Lexend"/>
            </a:endParaRPr>
          </a:p>
          <a:p>
            <a:pPr marL="0" marR="0" lvl="0" indent="0" algn="l" rtl="0">
              <a:lnSpc>
                <a:spcPct val="115000"/>
              </a:lnSpc>
              <a:spcBef>
                <a:spcPts val="0"/>
              </a:spcBef>
              <a:spcAft>
                <a:spcPts val="0"/>
              </a:spcAft>
              <a:buClr>
                <a:srgbClr val="000000"/>
              </a:buClr>
              <a:buSzPts val="1700"/>
              <a:buFont typeface="Arial"/>
              <a:buNone/>
            </a:pPr>
            <a:endParaRPr sz="1700" b="0" i="0" u="none" strike="noStrike" cap="none">
              <a:solidFill>
                <a:schemeClr val="dk1"/>
              </a:solidFill>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3"/>
          <p:cNvSpPr txBox="1">
            <a:spLocks noGrp="1"/>
          </p:cNvSpPr>
          <p:nvPr>
            <p:ph type="title"/>
          </p:nvPr>
        </p:nvSpPr>
        <p:spPr>
          <a:xfrm>
            <a:off x="311700" y="25490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Integer Division and Modulo Operator </a:t>
            </a:r>
            <a:endParaRPr/>
          </a:p>
        </p:txBody>
      </p:sp>
      <p:sp>
        <p:nvSpPr>
          <p:cNvPr id="276" name="Google Shape;276;p23"/>
          <p:cNvSpPr txBox="1">
            <a:spLocks noGrp="1"/>
          </p:cNvSpPr>
          <p:nvPr>
            <p:ph type="body" idx="1"/>
          </p:nvPr>
        </p:nvSpPr>
        <p:spPr>
          <a:xfrm>
            <a:off x="244075" y="827600"/>
            <a:ext cx="8726400" cy="4315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40"/>
              </a:spcBef>
              <a:spcAft>
                <a:spcPts val="0"/>
              </a:spcAft>
              <a:buSzPts val="1800"/>
              <a:buNone/>
            </a:pPr>
            <a:r>
              <a:rPr lang="en" sz="1500" b="1">
                <a:highlight>
                  <a:srgbClr val="F9CB9C"/>
                </a:highlight>
              </a:rPr>
              <a:t>Division with integers – be careful!</a:t>
            </a:r>
            <a:endParaRPr sz="1500" b="1">
              <a:highlight>
                <a:srgbClr val="F9CB9C"/>
              </a:highlight>
            </a:endParaRPr>
          </a:p>
          <a:p>
            <a:pPr marL="342900" lvl="0" indent="-234950" algn="l" rtl="0">
              <a:lnSpc>
                <a:spcPct val="100000"/>
              </a:lnSpc>
              <a:spcBef>
                <a:spcPts val="640"/>
              </a:spcBef>
              <a:spcAft>
                <a:spcPts val="0"/>
              </a:spcAft>
              <a:buSzPts val="1500"/>
              <a:buChar char="●"/>
            </a:pPr>
            <a:r>
              <a:rPr lang="en" sz="1500"/>
              <a:t>Result is an integer</a:t>
            </a:r>
            <a:endParaRPr sz="1500"/>
          </a:p>
          <a:p>
            <a:pPr marL="342900" lvl="0" indent="-234950" algn="l" rtl="0">
              <a:lnSpc>
                <a:spcPct val="100000"/>
              </a:lnSpc>
              <a:spcBef>
                <a:spcPts val="640"/>
              </a:spcBef>
              <a:spcAft>
                <a:spcPts val="0"/>
              </a:spcAft>
              <a:buSzPts val="1500"/>
              <a:buChar char="●"/>
            </a:pPr>
            <a:r>
              <a:rPr lang="en" sz="1500"/>
              <a:t>Fraction part is truncated </a:t>
            </a:r>
            <a:endParaRPr sz="1500"/>
          </a:p>
          <a:p>
            <a:pPr marL="0" lvl="0" indent="0" algn="l" rtl="0">
              <a:lnSpc>
                <a:spcPct val="100000"/>
              </a:lnSpc>
              <a:spcBef>
                <a:spcPts val="640"/>
              </a:spcBef>
              <a:spcAft>
                <a:spcPts val="0"/>
              </a:spcAft>
              <a:buSzPts val="1800"/>
              <a:buNone/>
            </a:pPr>
            <a:r>
              <a:rPr lang="en" sz="1500"/>
              <a:t>Examples</a:t>
            </a:r>
            <a:endParaRPr sz="1500"/>
          </a:p>
          <a:p>
            <a:pPr marL="342900" lvl="0" indent="-234950" algn="l" rtl="0">
              <a:lnSpc>
                <a:spcPct val="100000"/>
              </a:lnSpc>
              <a:spcBef>
                <a:spcPts val="640"/>
              </a:spcBef>
              <a:spcAft>
                <a:spcPts val="0"/>
              </a:spcAft>
              <a:buSzPts val="1500"/>
              <a:buChar char="●"/>
            </a:pPr>
            <a:r>
              <a:rPr lang="en" sz="1500"/>
              <a:t>½ is 0</a:t>
            </a:r>
            <a:endParaRPr sz="1500"/>
          </a:p>
          <a:p>
            <a:pPr marL="342900" lvl="0" indent="-234950" algn="l" rtl="0">
              <a:lnSpc>
                <a:spcPct val="100000"/>
              </a:lnSpc>
              <a:spcBef>
                <a:spcPts val="640"/>
              </a:spcBef>
              <a:spcAft>
                <a:spcPts val="0"/>
              </a:spcAft>
              <a:buSzPts val="1500"/>
              <a:buChar char="●"/>
            </a:pPr>
            <a:r>
              <a:rPr lang="en" sz="1500"/>
              <a:t>17/5 is 3</a:t>
            </a:r>
            <a:endParaRPr sz="1500"/>
          </a:p>
          <a:p>
            <a:pPr marL="0" lvl="0" indent="0" algn="l" rtl="0">
              <a:lnSpc>
                <a:spcPct val="100000"/>
              </a:lnSpc>
              <a:spcBef>
                <a:spcPts val="640"/>
              </a:spcBef>
              <a:spcAft>
                <a:spcPts val="0"/>
              </a:spcAft>
              <a:buSzPts val="1700"/>
              <a:buNone/>
            </a:pPr>
            <a:endParaRPr sz="1500"/>
          </a:p>
          <a:p>
            <a:pPr marL="0" lvl="0" indent="0" algn="l" rtl="0">
              <a:lnSpc>
                <a:spcPct val="100000"/>
              </a:lnSpc>
              <a:spcBef>
                <a:spcPts val="0"/>
              </a:spcBef>
              <a:spcAft>
                <a:spcPts val="0"/>
              </a:spcAft>
              <a:buClr>
                <a:schemeClr val="dk1"/>
              </a:buClr>
              <a:buSzPts val="1700"/>
              <a:buFont typeface="Arial"/>
              <a:buNone/>
            </a:pPr>
            <a:r>
              <a:rPr lang="en" sz="1500" b="1">
                <a:solidFill>
                  <a:schemeClr val="dk1"/>
                </a:solidFill>
                <a:highlight>
                  <a:srgbClr val="F9CB9C"/>
                </a:highlight>
              </a:rPr>
              <a:t>Remainder (Modulo) operator %</a:t>
            </a:r>
            <a:endParaRPr sz="1500" b="1">
              <a:solidFill>
                <a:schemeClr val="dk1"/>
              </a:solidFill>
              <a:highlight>
                <a:srgbClr val="F9CB9C"/>
              </a:highlight>
            </a:endParaRPr>
          </a:p>
          <a:p>
            <a:pPr marL="0" lvl="0" indent="0" algn="l" rtl="0">
              <a:lnSpc>
                <a:spcPct val="100000"/>
              </a:lnSpc>
              <a:spcBef>
                <a:spcPts val="0"/>
              </a:spcBef>
              <a:spcAft>
                <a:spcPts val="0"/>
              </a:spcAft>
              <a:buClr>
                <a:schemeClr val="dk1"/>
              </a:buClr>
              <a:buSzPts val="1700"/>
              <a:buFont typeface="Arial"/>
              <a:buNone/>
            </a:pPr>
            <a:r>
              <a:rPr lang="en" sz="1500">
                <a:solidFill>
                  <a:schemeClr val="dk1"/>
                </a:solidFill>
              </a:rPr>
              <a:t>5 % 3 yields 2(the remainder of the division)</a:t>
            </a:r>
            <a:endParaRPr sz="1500">
              <a:solidFill>
                <a:schemeClr val="dk1"/>
              </a:solidFill>
            </a:endParaRPr>
          </a:p>
          <a:p>
            <a:pPr marL="0" lvl="0" indent="0" algn="l" rtl="0">
              <a:lnSpc>
                <a:spcPct val="100000"/>
              </a:lnSpc>
              <a:spcBef>
                <a:spcPts val="0"/>
              </a:spcBef>
              <a:spcAft>
                <a:spcPts val="0"/>
              </a:spcAft>
              <a:buClr>
                <a:schemeClr val="dk1"/>
              </a:buClr>
              <a:buSzPts val="1700"/>
              <a:buFont typeface="Arial"/>
              <a:buNone/>
            </a:pPr>
            <a:endParaRPr sz="1500">
              <a:solidFill>
                <a:schemeClr val="dk1"/>
              </a:solidFill>
            </a:endParaRPr>
          </a:p>
          <a:p>
            <a:pPr marL="0" lvl="0" indent="0" algn="l" rtl="0">
              <a:lnSpc>
                <a:spcPct val="100000"/>
              </a:lnSpc>
              <a:spcBef>
                <a:spcPts val="0"/>
              </a:spcBef>
              <a:spcAft>
                <a:spcPts val="0"/>
              </a:spcAft>
              <a:buClr>
                <a:schemeClr val="dk1"/>
              </a:buClr>
              <a:buSzPts val="1700"/>
              <a:buFont typeface="Arial"/>
              <a:buNone/>
            </a:pPr>
            <a:r>
              <a:rPr lang="en" sz="1500">
                <a:solidFill>
                  <a:schemeClr val="dk1"/>
                </a:solidFill>
              </a:rPr>
              <a:t>You can use this property to determine whether a number is even or odd. </a:t>
            </a:r>
            <a:endParaRPr sz="1500">
              <a:solidFill>
                <a:schemeClr val="dk1"/>
              </a:solidFill>
            </a:endParaRPr>
          </a:p>
          <a:p>
            <a:pPr marL="457200" lvl="0" indent="-323850" algn="l" rtl="0">
              <a:lnSpc>
                <a:spcPct val="100000"/>
              </a:lnSpc>
              <a:spcBef>
                <a:spcPts val="0"/>
              </a:spcBef>
              <a:spcAft>
                <a:spcPts val="0"/>
              </a:spcAft>
              <a:buClr>
                <a:schemeClr val="dk1"/>
              </a:buClr>
              <a:buSzPts val="1500"/>
              <a:buFont typeface="Lexend"/>
              <a:buChar char="●"/>
            </a:pPr>
            <a:r>
              <a:rPr lang="en" sz="1500">
                <a:solidFill>
                  <a:schemeClr val="dk1"/>
                </a:solidFill>
              </a:rPr>
              <a:t>an even number % 2 is always 0 </a:t>
            </a:r>
            <a:endParaRPr sz="1500">
              <a:solidFill>
                <a:schemeClr val="dk1"/>
              </a:solidFill>
            </a:endParaRPr>
          </a:p>
          <a:p>
            <a:pPr marL="457200" lvl="0" indent="-323850" algn="l" rtl="0">
              <a:lnSpc>
                <a:spcPct val="100000"/>
              </a:lnSpc>
              <a:spcBef>
                <a:spcPts val="0"/>
              </a:spcBef>
              <a:spcAft>
                <a:spcPts val="0"/>
              </a:spcAft>
              <a:buClr>
                <a:schemeClr val="dk1"/>
              </a:buClr>
              <a:buSzPts val="1500"/>
              <a:buFont typeface="Lexend"/>
              <a:buChar char="●"/>
            </a:pPr>
            <a:r>
              <a:rPr lang="en" sz="1500">
                <a:solidFill>
                  <a:schemeClr val="dk1"/>
                </a:solidFill>
              </a:rPr>
              <a:t>an odd number % 2 is always 1</a:t>
            </a:r>
            <a:endParaRPr sz="150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500">
              <a:solidFill>
                <a:schemeClr val="dk1"/>
              </a:solidFill>
            </a:endParaRPr>
          </a:p>
          <a:p>
            <a:pPr marL="0" lvl="0" indent="0" algn="l" rtl="0">
              <a:lnSpc>
                <a:spcPct val="100000"/>
              </a:lnSpc>
              <a:spcBef>
                <a:spcPts val="0"/>
              </a:spcBef>
              <a:spcAft>
                <a:spcPts val="0"/>
              </a:spcAft>
              <a:buSzPts val="1700"/>
              <a:buNone/>
            </a:pPr>
            <a:r>
              <a:rPr lang="en" sz="1500">
                <a:solidFill>
                  <a:schemeClr val="dk1"/>
                </a:solidFill>
              </a:rPr>
              <a:t>Here are some examples of using </a:t>
            </a:r>
            <a:r>
              <a:rPr lang="en" sz="1500" u="sng">
                <a:solidFill>
                  <a:schemeClr val="hlink"/>
                </a:solidFill>
                <a:hlinkClick r:id="rId3"/>
              </a:rPr>
              <a:t>Modular Arithmetic </a:t>
            </a:r>
            <a:endParaRPr sz="1500"/>
          </a:p>
        </p:txBody>
      </p:sp>
      <p:sp>
        <p:nvSpPr>
          <p:cNvPr id="277" name="Google Shape;277;p23"/>
          <p:cNvSpPr txBox="1"/>
          <p:nvPr/>
        </p:nvSpPr>
        <p:spPr>
          <a:xfrm>
            <a:off x="4031275" y="4469975"/>
            <a:ext cx="5046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23"/>
          <p:cNvSpPr/>
          <p:nvPr/>
        </p:nvSpPr>
        <p:spPr>
          <a:xfrm>
            <a:off x="1914550" y="1894750"/>
            <a:ext cx="6352500" cy="769200"/>
          </a:xfrm>
          <a:prstGeom prst="leftArrowCallout">
            <a:avLst>
              <a:gd name="adj1" fmla="val 25000"/>
              <a:gd name="adj2" fmla="val 25000"/>
              <a:gd name="adj3" fmla="val 25000"/>
              <a:gd name="adj4" fmla="val 8377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640"/>
              </a:spcBef>
              <a:spcAft>
                <a:spcPts val="0"/>
              </a:spcAft>
              <a:buClr>
                <a:schemeClr val="dk1"/>
              </a:buClr>
              <a:buSzPts val="1100"/>
              <a:buFont typeface="Arial"/>
              <a:buNone/>
            </a:pPr>
            <a:r>
              <a:rPr lang="en" sz="1400" b="0" i="0" u="none" strike="noStrike" cap="none">
                <a:solidFill>
                  <a:srgbClr val="434343"/>
                </a:solidFill>
                <a:latin typeface="Lexend"/>
                <a:ea typeface="Lexend"/>
                <a:cs typeface="Lexend"/>
                <a:sym typeface="Lexend"/>
              </a:rPr>
              <a:t>Java assumes that if you are doing division with integers that you want an integer result and it will truncate and throw away the part after the decimal point. </a:t>
            </a:r>
            <a:endParaRPr sz="1400" b="0" i="0" u="none" strike="noStrike" cap="none">
              <a:solidFill>
                <a:srgbClr val="000000"/>
              </a:solidFill>
              <a:latin typeface="Lexend"/>
              <a:ea typeface="Lexend"/>
              <a:cs typeface="Lexend"/>
              <a:sym typeface="Lexend"/>
            </a:endParaRPr>
          </a:p>
        </p:txBody>
      </p:sp>
      <p:sp>
        <p:nvSpPr>
          <p:cNvPr id="279" name="Google Shape;279;p23"/>
          <p:cNvSpPr txBox="1"/>
          <p:nvPr/>
        </p:nvSpPr>
        <p:spPr>
          <a:xfrm>
            <a:off x="4525825" y="2861475"/>
            <a:ext cx="4398600" cy="769200"/>
          </a:xfrm>
          <a:prstGeom prst="rect">
            <a:avLst/>
          </a:prstGeom>
          <a:solidFill>
            <a:srgbClr val="D9D2E9"/>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 sz="1500" b="0" i="0" u="none" strike="noStrike" cap="none" dirty="0">
                <a:solidFill>
                  <a:srgbClr val="434343"/>
                </a:solidFill>
                <a:latin typeface="Lexend"/>
                <a:ea typeface="Lexend"/>
                <a:cs typeface="Lexend"/>
                <a:sym typeface="Lexend"/>
              </a:rPr>
              <a:t>Discuss the code and then step through animation  </a:t>
            </a:r>
            <a:r>
              <a:rPr lang="en" sz="1500" b="0" i="0" u="sng" strike="noStrike" cap="none" dirty="0">
                <a:solidFill>
                  <a:schemeClr val="hlink"/>
                </a:solidFill>
                <a:latin typeface="Lexend"/>
                <a:ea typeface="Lexend"/>
                <a:cs typeface="Lexend"/>
                <a:sym typeface="Lexend"/>
                <a:hlinkClick r:id="rId4"/>
              </a:rPr>
              <a:t>ComputeChange</a:t>
            </a:r>
            <a:endParaRPr sz="1500" b="0" i="0" u="none" strike="noStrike" cap="none" dirty="0">
              <a:solidFill>
                <a:srgbClr val="434343"/>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4"/>
          <p:cNvSpPr txBox="1">
            <a:spLocks noGrp="1"/>
          </p:cNvSpPr>
          <p:nvPr>
            <p:ph type="title"/>
          </p:nvPr>
        </p:nvSpPr>
        <p:spPr>
          <a:xfrm>
            <a:off x="259450" y="246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Exponent Operations</a:t>
            </a:r>
            <a:endParaRPr/>
          </a:p>
        </p:txBody>
      </p:sp>
      <p:sp>
        <p:nvSpPr>
          <p:cNvPr id="285" name="Google Shape;285;p24"/>
          <p:cNvSpPr txBox="1">
            <a:spLocks noGrp="1"/>
          </p:cNvSpPr>
          <p:nvPr>
            <p:ph type="body" idx="1"/>
          </p:nvPr>
        </p:nvSpPr>
        <p:spPr>
          <a:xfrm>
            <a:off x="259450" y="1050025"/>
            <a:ext cx="3523800" cy="2512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a:t>To raise to a power a^b use the following method  </a:t>
            </a:r>
            <a:endParaRPr/>
          </a:p>
          <a:p>
            <a:pPr marL="0" lvl="0" indent="0" algn="l" rtl="0">
              <a:lnSpc>
                <a:spcPct val="115000"/>
              </a:lnSpc>
              <a:spcBef>
                <a:spcPts val="1200"/>
              </a:spcBef>
              <a:spcAft>
                <a:spcPts val="0"/>
              </a:spcAft>
              <a:buSzPts val="1800"/>
              <a:buNone/>
            </a:pPr>
            <a:r>
              <a:rPr lang="en"/>
              <a:t>Math.pow(a, b)</a:t>
            </a:r>
            <a:endParaRPr/>
          </a:p>
          <a:p>
            <a:pPr marL="0" lvl="0" indent="0" algn="l" rtl="0">
              <a:lnSpc>
                <a:spcPct val="115000"/>
              </a:lnSpc>
              <a:spcBef>
                <a:spcPts val="1200"/>
              </a:spcBef>
              <a:spcAft>
                <a:spcPts val="1200"/>
              </a:spcAft>
              <a:buSzPts val="1800"/>
              <a:buNone/>
            </a:pPr>
            <a:r>
              <a:rPr lang="en"/>
              <a:t>You will learn more about using Math methods in module 2.</a:t>
            </a:r>
            <a:endParaRPr/>
          </a:p>
        </p:txBody>
      </p:sp>
      <p:sp>
        <p:nvSpPr>
          <p:cNvPr id="286" name="Google Shape;286;p24"/>
          <p:cNvSpPr txBox="1"/>
          <p:nvPr/>
        </p:nvSpPr>
        <p:spPr>
          <a:xfrm>
            <a:off x="4572000" y="903600"/>
            <a:ext cx="4268400" cy="33363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final double PI = 3.14;</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double radius = 2;</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System.out.println(Math.pow(2, 3));</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38761D"/>
                </a:solidFill>
                <a:latin typeface="Arial"/>
                <a:ea typeface="Arial"/>
                <a:cs typeface="Arial"/>
                <a:sym typeface="Arial"/>
              </a:rPr>
              <a:t>// Displays 8.0</a:t>
            </a:r>
            <a:endParaRPr sz="1500" b="0" i="0" u="none" strike="noStrike" cap="none">
              <a:solidFill>
                <a:srgbClr val="38761D"/>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System.out.println(Math.pow(4, 0.5));</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38761D"/>
                </a:solidFill>
                <a:latin typeface="Arial"/>
                <a:ea typeface="Arial"/>
                <a:cs typeface="Arial"/>
                <a:sym typeface="Arial"/>
              </a:rPr>
              <a:t>// Displays 2.0</a:t>
            </a:r>
            <a:endParaRPr sz="1500" b="0" i="0" u="none" strike="noStrike" cap="none">
              <a:solidFill>
                <a:srgbClr val="38761D"/>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System.out.println(Math.pow(2.5, 2));</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38761D"/>
                </a:solidFill>
                <a:latin typeface="Arial"/>
                <a:ea typeface="Arial"/>
                <a:cs typeface="Arial"/>
                <a:sym typeface="Arial"/>
              </a:rPr>
              <a:t>// Displays 6.25</a:t>
            </a:r>
            <a:endParaRPr sz="1500" b="0" i="0" u="none" strike="noStrike" cap="none">
              <a:solidFill>
                <a:srgbClr val="38761D"/>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System.out.println(Math.pow(2.5, -2));</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38761D"/>
                </a:solidFill>
                <a:latin typeface="Arial"/>
                <a:ea typeface="Arial"/>
                <a:cs typeface="Arial"/>
                <a:sym typeface="Arial"/>
              </a:rPr>
              <a:t>// Displays 0.16</a:t>
            </a:r>
            <a:endParaRPr sz="1500" b="0" i="0" u="none" strike="noStrike" cap="none">
              <a:solidFill>
                <a:srgbClr val="38761D"/>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chemeClr val="dk1"/>
                </a:solidFill>
                <a:latin typeface="Arial"/>
                <a:ea typeface="Arial"/>
                <a:cs typeface="Arial"/>
                <a:sym typeface="Arial"/>
              </a:rPr>
              <a:t>System.out.println( PI * Math.pow(radius, 2));</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38761D"/>
                </a:solidFill>
                <a:latin typeface="Arial"/>
                <a:ea typeface="Arial"/>
                <a:cs typeface="Arial"/>
                <a:sym typeface="Arial"/>
              </a:rPr>
              <a:t>// Displays 12.56</a:t>
            </a:r>
            <a:endParaRPr sz="1500" b="0" i="0" u="none" strike="noStrike" cap="none">
              <a:solidFill>
                <a:srgbClr val="38761D"/>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5"/>
          <p:cNvSpPr txBox="1">
            <a:spLocks noGrp="1"/>
          </p:cNvSpPr>
          <p:nvPr>
            <p:ph type="title"/>
          </p:nvPr>
        </p:nvSpPr>
        <p:spPr>
          <a:xfrm>
            <a:off x="311700" y="15180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85714"/>
              <a:buNone/>
            </a:pPr>
            <a:r>
              <a:rPr lang="en"/>
              <a:t>Technical Developer Documentation</a:t>
            </a:r>
            <a:endParaRPr/>
          </a:p>
        </p:txBody>
      </p:sp>
      <p:sp>
        <p:nvSpPr>
          <p:cNvPr id="292" name="Google Shape;292;p25"/>
          <p:cNvSpPr txBox="1">
            <a:spLocks noGrp="1"/>
          </p:cNvSpPr>
          <p:nvPr>
            <p:ph type="body" idx="1"/>
          </p:nvPr>
        </p:nvSpPr>
        <p:spPr>
          <a:xfrm>
            <a:off x="311700" y="655775"/>
            <a:ext cx="8520600" cy="4307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40"/>
              </a:spcBef>
              <a:spcAft>
                <a:spcPts val="0"/>
              </a:spcAft>
              <a:buSzPts val="1700"/>
              <a:buNone/>
            </a:pPr>
            <a:r>
              <a:rPr lang="en" sz="1500"/>
              <a:t>Developer documentation helps people understand how a technologies work so you can build, use, or improve it. </a:t>
            </a:r>
            <a:endParaRPr sz="1500"/>
          </a:p>
          <a:p>
            <a:pPr marL="457200" lvl="0" indent="-323850" algn="l" rtl="0">
              <a:lnSpc>
                <a:spcPct val="100000"/>
              </a:lnSpc>
              <a:spcBef>
                <a:spcPts val="640"/>
              </a:spcBef>
              <a:spcAft>
                <a:spcPts val="0"/>
              </a:spcAft>
              <a:buSzPts val="1500"/>
              <a:buChar char="•"/>
            </a:pPr>
            <a:r>
              <a:rPr lang="en" sz="1500"/>
              <a:t>Writing things down helps you keep track of how different technologies and tools were used — so you don’t forget later.</a:t>
            </a:r>
            <a:endParaRPr sz="1500"/>
          </a:p>
          <a:p>
            <a:pPr marL="457200" lvl="0" indent="-323850" algn="l" rtl="0">
              <a:lnSpc>
                <a:spcPct val="100000"/>
              </a:lnSpc>
              <a:spcBef>
                <a:spcPts val="0"/>
              </a:spcBef>
              <a:spcAft>
                <a:spcPts val="0"/>
              </a:spcAft>
              <a:buSzPts val="1500"/>
              <a:buChar char="•"/>
            </a:pPr>
            <a:r>
              <a:rPr lang="en" sz="1500"/>
              <a:t>Makes it easier for someone new to understand the project and start working on it faster.</a:t>
            </a:r>
            <a:endParaRPr sz="1500"/>
          </a:p>
          <a:p>
            <a:pPr marL="457200" lvl="0" indent="-323850" algn="l" rtl="0">
              <a:lnSpc>
                <a:spcPct val="100000"/>
              </a:lnSpc>
              <a:spcBef>
                <a:spcPts val="0"/>
              </a:spcBef>
              <a:spcAft>
                <a:spcPts val="0"/>
              </a:spcAft>
              <a:buSzPts val="1500"/>
              <a:buChar char="•"/>
            </a:pPr>
            <a:r>
              <a:rPr lang="en" sz="1500"/>
              <a:t>Sets clear rules and examples so everyone writes code the same way and reduces errors.</a:t>
            </a:r>
            <a:endParaRPr sz="1500"/>
          </a:p>
          <a:p>
            <a:pPr marL="457200" lvl="0" indent="-323850" algn="l" rtl="0">
              <a:lnSpc>
                <a:spcPct val="100000"/>
              </a:lnSpc>
              <a:spcBef>
                <a:spcPts val="0"/>
              </a:spcBef>
              <a:spcAft>
                <a:spcPts val="0"/>
              </a:spcAft>
              <a:buSzPts val="1500"/>
              <a:buChar char="•"/>
            </a:pPr>
            <a:r>
              <a:rPr lang="en" sz="1500"/>
              <a:t>Good docs make it easier for others to use and build on your work.</a:t>
            </a:r>
            <a:endParaRPr sz="1500"/>
          </a:p>
          <a:p>
            <a:pPr marL="457200" lvl="0" indent="-323850" algn="l" rtl="0">
              <a:lnSpc>
                <a:spcPct val="100000"/>
              </a:lnSpc>
              <a:spcBef>
                <a:spcPts val="0"/>
              </a:spcBef>
              <a:spcAft>
                <a:spcPts val="0"/>
              </a:spcAft>
              <a:buSzPts val="1500"/>
              <a:buChar char="•"/>
            </a:pPr>
            <a:r>
              <a:rPr lang="en" sz="1500"/>
              <a:t>When the answers are in the docs, people can help themselves.</a:t>
            </a:r>
            <a:endParaRPr sz="1500"/>
          </a:p>
          <a:p>
            <a:pPr marL="0" lvl="0" indent="0" algn="l" rtl="0">
              <a:lnSpc>
                <a:spcPct val="100000"/>
              </a:lnSpc>
              <a:spcBef>
                <a:spcPts val="640"/>
              </a:spcBef>
              <a:spcAft>
                <a:spcPts val="0"/>
              </a:spcAft>
              <a:buSzPts val="1700"/>
              <a:buNone/>
            </a:pPr>
            <a:endParaRPr sz="1500"/>
          </a:p>
          <a:p>
            <a:pPr marL="0" lvl="0" indent="0" algn="l" rtl="0">
              <a:lnSpc>
                <a:spcPct val="100000"/>
              </a:lnSpc>
              <a:spcBef>
                <a:spcPts val="640"/>
              </a:spcBef>
              <a:spcAft>
                <a:spcPts val="0"/>
              </a:spcAft>
              <a:buSzPts val="1700"/>
              <a:buNone/>
            </a:pPr>
            <a:endParaRPr sz="1500"/>
          </a:p>
        </p:txBody>
      </p:sp>
      <p:sp>
        <p:nvSpPr>
          <p:cNvPr id="293" name="Google Shape;293;p25"/>
          <p:cNvSpPr/>
          <p:nvPr/>
        </p:nvSpPr>
        <p:spPr>
          <a:xfrm>
            <a:off x="621000" y="3464100"/>
            <a:ext cx="8211300" cy="1351800"/>
          </a:xfrm>
          <a:prstGeom prst="wedgeRectCallout">
            <a:avLst>
              <a:gd name="adj1" fmla="val -53482"/>
              <a:gd name="adj2" fmla="val -41472"/>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en" sz="1400" b="0" i="0" u="none" strike="noStrike" cap="none">
                <a:solidFill>
                  <a:srgbClr val="434343"/>
                </a:solidFill>
                <a:latin typeface="Lexend"/>
                <a:ea typeface="Lexend"/>
                <a:cs typeface="Lexend"/>
                <a:sym typeface="Lexend"/>
              </a:rPr>
              <a:t>Have you ever used websites, documentation or videos to help you learn or build something? </a:t>
            </a:r>
            <a:endParaRPr sz="1400" b="0" i="0" u="none" strike="noStrike" cap="none">
              <a:solidFill>
                <a:srgbClr val="434343"/>
              </a:solidFill>
              <a:latin typeface="Lexend"/>
              <a:ea typeface="Lexend"/>
              <a:cs typeface="Lexend"/>
              <a:sym typeface="Lexend"/>
            </a:endParaRPr>
          </a:p>
          <a:p>
            <a:pPr marL="0" marR="0" lvl="0" indent="0" algn="l" rtl="0">
              <a:lnSpc>
                <a:spcPct val="115000"/>
              </a:lnSpc>
              <a:spcBef>
                <a:spcPts val="0"/>
              </a:spcBef>
              <a:spcAft>
                <a:spcPts val="0"/>
              </a:spcAft>
              <a:buClr>
                <a:schemeClr val="dk1"/>
              </a:buClr>
              <a:buSzPts val="1100"/>
              <a:buFont typeface="Arial"/>
              <a:buNone/>
            </a:pPr>
            <a:r>
              <a:rPr lang="en" sz="1400" b="0" i="0" u="none" strike="noStrike" cap="none">
                <a:solidFill>
                  <a:srgbClr val="434343"/>
                </a:solidFill>
                <a:latin typeface="Lexend"/>
                <a:ea typeface="Lexend"/>
                <a:cs typeface="Lexend"/>
                <a:sym typeface="Lexend"/>
              </a:rPr>
              <a:t>Do you have information from a previous class to help you when you can’t remember how to do something or what the terms mean?</a:t>
            </a:r>
            <a:endParaRPr sz="1400" b="0" i="0" u="none" strike="noStrike" cap="none">
              <a:solidFill>
                <a:srgbClr val="434343"/>
              </a:solidFill>
              <a:latin typeface="Lexend"/>
              <a:ea typeface="Lexend"/>
              <a:cs typeface="Lexend"/>
              <a:sym typeface="Lexend"/>
            </a:endParaRPr>
          </a:p>
          <a:p>
            <a:pPr marL="0" marR="0" lvl="0" indent="0" algn="l" rtl="0">
              <a:lnSpc>
                <a:spcPct val="100000"/>
              </a:lnSpc>
              <a:spcBef>
                <a:spcPts val="0"/>
              </a:spcBef>
              <a:spcAft>
                <a:spcPts val="0"/>
              </a:spcAft>
              <a:buClr>
                <a:schemeClr val="dk1"/>
              </a:buClr>
              <a:buSzPts val="1600"/>
              <a:buFont typeface="Arial"/>
              <a:buNone/>
            </a:pPr>
            <a:r>
              <a:rPr lang="en" sz="1400" b="0" i="0" u="none" strike="noStrike" cap="none">
                <a:solidFill>
                  <a:srgbClr val="434343"/>
                </a:solidFill>
                <a:latin typeface="Lexend"/>
                <a:ea typeface="Lexend"/>
                <a:cs typeface="Lexend"/>
                <a:sym typeface="Lexend"/>
              </a:rPr>
              <a:t>Have you ever documented information to learn something and use in the future?</a:t>
            </a:r>
            <a:endParaRPr sz="1400" b="0" i="0" u="none" strike="noStrike" cap="none">
              <a:solidFill>
                <a:srgbClr val="000000"/>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6"/>
          <p:cNvSpPr txBox="1">
            <a:spLocks noGrp="1"/>
          </p:cNvSpPr>
          <p:nvPr>
            <p:ph type="title"/>
          </p:nvPr>
        </p:nvSpPr>
        <p:spPr>
          <a:xfrm>
            <a:off x="311700" y="25490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85714"/>
              <a:buNone/>
            </a:pPr>
            <a:r>
              <a:rPr lang="en"/>
              <a:t>Best Practices for Developer Documentation</a:t>
            </a:r>
            <a:endParaRPr/>
          </a:p>
        </p:txBody>
      </p:sp>
      <p:sp>
        <p:nvSpPr>
          <p:cNvPr id="299" name="Google Shape;299;p26"/>
          <p:cNvSpPr txBox="1">
            <a:spLocks noGrp="1"/>
          </p:cNvSpPr>
          <p:nvPr>
            <p:ph type="body" idx="1"/>
          </p:nvPr>
        </p:nvSpPr>
        <p:spPr>
          <a:xfrm>
            <a:off x="207450" y="827600"/>
            <a:ext cx="8729100" cy="4160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40"/>
              </a:spcBef>
              <a:spcAft>
                <a:spcPts val="0"/>
              </a:spcAft>
              <a:buSzPts val="1600"/>
              <a:buNone/>
            </a:pPr>
            <a:r>
              <a:rPr lang="en" sz="1400" u="sng">
                <a:solidFill>
                  <a:schemeClr val="hlink"/>
                </a:solidFill>
                <a:hlinkClick r:id="rId3"/>
              </a:rPr>
              <a:t>How to Improve Developer Documentation? | Archbee Blog</a:t>
            </a:r>
            <a:endParaRPr sz="1400"/>
          </a:p>
          <a:p>
            <a:pPr marL="0" lvl="0" indent="0" algn="l" rtl="0">
              <a:lnSpc>
                <a:spcPct val="100000"/>
              </a:lnSpc>
              <a:spcBef>
                <a:spcPts val="640"/>
              </a:spcBef>
              <a:spcAft>
                <a:spcPts val="0"/>
              </a:spcAft>
              <a:buSzPts val="1600"/>
              <a:buNone/>
            </a:pPr>
            <a:r>
              <a:rPr lang="en" sz="1400"/>
              <a:t>Be Concise by providing clear and simple explanations</a:t>
            </a:r>
            <a:endParaRPr sz="1400"/>
          </a:p>
          <a:p>
            <a:pPr marL="457200" lvl="0" indent="-317500" algn="l" rtl="0">
              <a:lnSpc>
                <a:spcPct val="100000"/>
              </a:lnSpc>
              <a:spcBef>
                <a:spcPts val="640"/>
              </a:spcBef>
              <a:spcAft>
                <a:spcPts val="0"/>
              </a:spcAft>
              <a:buSzPts val="1400"/>
              <a:buChar char="•"/>
            </a:pPr>
            <a:r>
              <a:rPr lang="en" sz="1400"/>
              <a:t>Use short sentences, small paragraphs</a:t>
            </a:r>
            <a:endParaRPr sz="1400"/>
          </a:p>
          <a:p>
            <a:pPr marL="457200" lvl="0" indent="-317500" algn="l" rtl="0">
              <a:lnSpc>
                <a:spcPct val="100000"/>
              </a:lnSpc>
              <a:spcBef>
                <a:spcPts val="0"/>
              </a:spcBef>
              <a:spcAft>
                <a:spcPts val="0"/>
              </a:spcAft>
              <a:buSzPts val="1400"/>
              <a:buChar char="•"/>
            </a:pPr>
            <a:r>
              <a:rPr lang="en" sz="1400"/>
              <a:t>Use lists and tables to organize information</a:t>
            </a:r>
            <a:endParaRPr sz="1400"/>
          </a:p>
          <a:p>
            <a:pPr marL="457200" lvl="0" indent="-317500" algn="l" rtl="0">
              <a:lnSpc>
                <a:spcPct val="100000"/>
              </a:lnSpc>
              <a:spcBef>
                <a:spcPts val="0"/>
              </a:spcBef>
              <a:spcAft>
                <a:spcPts val="0"/>
              </a:spcAft>
              <a:buSzPts val="1400"/>
              <a:buChar char="•"/>
            </a:pPr>
            <a:r>
              <a:rPr lang="en" sz="1400"/>
              <a:t>Use standard industry terms but explain in simple language</a:t>
            </a:r>
            <a:endParaRPr sz="1400"/>
          </a:p>
          <a:p>
            <a:pPr marL="0" lvl="0" indent="0" algn="l" rtl="0">
              <a:lnSpc>
                <a:spcPct val="100000"/>
              </a:lnSpc>
              <a:spcBef>
                <a:spcPts val="640"/>
              </a:spcBef>
              <a:spcAft>
                <a:spcPts val="0"/>
              </a:spcAft>
              <a:buSzPts val="1600"/>
              <a:buNone/>
            </a:pPr>
            <a:r>
              <a:rPr lang="en" sz="1400"/>
              <a:t>Use Code Snippets and Visuals to reduce lengthy explanations:</a:t>
            </a:r>
            <a:endParaRPr sz="1400"/>
          </a:p>
          <a:p>
            <a:pPr marL="457200" lvl="0" indent="-317500" algn="l" rtl="0">
              <a:lnSpc>
                <a:spcPct val="100000"/>
              </a:lnSpc>
              <a:spcBef>
                <a:spcPts val="640"/>
              </a:spcBef>
              <a:spcAft>
                <a:spcPts val="0"/>
              </a:spcAft>
              <a:buSzPts val="1400"/>
              <a:buChar char="•"/>
            </a:pPr>
            <a:r>
              <a:rPr lang="en" sz="1400"/>
              <a:t>Include examples you explored or created</a:t>
            </a:r>
            <a:endParaRPr sz="1400"/>
          </a:p>
          <a:p>
            <a:pPr marL="457200" lvl="0" indent="-317500" algn="l" rtl="0">
              <a:lnSpc>
                <a:spcPct val="100000"/>
              </a:lnSpc>
              <a:spcBef>
                <a:spcPts val="0"/>
              </a:spcBef>
              <a:spcAft>
                <a:spcPts val="0"/>
              </a:spcAft>
              <a:buSzPts val="1400"/>
              <a:buChar char="•"/>
            </a:pPr>
            <a:r>
              <a:rPr lang="en" sz="1400"/>
              <a:t>Include comments to describe parts of code</a:t>
            </a:r>
            <a:endParaRPr sz="1400"/>
          </a:p>
          <a:p>
            <a:pPr marL="457200" lvl="0" indent="-317500" algn="l" rtl="0">
              <a:lnSpc>
                <a:spcPct val="100000"/>
              </a:lnSpc>
              <a:spcBef>
                <a:spcPts val="0"/>
              </a:spcBef>
              <a:spcAft>
                <a:spcPts val="0"/>
              </a:spcAft>
              <a:buSzPts val="1400"/>
              <a:buChar char="•"/>
            </a:pPr>
            <a:r>
              <a:rPr lang="en" sz="1400"/>
              <a:t>Include Screenshots such as from your debugger</a:t>
            </a:r>
            <a:endParaRPr sz="1400"/>
          </a:p>
          <a:p>
            <a:pPr marL="0" lvl="0" indent="0" algn="l" rtl="0">
              <a:lnSpc>
                <a:spcPct val="100000"/>
              </a:lnSpc>
              <a:spcBef>
                <a:spcPts val="640"/>
              </a:spcBef>
              <a:spcAft>
                <a:spcPts val="0"/>
              </a:spcAft>
              <a:buSzPts val="1700"/>
              <a:buNone/>
            </a:pPr>
            <a:r>
              <a:rPr lang="en" sz="1400"/>
              <a:t>Include Resources that give steps or help explain concepts</a:t>
            </a:r>
            <a:endParaRPr sz="1400"/>
          </a:p>
          <a:p>
            <a:pPr marL="457200" lvl="0" indent="-317500" algn="l" rtl="0">
              <a:lnSpc>
                <a:spcPct val="100000"/>
              </a:lnSpc>
              <a:spcBef>
                <a:spcPts val="640"/>
              </a:spcBef>
              <a:spcAft>
                <a:spcPts val="0"/>
              </a:spcAft>
              <a:buSzPts val="1400"/>
              <a:buChar char="•"/>
            </a:pPr>
            <a:r>
              <a:rPr lang="en" sz="1400"/>
              <a:t>Include website link with summary</a:t>
            </a:r>
            <a:endParaRPr sz="1400"/>
          </a:p>
          <a:p>
            <a:pPr marL="457200" lvl="0" indent="-317500" algn="l" rtl="0">
              <a:lnSpc>
                <a:spcPct val="100000"/>
              </a:lnSpc>
              <a:spcBef>
                <a:spcPts val="0"/>
              </a:spcBef>
              <a:spcAft>
                <a:spcPts val="0"/>
              </a:spcAft>
              <a:buSzPts val="1400"/>
              <a:buChar char="•"/>
            </a:pPr>
            <a:r>
              <a:rPr lang="en" sz="1400"/>
              <a:t>Include links to videos with summary of content</a:t>
            </a:r>
            <a:endParaRPr sz="1400"/>
          </a:p>
          <a:p>
            <a:pPr marL="0" lvl="0" indent="0" algn="l" rtl="0">
              <a:lnSpc>
                <a:spcPct val="100000"/>
              </a:lnSpc>
              <a:spcBef>
                <a:spcPts val="640"/>
              </a:spcBef>
              <a:spcAft>
                <a:spcPts val="0"/>
              </a:spcAft>
              <a:buSzPts val="1700"/>
              <a:buNone/>
            </a:pPr>
            <a:endParaRPr sz="1400"/>
          </a:p>
          <a:p>
            <a:pPr marL="0" lvl="0" indent="0" algn="l" rtl="0">
              <a:lnSpc>
                <a:spcPct val="100000"/>
              </a:lnSpc>
              <a:spcBef>
                <a:spcPts val="0"/>
              </a:spcBef>
              <a:spcAft>
                <a:spcPts val="0"/>
              </a:spcAft>
              <a:buNone/>
            </a:pPr>
            <a:r>
              <a:rPr lang="en" sz="1400"/>
              <a:t>If you haven’t downloaded the Technical Document Template for GE M01 yet download it or make a copy in google drive </a:t>
            </a:r>
            <a:r>
              <a:rPr lang="en" sz="1400" u="sng">
                <a:solidFill>
                  <a:schemeClr val="hlink"/>
                </a:solidFill>
                <a:hlinkClick r:id="rId4"/>
              </a:rPr>
              <a:t>Tech Doc CS1050</a:t>
            </a:r>
            <a:r>
              <a:rPr lang="en" sz="1400"/>
              <a:t>. You will be adding your information during each module and turn in with your GE M01.  </a:t>
            </a:r>
            <a:endParaRPr sz="1400"/>
          </a:p>
          <a:p>
            <a:pPr marL="0" lvl="0" indent="0" algn="l" rtl="0">
              <a:lnSpc>
                <a:spcPct val="115000"/>
              </a:lnSpc>
              <a:spcBef>
                <a:spcPts val="0"/>
              </a:spcBef>
              <a:spcAft>
                <a:spcPts val="1200"/>
              </a:spcAft>
              <a:buSzPts val="1600"/>
              <a:buNone/>
            </a:pPr>
            <a:endParaRPr sz="1400"/>
          </a:p>
        </p:txBody>
      </p:sp>
      <p:sp>
        <p:nvSpPr>
          <p:cNvPr id="300" name="Google Shape;300;p26"/>
          <p:cNvSpPr/>
          <p:nvPr/>
        </p:nvSpPr>
        <p:spPr>
          <a:xfrm>
            <a:off x="5961775" y="2437000"/>
            <a:ext cx="3070800" cy="1635000"/>
          </a:xfrm>
          <a:prstGeom prst="wedgeRoundRectCallout">
            <a:avLst>
              <a:gd name="adj1" fmla="val -63585"/>
              <a:gd name="adj2" fmla="val 7913"/>
              <a:gd name="adj3" fmla="val 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If you explain in your own words, use code from labs, book or that you write, screenshots from debugger, your own drawings you can print out your technical document to bring to the quizzes.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7"/>
          <p:cNvSpPr txBox="1">
            <a:spLocks noGrp="1"/>
          </p:cNvSpPr>
          <p:nvPr>
            <p:ph type="title"/>
          </p:nvPr>
        </p:nvSpPr>
        <p:spPr>
          <a:xfrm>
            <a:off x="311700" y="254900"/>
            <a:ext cx="8520600" cy="5727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800"/>
              <a:buNone/>
            </a:pPr>
            <a:r>
              <a:rPr lang="en"/>
              <a:t>Pair Programming</a:t>
            </a:r>
            <a:endParaRPr/>
          </a:p>
        </p:txBody>
      </p:sp>
      <p:sp>
        <p:nvSpPr>
          <p:cNvPr id="306" name="Google Shape;306;p27"/>
          <p:cNvSpPr txBox="1">
            <a:spLocks noGrp="1"/>
          </p:cNvSpPr>
          <p:nvPr>
            <p:ph type="body" idx="1"/>
          </p:nvPr>
        </p:nvSpPr>
        <p:spPr>
          <a:xfrm>
            <a:off x="311700" y="863550"/>
            <a:ext cx="8520600" cy="3842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640"/>
              </a:spcBef>
              <a:spcAft>
                <a:spcPts val="0"/>
              </a:spcAft>
              <a:buSzPts val="1700"/>
              <a:buNone/>
            </a:pPr>
            <a:r>
              <a:rPr lang="en" sz="1500" u="sng">
                <a:solidFill>
                  <a:schemeClr val="hlink"/>
                </a:solidFill>
                <a:hlinkClick r:id="rId3"/>
              </a:rPr>
              <a:t>What is Pair Programming?</a:t>
            </a:r>
            <a:r>
              <a:rPr lang="en" sz="1500"/>
              <a:t> </a:t>
            </a:r>
            <a:endParaRPr sz="1500"/>
          </a:p>
          <a:p>
            <a:pPr marL="0" lvl="0" indent="0" algn="l" rtl="0">
              <a:lnSpc>
                <a:spcPct val="90000"/>
              </a:lnSpc>
              <a:spcBef>
                <a:spcPts val="640"/>
              </a:spcBef>
              <a:spcAft>
                <a:spcPts val="0"/>
              </a:spcAft>
              <a:buClr>
                <a:schemeClr val="dk1"/>
              </a:buClr>
              <a:buSzPts val="1100"/>
              <a:buFont typeface="Arial"/>
              <a:buNone/>
            </a:pPr>
            <a:r>
              <a:rPr lang="en" sz="1500"/>
              <a:t>Pair programming is a collaborative effort that involves a lot of communication. The idea is to have the driver and navigator communicate, discuss approaches and solve issues that might be difficult for a single developer to detect. </a:t>
            </a:r>
            <a:endParaRPr sz="1500"/>
          </a:p>
          <a:p>
            <a:pPr marL="0" lvl="0" indent="0" algn="l" rtl="0">
              <a:lnSpc>
                <a:spcPct val="90000"/>
              </a:lnSpc>
              <a:spcBef>
                <a:spcPts val="640"/>
              </a:spcBef>
              <a:spcAft>
                <a:spcPts val="0"/>
              </a:spcAft>
              <a:buClr>
                <a:schemeClr val="dk1"/>
              </a:buClr>
              <a:buSzPts val="1100"/>
              <a:buFont typeface="Arial"/>
              <a:buNone/>
            </a:pPr>
            <a:r>
              <a:rPr lang="en" sz="1500"/>
              <a:t>Setup:</a:t>
            </a:r>
            <a:endParaRPr sz="1500"/>
          </a:p>
          <a:p>
            <a:pPr marL="457200" lvl="0" indent="-323850" algn="l" rtl="0">
              <a:lnSpc>
                <a:spcPct val="90000"/>
              </a:lnSpc>
              <a:spcBef>
                <a:spcPts val="640"/>
              </a:spcBef>
              <a:spcAft>
                <a:spcPts val="0"/>
              </a:spcAft>
              <a:buSzPts val="1500"/>
              <a:buChar char="●"/>
            </a:pPr>
            <a:r>
              <a:rPr lang="en" sz="1500"/>
              <a:t>One shared computer, alternate roles</a:t>
            </a:r>
            <a:endParaRPr sz="1500"/>
          </a:p>
          <a:p>
            <a:pPr marL="457200" lvl="0" indent="-323850" algn="l" rtl="0">
              <a:lnSpc>
                <a:spcPct val="90000"/>
              </a:lnSpc>
              <a:spcBef>
                <a:spcPts val="640"/>
              </a:spcBef>
              <a:spcAft>
                <a:spcPts val="0"/>
              </a:spcAft>
              <a:buSzPts val="1500"/>
              <a:buChar char="●"/>
            </a:pPr>
            <a:r>
              <a:rPr lang="en" sz="1500"/>
              <a:t>Driver: Enters code </a:t>
            </a:r>
            <a:endParaRPr sz="1500"/>
          </a:p>
          <a:p>
            <a:pPr marL="457200" lvl="0" indent="-323850" algn="l" rtl="0">
              <a:lnSpc>
                <a:spcPct val="90000"/>
              </a:lnSpc>
              <a:spcBef>
                <a:spcPts val="640"/>
              </a:spcBef>
              <a:spcAft>
                <a:spcPts val="0"/>
              </a:spcAft>
              <a:buSzPts val="1500"/>
              <a:buChar char="●"/>
            </a:pPr>
            <a:r>
              <a:rPr lang="en" sz="1500"/>
              <a:t>Navigator: checks the code being written</a:t>
            </a:r>
            <a:endParaRPr sz="1500"/>
          </a:p>
          <a:p>
            <a:pPr marL="0" lvl="0" indent="0" algn="l" rtl="0">
              <a:lnSpc>
                <a:spcPct val="90000"/>
              </a:lnSpc>
              <a:spcBef>
                <a:spcPts val="640"/>
              </a:spcBef>
              <a:spcAft>
                <a:spcPts val="0"/>
              </a:spcAft>
              <a:buClr>
                <a:schemeClr val="dk1"/>
              </a:buClr>
              <a:buSzPts val="1100"/>
              <a:buFont typeface="Arial"/>
              <a:buNone/>
            </a:pPr>
            <a:r>
              <a:rPr lang="en" sz="1500"/>
              <a:t>Effects:</a:t>
            </a:r>
            <a:endParaRPr sz="1500"/>
          </a:p>
          <a:p>
            <a:pPr marL="457200" lvl="0" indent="-323850" algn="l" rtl="0">
              <a:lnSpc>
                <a:spcPct val="90000"/>
              </a:lnSpc>
              <a:spcBef>
                <a:spcPts val="640"/>
              </a:spcBef>
              <a:spcAft>
                <a:spcPts val="0"/>
              </a:spcAft>
              <a:buSzPts val="1500"/>
              <a:buChar char="●"/>
            </a:pPr>
            <a:r>
              <a:rPr lang="en" sz="1500"/>
              <a:t>Build collaboration skills</a:t>
            </a:r>
            <a:endParaRPr sz="1500"/>
          </a:p>
          <a:p>
            <a:pPr marL="457200" lvl="0" indent="-323850" algn="l" rtl="0">
              <a:lnSpc>
                <a:spcPct val="90000"/>
              </a:lnSpc>
              <a:spcBef>
                <a:spcPts val="640"/>
              </a:spcBef>
              <a:spcAft>
                <a:spcPts val="0"/>
              </a:spcAft>
              <a:buSzPts val="1500"/>
              <a:buChar char="●"/>
            </a:pPr>
            <a:r>
              <a:rPr lang="en" sz="1500"/>
              <a:t>Fewer mistakes</a:t>
            </a:r>
            <a:endParaRPr sz="1500"/>
          </a:p>
          <a:p>
            <a:pPr marL="457200" lvl="0" indent="-323850" algn="l" rtl="0">
              <a:lnSpc>
                <a:spcPct val="90000"/>
              </a:lnSpc>
              <a:spcBef>
                <a:spcPts val="640"/>
              </a:spcBef>
              <a:spcAft>
                <a:spcPts val="0"/>
              </a:spcAft>
              <a:buSzPts val="1500"/>
              <a:buChar char="●"/>
            </a:pPr>
            <a:r>
              <a:rPr lang="en" sz="1500"/>
              <a:t>Knowledge is shared to build understanding</a:t>
            </a:r>
            <a:endParaRPr sz="1500"/>
          </a:p>
          <a:p>
            <a:pPr marL="0" lvl="0" indent="0" algn="l" rtl="0">
              <a:lnSpc>
                <a:spcPct val="90000"/>
              </a:lnSpc>
              <a:spcBef>
                <a:spcPts val="640"/>
              </a:spcBef>
              <a:spcAft>
                <a:spcPts val="0"/>
              </a:spcAft>
              <a:buSzPts val="1700"/>
              <a:buNone/>
            </a:pPr>
            <a:r>
              <a:rPr lang="en" sz="1500"/>
              <a:t>It can be used in industry but i doesn’t mean every company uses it or it is used by a company all the time. It is best in specific situations. </a:t>
            </a:r>
            <a:endParaRPr sz="1500"/>
          </a:p>
        </p:txBody>
      </p:sp>
      <p:pic>
        <p:nvPicPr>
          <p:cNvPr id="307" name="Google Shape;307;p27" descr="two people at one computer and two people in a car with one navigator and driver using one computer or car."/>
          <p:cNvPicPr preferRelativeResize="0"/>
          <p:nvPr/>
        </p:nvPicPr>
        <p:blipFill rotWithShape="1">
          <a:blip r:embed="rId4">
            <a:alphaModFix/>
          </a:blip>
          <a:srcRect/>
          <a:stretch/>
        </p:blipFill>
        <p:spPr>
          <a:xfrm>
            <a:off x="5679850" y="1787050"/>
            <a:ext cx="3015749" cy="2261825"/>
          </a:xfrm>
          <a:prstGeom prst="rect">
            <a:avLst/>
          </a:prstGeom>
          <a:noFill/>
          <a:ln>
            <a:noFill/>
          </a:ln>
        </p:spPr>
      </p:pic>
      <p:pic>
        <p:nvPicPr>
          <p:cNvPr id="308" name="Google Shape;308;p27"/>
          <p:cNvPicPr preferRelativeResize="0"/>
          <p:nvPr/>
        </p:nvPicPr>
        <p:blipFill>
          <a:blip r:embed="rId5">
            <a:alphaModFix/>
          </a:blip>
          <a:stretch>
            <a:fillRect/>
          </a:stretch>
        </p:blipFill>
        <p:spPr>
          <a:xfrm>
            <a:off x="4915591" y="211775"/>
            <a:ext cx="782051" cy="7814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8"/>
          <p:cNvSpPr txBox="1"/>
          <p:nvPr/>
        </p:nvSpPr>
        <p:spPr>
          <a:xfrm>
            <a:off x="212625" y="1791425"/>
            <a:ext cx="4139400" cy="31401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dirty="0">
                <a:solidFill>
                  <a:srgbClr val="000FD6"/>
                </a:solidFill>
                <a:latin typeface="Arial"/>
                <a:ea typeface="Arial"/>
                <a:cs typeface="Arial"/>
                <a:sym typeface="Arial"/>
              </a:rPr>
              <a:t>public</a:t>
            </a:r>
            <a:r>
              <a:rPr lang="en" sz="1200" b="0" i="0" u="none" strike="noStrike" cap="none" dirty="0">
                <a:solidFill>
                  <a:schemeClr val="dk1"/>
                </a:solidFill>
                <a:latin typeface="Arial"/>
                <a:ea typeface="Arial"/>
                <a:cs typeface="Arial"/>
                <a:sym typeface="Arial"/>
              </a:rPr>
              <a:t> </a:t>
            </a:r>
            <a:r>
              <a:rPr lang="en" sz="1200" b="1" i="0" u="none" strike="noStrike" cap="none" dirty="0">
                <a:solidFill>
                  <a:srgbClr val="000FD6"/>
                </a:solidFill>
                <a:latin typeface="Arial"/>
                <a:ea typeface="Arial"/>
                <a:cs typeface="Arial"/>
                <a:sym typeface="Arial"/>
              </a:rPr>
              <a:t>class</a:t>
            </a:r>
            <a:r>
              <a:rPr lang="en" sz="1200" b="0" i="0" u="none" strike="noStrike" cap="none" dirty="0">
                <a:solidFill>
                  <a:schemeClr val="dk1"/>
                </a:solidFill>
                <a:latin typeface="Arial"/>
                <a:ea typeface="Arial"/>
                <a:cs typeface="Arial"/>
                <a:sym typeface="Arial"/>
              </a:rPr>
              <a:t> </a:t>
            </a:r>
            <a:r>
              <a:rPr lang="en" sz="1200" b="0" i="0" u="none" strike="noStrike" cap="none" dirty="0" err="1">
                <a:solidFill>
                  <a:schemeClr val="dk1"/>
                </a:solidFill>
                <a:latin typeface="Arial"/>
                <a:ea typeface="Arial"/>
                <a:cs typeface="Arial"/>
                <a:sym typeface="Arial"/>
              </a:rPr>
              <a:t>ComputeArea</a:t>
            </a:r>
            <a:r>
              <a:rPr lang="en" sz="1200" b="0" i="0" u="none" strike="noStrike" cap="none" dirty="0">
                <a:solidFill>
                  <a:schemeClr val="dk1"/>
                </a:solidFill>
                <a:latin typeface="Arial"/>
                <a:ea typeface="Arial"/>
                <a:cs typeface="Arial"/>
                <a:sym typeface="Arial"/>
              </a:rPr>
              <a:t> {</a:t>
            </a: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  </a:t>
            </a:r>
            <a:r>
              <a:rPr lang="en" sz="1200" b="1" i="0" u="none" strike="noStrike" cap="none" dirty="0">
                <a:solidFill>
                  <a:srgbClr val="000FD6"/>
                </a:solidFill>
                <a:latin typeface="Arial"/>
                <a:ea typeface="Arial"/>
                <a:cs typeface="Arial"/>
                <a:sym typeface="Arial"/>
              </a:rPr>
              <a:t>public</a:t>
            </a:r>
            <a:r>
              <a:rPr lang="en" sz="1200" b="0" i="0" u="none" strike="noStrike" cap="none" dirty="0">
                <a:solidFill>
                  <a:schemeClr val="dk1"/>
                </a:solidFill>
                <a:latin typeface="Arial"/>
                <a:ea typeface="Arial"/>
                <a:cs typeface="Arial"/>
                <a:sym typeface="Arial"/>
              </a:rPr>
              <a:t> </a:t>
            </a:r>
            <a:r>
              <a:rPr lang="en" sz="1200" b="1" i="0" u="none" strike="noStrike" cap="none" dirty="0">
                <a:solidFill>
                  <a:srgbClr val="000FD6"/>
                </a:solidFill>
                <a:latin typeface="Arial"/>
                <a:ea typeface="Arial"/>
                <a:cs typeface="Arial"/>
                <a:sym typeface="Arial"/>
              </a:rPr>
              <a:t>static</a:t>
            </a:r>
            <a:r>
              <a:rPr lang="en" sz="1200" b="0" i="0" u="none" strike="noStrike" cap="none" dirty="0">
                <a:solidFill>
                  <a:schemeClr val="dk1"/>
                </a:solidFill>
                <a:latin typeface="Arial"/>
                <a:ea typeface="Arial"/>
                <a:cs typeface="Arial"/>
                <a:sym typeface="Arial"/>
              </a:rPr>
              <a:t> </a:t>
            </a:r>
            <a:r>
              <a:rPr lang="en" sz="1200" b="1" i="0" u="none" strike="noStrike" cap="none" dirty="0">
                <a:solidFill>
                  <a:srgbClr val="000FD6"/>
                </a:solidFill>
                <a:latin typeface="Arial"/>
                <a:ea typeface="Arial"/>
                <a:cs typeface="Arial"/>
                <a:sym typeface="Arial"/>
              </a:rPr>
              <a:t>void</a:t>
            </a:r>
            <a:r>
              <a:rPr lang="en" sz="1200" b="0" i="0" u="none" strike="noStrike" cap="none" dirty="0">
                <a:solidFill>
                  <a:schemeClr val="dk1"/>
                </a:solidFill>
                <a:latin typeface="Arial"/>
                <a:ea typeface="Arial"/>
                <a:cs typeface="Arial"/>
                <a:sym typeface="Arial"/>
              </a:rPr>
              <a:t> main(String[] </a:t>
            </a:r>
            <a:r>
              <a:rPr lang="en" sz="1200" b="0" i="0" u="none" strike="noStrike" cap="none" dirty="0" err="1">
                <a:solidFill>
                  <a:schemeClr val="dk1"/>
                </a:solidFill>
                <a:latin typeface="Arial"/>
                <a:ea typeface="Arial"/>
                <a:cs typeface="Arial"/>
                <a:sym typeface="Arial"/>
              </a:rPr>
              <a:t>args</a:t>
            </a:r>
            <a:r>
              <a:rPr lang="en" sz="1200" b="0" i="0" u="none" strike="noStrike" cap="none" dirty="0">
                <a:solidFill>
                  <a:schemeClr val="dk1"/>
                </a:solidFill>
                <a:latin typeface="Arial"/>
                <a:ea typeface="Arial"/>
                <a:cs typeface="Arial"/>
                <a:sym typeface="Arial"/>
              </a:rPr>
              <a:t>) {</a:t>
            </a: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    </a:t>
            </a:r>
            <a:r>
              <a:rPr lang="en" sz="1200" b="1" i="0" u="none" strike="noStrike" cap="none" dirty="0">
                <a:solidFill>
                  <a:srgbClr val="000FD6"/>
                </a:solidFill>
                <a:latin typeface="Arial"/>
                <a:ea typeface="Arial"/>
                <a:cs typeface="Arial"/>
                <a:sym typeface="Arial"/>
              </a:rPr>
              <a:t>double</a:t>
            </a:r>
            <a:r>
              <a:rPr lang="en" sz="1200" b="0" i="0" u="none" strike="noStrike" cap="none" dirty="0">
                <a:solidFill>
                  <a:schemeClr val="dk1"/>
                </a:solidFill>
                <a:latin typeface="Arial"/>
                <a:ea typeface="Arial"/>
                <a:cs typeface="Arial"/>
                <a:sym typeface="Arial"/>
              </a:rPr>
              <a:t> radius; </a:t>
            </a:r>
            <a:r>
              <a:rPr lang="en" sz="1200" b="0" i="0" u="none" strike="noStrike" cap="none" dirty="0">
                <a:solidFill>
                  <a:srgbClr val="005500"/>
                </a:solidFill>
                <a:latin typeface="Arial"/>
                <a:ea typeface="Arial"/>
                <a:cs typeface="Arial"/>
                <a:sym typeface="Arial"/>
              </a:rPr>
              <a:t>// Declare radius</a:t>
            </a: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    </a:t>
            </a:r>
            <a:r>
              <a:rPr lang="en" sz="1200" b="1" i="0" u="none" strike="noStrike" cap="none" dirty="0">
                <a:solidFill>
                  <a:srgbClr val="000FD6"/>
                </a:solidFill>
                <a:latin typeface="Arial"/>
                <a:ea typeface="Arial"/>
                <a:cs typeface="Arial"/>
                <a:sym typeface="Arial"/>
              </a:rPr>
              <a:t>double</a:t>
            </a:r>
            <a:r>
              <a:rPr lang="en" sz="1200" b="0" i="0" u="none" strike="noStrike" cap="none" dirty="0">
                <a:solidFill>
                  <a:schemeClr val="dk1"/>
                </a:solidFill>
                <a:latin typeface="Arial"/>
                <a:ea typeface="Arial"/>
                <a:cs typeface="Arial"/>
                <a:sym typeface="Arial"/>
              </a:rPr>
              <a:t> area; </a:t>
            </a:r>
            <a:r>
              <a:rPr lang="en" sz="1200" b="0" i="0" u="none" strike="noStrike" cap="none" dirty="0">
                <a:solidFill>
                  <a:srgbClr val="005500"/>
                </a:solidFill>
                <a:latin typeface="Arial"/>
                <a:ea typeface="Arial"/>
                <a:cs typeface="Arial"/>
                <a:sym typeface="Arial"/>
              </a:rPr>
              <a:t>// Declare area</a:t>
            </a: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    </a:t>
            </a:r>
            <a:r>
              <a:rPr lang="en" sz="1200" b="0" i="0" u="none" strike="noStrike" cap="none" dirty="0">
                <a:solidFill>
                  <a:srgbClr val="005500"/>
                </a:solidFill>
                <a:latin typeface="Arial"/>
                <a:ea typeface="Arial"/>
                <a:cs typeface="Arial"/>
                <a:sym typeface="Arial"/>
              </a:rPr>
              <a:t>// Assign a radius</a:t>
            </a: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    radius = </a:t>
            </a:r>
            <a:r>
              <a:rPr lang="en" sz="1200" b="0" i="0" u="none" strike="noStrike" cap="none" dirty="0">
                <a:solidFill>
                  <a:srgbClr val="007D9F"/>
                </a:solidFill>
                <a:latin typeface="Arial"/>
                <a:ea typeface="Arial"/>
                <a:cs typeface="Arial"/>
                <a:sym typeface="Arial"/>
              </a:rPr>
              <a:t>20</a:t>
            </a:r>
            <a:r>
              <a:rPr lang="en" sz="1200" b="0" i="0" u="none" strike="noStrike" cap="none" dirty="0">
                <a:solidFill>
                  <a:schemeClr val="dk1"/>
                </a:solidFill>
                <a:latin typeface="Arial"/>
                <a:ea typeface="Arial"/>
                <a:cs typeface="Arial"/>
                <a:sym typeface="Arial"/>
              </a:rPr>
              <a:t>; </a:t>
            </a: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    </a:t>
            </a:r>
            <a:r>
              <a:rPr lang="en" sz="1200" b="0" i="0" u="none" strike="noStrike" cap="none" dirty="0">
                <a:solidFill>
                  <a:srgbClr val="005500"/>
                </a:solidFill>
                <a:latin typeface="Arial"/>
                <a:ea typeface="Arial"/>
                <a:cs typeface="Arial"/>
                <a:sym typeface="Arial"/>
              </a:rPr>
              <a:t>// Compute area</a:t>
            </a: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    area = radius * radius * </a:t>
            </a:r>
            <a:r>
              <a:rPr lang="en" sz="1200" b="0" i="0" u="none" strike="noStrike" cap="none" dirty="0">
                <a:solidFill>
                  <a:srgbClr val="007D9F"/>
                </a:solidFill>
                <a:latin typeface="Arial"/>
                <a:ea typeface="Arial"/>
                <a:cs typeface="Arial"/>
                <a:sym typeface="Arial"/>
              </a:rPr>
              <a:t>3.14159</a:t>
            </a:r>
            <a:r>
              <a:rPr lang="en" sz="1200" b="0" i="0" u="none" strike="noStrike" cap="none" dirty="0">
                <a:solidFill>
                  <a:schemeClr val="dk1"/>
                </a:solidFill>
                <a:latin typeface="Arial"/>
                <a:ea typeface="Arial"/>
                <a:cs typeface="Arial"/>
                <a:sym typeface="Arial"/>
              </a:rPr>
              <a:t>;</a:t>
            </a: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    </a:t>
            </a:r>
            <a:r>
              <a:rPr lang="en" sz="1200" b="0" i="0" u="none" strike="noStrike" cap="none" dirty="0">
                <a:solidFill>
                  <a:srgbClr val="005500"/>
                </a:solidFill>
                <a:latin typeface="Arial"/>
                <a:ea typeface="Arial"/>
                <a:cs typeface="Arial"/>
                <a:sym typeface="Arial"/>
              </a:rPr>
              <a:t>// Display results</a:t>
            </a: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    </a:t>
            </a:r>
            <a:r>
              <a:rPr lang="en" sz="1200" b="0" i="0" u="none" strike="noStrike" cap="none" dirty="0" err="1">
                <a:solidFill>
                  <a:schemeClr val="dk1"/>
                </a:solidFill>
                <a:latin typeface="Arial"/>
                <a:ea typeface="Arial"/>
                <a:cs typeface="Arial"/>
                <a:sym typeface="Arial"/>
              </a:rPr>
              <a:t>System.out.println</a:t>
            </a:r>
            <a:r>
              <a:rPr lang="en" sz="1200" b="0" i="0" u="none" strike="noStrike" cap="none" dirty="0">
                <a:solidFill>
                  <a:schemeClr val="dk1"/>
                </a:solidFill>
                <a:latin typeface="Arial"/>
                <a:ea typeface="Arial"/>
                <a:cs typeface="Arial"/>
                <a:sym typeface="Arial"/>
              </a:rPr>
              <a:t>(</a:t>
            </a:r>
            <a:r>
              <a:rPr lang="en" sz="1200" b="0" i="0" u="none" strike="noStrike" cap="none" dirty="0">
                <a:solidFill>
                  <a:srgbClr val="007D9F"/>
                </a:solidFill>
                <a:latin typeface="Arial"/>
                <a:ea typeface="Arial"/>
                <a:cs typeface="Arial"/>
                <a:sym typeface="Arial"/>
              </a:rPr>
              <a:t>"The area for the circle of radius "</a:t>
            </a:r>
            <a:r>
              <a:rPr lang="en" sz="1200" b="0" i="0" u="none" strike="noStrike" cap="none" dirty="0">
                <a:solidFill>
                  <a:schemeClr val="dk1"/>
                </a:solidFill>
                <a:latin typeface="Arial"/>
                <a:ea typeface="Arial"/>
                <a:cs typeface="Arial"/>
                <a:sym typeface="Arial"/>
              </a:rPr>
              <a:t> +</a:t>
            </a: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      radius + </a:t>
            </a:r>
            <a:r>
              <a:rPr lang="en" sz="1200" b="0" i="0" u="none" strike="noStrike" cap="none" dirty="0">
                <a:solidFill>
                  <a:srgbClr val="007D9F"/>
                </a:solidFill>
                <a:latin typeface="Arial"/>
                <a:ea typeface="Arial"/>
                <a:cs typeface="Arial"/>
                <a:sym typeface="Arial"/>
              </a:rPr>
              <a:t>" is "</a:t>
            </a:r>
            <a:r>
              <a:rPr lang="en" sz="1200" b="0" i="0" u="none" strike="noStrike" cap="none" dirty="0">
                <a:solidFill>
                  <a:schemeClr val="dk1"/>
                </a:solidFill>
                <a:latin typeface="Arial"/>
                <a:ea typeface="Arial"/>
                <a:cs typeface="Arial"/>
                <a:sym typeface="Arial"/>
              </a:rPr>
              <a:t> + area);</a:t>
            </a: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  }</a:t>
            </a:r>
            <a:endParaRPr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chemeClr val="dk1"/>
                </a:solidFill>
                <a:latin typeface="Arial"/>
                <a:ea typeface="Arial"/>
                <a:cs typeface="Arial"/>
                <a:sym typeface="Arial"/>
              </a:rPr>
              <a:t>}</a:t>
            </a:r>
            <a:endParaRPr sz="1200" b="0" i="0" u="none" strike="noStrike" cap="none" dirty="0">
              <a:solidFill>
                <a:schemeClr val="dk1"/>
              </a:solidFill>
              <a:latin typeface="Arial"/>
              <a:ea typeface="Arial"/>
              <a:cs typeface="Arial"/>
              <a:sym typeface="Arial"/>
            </a:endParaRPr>
          </a:p>
        </p:txBody>
      </p:sp>
      <p:sp>
        <p:nvSpPr>
          <p:cNvPr id="314" name="Google Shape;314;p28"/>
          <p:cNvSpPr txBox="1">
            <a:spLocks noGrp="1"/>
          </p:cNvSpPr>
          <p:nvPr>
            <p:ph type="title"/>
          </p:nvPr>
        </p:nvSpPr>
        <p:spPr>
          <a:xfrm>
            <a:off x="311700" y="254900"/>
            <a:ext cx="420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220"/>
              <a:t>Lab: Pair Programming</a:t>
            </a:r>
            <a:endParaRPr sz="2220"/>
          </a:p>
        </p:txBody>
      </p:sp>
      <p:sp>
        <p:nvSpPr>
          <p:cNvPr id="315" name="Google Shape;315;p28"/>
          <p:cNvSpPr txBox="1">
            <a:spLocks noGrp="1"/>
          </p:cNvSpPr>
          <p:nvPr>
            <p:ph type="body" idx="1"/>
          </p:nvPr>
        </p:nvSpPr>
        <p:spPr>
          <a:xfrm>
            <a:off x="212625" y="827600"/>
            <a:ext cx="4351500" cy="1290300"/>
          </a:xfrm>
          <a:prstGeom prst="rect">
            <a:avLst/>
          </a:prstGeom>
          <a:noFill/>
          <a:ln>
            <a:noFill/>
          </a:ln>
        </p:spPr>
        <p:txBody>
          <a:bodyPr spcFirstLastPara="1" wrap="square" lIns="91425" tIns="91425" rIns="91425" bIns="91425" anchor="t" anchorCtr="0">
            <a:normAutofit/>
          </a:bodyPr>
          <a:lstStyle/>
          <a:p>
            <a:pPr marL="0" lvl="0" indent="0" algn="l" rtl="0">
              <a:lnSpc>
                <a:spcPct val="105000"/>
              </a:lnSpc>
              <a:spcBef>
                <a:spcPts val="0"/>
              </a:spcBef>
              <a:spcAft>
                <a:spcPts val="0"/>
              </a:spcAft>
              <a:buSzPts val="1800"/>
              <a:buNone/>
            </a:pPr>
            <a:r>
              <a:rPr lang="en" sz="1400" dirty="0"/>
              <a:t>Humans write algorithms to solve tasks and use programming languages to tell the computer how to execute the algorithm.</a:t>
            </a:r>
            <a:endParaRPr sz="1400" dirty="0"/>
          </a:p>
          <a:p>
            <a:pPr marL="0" lvl="0" indent="0" algn="l" rtl="0">
              <a:lnSpc>
                <a:spcPct val="105000"/>
              </a:lnSpc>
              <a:spcBef>
                <a:spcPts val="1200"/>
              </a:spcBef>
              <a:spcAft>
                <a:spcPts val="1200"/>
              </a:spcAft>
              <a:buSzPts val="1800"/>
              <a:buNone/>
            </a:pPr>
            <a:endParaRPr sz="1400" dirty="0"/>
          </a:p>
        </p:txBody>
      </p:sp>
      <p:pic>
        <p:nvPicPr>
          <p:cNvPr id="316" name="Google Shape;316;p28"/>
          <p:cNvPicPr preferRelativeResize="0"/>
          <p:nvPr/>
        </p:nvPicPr>
        <p:blipFill rotWithShape="1">
          <a:blip r:embed="rId3">
            <a:alphaModFix/>
          </a:blip>
          <a:srcRect/>
          <a:stretch/>
        </p:blipFill>
        <p:spPr>
          <a:xfrm>
            <a:off x="3388500" y="2353999"/>
            <a:ext cx="667000" cy="1094975"/>
          </a:xfrm>
          <a:prstGeom prst="rect">
            <a:avLst/>
          </a:prstGeom>
          <a:noFill/>
          <a:ln>
            <a:noFill/>
          </a:ln>
        </p:spPr>
      </p:pic>
      <p:pic>
        <p:nvPicPr>
          <p:cNvPr id="317" name="Google Shape;317;p28"/>
          <p:cNvPicPr preferRelativeResize="0"/>
          <p:nvPr/>
        </p:nvPicPr>
        <p:blipFill rotWithShape="1">
          <a:blip r:embed="rId4">
            <a:alphaModFix/>
          </a:blip>
          <a:srcRect b="29223"/>
          <a:stretch/>
        </p:blipFill>
        <p:spPr>
          <a:xfrm>
            <a:off x="3093249" y="1509950"/>
            <a:ext cx="1426000" cy="758526"/>
          </a:xfrm>
          <a:prstGeom prst="rect">
            <a:avLst/>
          </a:prstGeom>
          <a:noFill/>
          <a:ln>
            <a:noFill/>
          </a:ln>
        </p:spPr>
      </p:pic>
      <p:sp>
        <p:nvSpPr>
          <p:cNvPr id="318" name="Google Shape;318;p28"/>
          <p:cNvSpPr txBox="1"/>
          <p:nvPr/>
        </p:nvSpPr>
        <p:spPr>
          <a:xfrm>
            <a:off x="4564125" y="1100001"/>
            <a:ext cx="4442400" cy="3284700"/>
          </a:xfrm>
          <a:prstGeom prst="rect">
            <a:avLst/>
          </a:prstGeom>
          <a:solidFill>
            <a:srgbClr val="D9D2E9"/>
          </a:solidFill>
          <a:ln>
            <a:noFill/>
          </a:ln>
        </p:spPr>
        <p:txBody>
          <a:bodyPr spcFirstLastPara="1" wrap="square" lIns="91425" tIns="91425" rIns="91425" bIns="91425" anchor="t" anchorCtr="0">
            <a:spAutoFit/>
          </a:bodyPr>
          <a:lstStyle/>
          <a:p>
            <a:pPr marL="457200" marR="0" lvl="0" indent="-304800" algn="l" rtl="0">
              <a:lnSpc>
                <a:spcPct val="115000"/>
              </a:lnSpc>
              <a:spcBef>
                <a:spcPts val="0"/>
              </a:spcBef>
              <a:spcAft>
                <a:spcPts val="0"/>
              </a:spcAft>
              <a:buClr>
                <a:srgbClr val="434343"/>
              </a:buClr>
              <a:buSzPts val="1200"/>
              <a:buFont typeface="Lexend"/>
              <a:buAutoNum type="arabicPeriod"/>
            </a:pPr>
            <a:r>
              <a:rPr lang="en" sz="1200" b="0" i="0" u="none" strike="noStrike" cap="none" dirty="0">
                <a:solidFill>
                  <a:srgbClr val="434343"/>
                </a:solidFill>
                <a:latin typeface="Lexend"/>
                <a:ea typeface="Lexend"/>
                <a:cs typeface="Lexend"/>
                <a:sym typeface="Lexend"/>
              </a:rPr>
              <a:t>Go to </a:t>
            </a:r>
            <a:r>
              <a:rPr lang="en" sz="1200" b="0" i="0" u="sng" strike="noStrike" cap="none" dirty="0">
                <a:solidFill>
                  <a:schemeClr val="hlink"/>
                </a:solidFill>
                <a:latin typeface="Lexend"/>
                <a:ea typeface="Lexend"/>
                <a:cs typeface="Lexend"/>
                <a:sym typeface="Lexend"/>
                <a:hlinkClick r:id="rId5"/>
              </a:rPr>
              <a:t>ComputeArea</a:t>
            </a:r>
            <a:r>
              <a:rPr lang="en" sz="1200" b="0" i="0" u="none" strike="noStrike" cap="none" dirty="0">
                <a:solidFill>
                  <a:srgbClr val="434343"/>
                </a:solidFill>
                <a:latin typeface="Lexend"/>
                <a:ea typeface="Lexend"/>
                <a:cs typeface="Lexend"/>
                <a:sym typeface="Lexend"/>
              </a:rPr>
              <a:t> example and copy the code </a:t>
            </a:r>
            <a:endParaRPr sz="1200" b="0" i="0" u="none" strike="noStrike" cap="none" dirty="0">
              <a:solidFill>
                <a:srgbClr val="434343"/>
              </a:solidFill>
              <a:latin typeface="Lexend"/>
              <a:ea typeface="Lexend"/>
              <a:cs typeface="Lexend"/>
              <a:sym typeface="Lexend"/>
            </a:endParaRPr>
          </a:p>
          <a:p>
            <a:pPr marL="457200" marR="0" lvl="0" indent="-304800" algn="l" rtl="0">
              <a:lnSpc>
                <a:spcPct val="115000"/>
              </a:lnSpc>
              <a:spcBef>
                <a:spcPts val="1200"/>
              </a:spcBef>
              <a:spcAft>
                <a:spcPts val="0"/>
              </a:spcAft>
              <a:buClr>
                <a:srgbClr val="000000"/>
              </a:buClr>
              <a:buSzPts val="1200"/>
              <a:buFont typeface="Lexend"/>
              <a:buAutoNum type="arabicPeriod"/>
            </a:pPr>
            <a:r>
              <a:rPr lang="en" sz="1200" b="0" i="0" u="none" strike="noStrike" cap="none" dirty="0">
                <a:solidFill>
                  <a:srgbClr val="434343"/>
                </a:solidFill>
                <a:latin typeface="Lexend"/>
                <a:ea typeface="Lexend"/>
                <a:cs typeface="Lexend"/>
                <a:sym typeface="Lexend"/>
              </a:rPr>
              <a:t>Go to  </a:t>
            </a:r>
            <a:r>
              <a:rPr lang="en" sz="1200" b="0" i="0" u="sng" strike="noStrike" cap="none" dirty="0">
                <a:solidFill>
                  <a:schemeClr val="hlink"/>
                </a:solidFill>
                <a:latin typeface="Lexend"/>
                <a:ea typeface="Lexend"/>
                <a:cs typeface="Lexend"/>
                <a:sym typeface="Lexend"/>
                <a:hlinkClick r:id="rId6"/>
              </a:rPr>
              <a:t>Visualize Code</a:t>
            </a:r>
            <a:r>
              <a:rPr lang="en" sz="1200" b="0" i="0" u="none" strike="noStrike" cap="none" dirty="0">
                <a:solidFill>
                  <a:srgbClr val="434343"/>
                </a:solidFill>
                <a:latin typeface="Lexend"/>
                <a:ea typeface="Lexend"/>
                <a:cs typeface="Lexend"/>
                <a:sym typeface="Lexend"/>
              </a:rPr>
              <a:t> select java from the drop down.</a:t>
            </a:r>
            <a:endParaRPr sz="1200" b="0" i="0" u="none" strike="noStrike" cap="none" dirty="0">
              <a:solidFill>
                <a:srgbClr val="434343"/>
              </a:solidFill>
              <a:latin typeface="Lexend"/>
              <a:ea typeface="Lexend"/>
              <a:cs typeface="Lexend"/>
              <a:sym typeface="Lexend"/>
            </a:endParaRPr>
          </a:p>
          <a:p>
            <a:pPr marL="457200" marR="0" lvl="0" indent="-304800" algn="l" rtl="0">
              <a:lnSpc>
                <a:spcPct val="115000"/>
              </a:lnSpc>
              <a:spcBef>
                <a:spcPts val="0"/>
              </a:spcBef>
              <a:spcAft>
                <a:spcPts val="0"/>
              </a:spcAft>
              <a:buClr>
                <a:srgbClr val="434343"/>
              </a:buClr>
              <a:buSzPts val="1200"/>
              <a:buFont typeface="Lexend"/>
              <a:buAutoNum type="arabicPeriod"/>
            </a:pPr>
            <a:r>
              <a:rPr lang="en" sz="1200" b="0" i="0" u="none" strike="noStrike" cap="none" dirty="0">
                <a:solidFill>
                  <a:srgbClr val="434343"/>
                </a:solidFill>
                <a:latin typeface="Lexend"/>
                <a:ea typeface="Lexend"/>
                <a:cs typeface="Lexend"/>
                <a:sym typeface="Lexend"/>
              </a:rPr>
              <a:t>Paste your code and click visualization.</a:t>
            </a:r>
            <a:endParaRPr sz="1200" b="0" i="0" u="none" strike="noStrike" cap="none" dirty="0">
              <a:solidFill>
                <a:srgbClr val="434343"/>
              </a:solidFill>
              <a:latin typeface="Lexend"/>
              <a:ea typeface="Lexend"/>
              <a:cs typeface="Lexend"/>
              <a:sym typeface="Lexend"/>
            </a:endParaRPr>
          </a:p>
          <a:p>
            <a:pPr marL="457200" marR="0" lvl="0" indent="-304800" algn="l" rtl="0">
              <a:lnSpc>
                <a:spcPct val="115000"/>
              </a:lnSpc>
              <a:spcBef>
                <a:spcPts val="0"/>
              </a:spcBef>
              <a:spcAft>
                <a:spcPts val="0"/>
              </a:spcAft>
              <a:buClr>
                <a:srgbClr val="434343"/>
              </a:buClr>
              <a:buSzPts val="1200"/>
              <a:buFont typeface="Lexend"/>
              <a:buAutoNum type="arabicPeriod"/>
            </a:pPr>
            <a:r>
              <a:rPr lang="en" sz="1200" b="0" i="0" u="none" strike="noStrike" cap="none" dirty="0">
                <a:solidFill>
                  <a:srgbClr val="434343"/>
                </a:solidFill>
                <a:latin typeface="Lexend"/>
                <a:ea typeface="Lexend"/>
                <a:cs typeface="Lexend"/>
                <a:sym typeface="Lexend"/>
              </a:rPr>
              <a:t>Add the following code below </a:t>
            </a:r>
            <a:r>
              <a:rPr lang="en" sz="1200" b="0" i="0" u="none" strike="noStrike" cap="none" dirty="0" err="1">
                <a:solidFill>
                  <a:srgbClr val="434343"/>
                </a:solidFill>
                <a:latin typeface="Lexend"/>
                <a:ea typeface="Lexend"/>
                <a:cs typeface="Lexend"/>
                <a:sym typeface="Lexend"/>
              </a:rPr>
              <a:t>println</a:t>
            </a:r>
            <a:r>
              <a:rPr lang="en" sz="1200" b="0" i="0" u="none" strike="noStrike" cap="none" dirty="0">
                <a:solidFill>
                  <a:srgbClr val="434343"/>
                </a:solidFill>
                <a:latin typeface="Lexend"/>
                <a:ea typeface="Lexend"/>
                <a:cs typeface="Lexend"/>
                <a:sym typeface="Lexend"/>
              </a:rPr>
              <a:t> method</a:t>
            </a:r>
            <a:endParaRPr sz="1200" b="0" i="0" u="none" strike="noStrike" cap="none" dirty="0">
              <a:solidFill>
                <a:srgbClr val="434343"/>
              </a:solidFill>
              <a:latin typeface="Lexend"/>
              <a:ea typeface="Lexend"/>
              <a:cs typeface="Lexend"/>
              <a:sym typeface="Lexend"/>
            </a:endParaRPr>
          </a:p>
          <a:p>
            <a:pPr marL="914400" marR="0" lvl="1" indent="-304800" algn="l" rtl="0">
              <a:lnSpc>
                <a:spcPct val="115000"/>
              </a:lnSpc>
              <a:spcBef>
                <a:spcPts val="0"/>
              </a:spcBef>
              <a:spcAft>
                <a:spcPts val="0"/>
              </a:spcAft>
              <a:buClr>
                <a:srgbClr val="434343"/>
              </a:buClr>
              <a:buSzPts val="1200"/>
              <a:buFont typeface="Lexend"/>
              <a:buAutoNum type="alphaLcPeriod"/>
            </a:pPr>
            <a:r>
              <a:rPr lang="en" sz="1200" b="0" i="0" u="none" strike="noStrike" cap="none" dirty="0">
                <a:solidFill>
                  <a:srgbClr val="434343"/>
                </a:solidFill>
                <a:latin typeface="Lexend"/>
                <a:ea typeface="Lexend"/>
                <a:cs typeface="Lexend"/>
                <a:sym typeface="Lexend"/>
              </a:rPr>
              <a:t>Declare integer, identifier test, initialized to 20</a:t>
            </a:r>
            <a:endParaRPr sz="1200" b="0" i="0" u="none" strike="noStrike" cap="none" dirty="0">
              <a:solidFill>
                <a:srgbClr val="434343"/>
              </a:solidFill>
              <a:latin typeface="Lexend"/>
              <a:ea typeface="Lexend"/>
              <a:cs typeface="Lexend"/>
              <a:sym typeface="Lexend"/>
            </a:endParaRPr>
          </a:p>
          <a:p>
            <a:pPr marL="914400" marR="0" lvl="1" indent="-304800" algn="l" rtl="0">
              <a:lnSpc>
                <a:spcPct val="115000"/>
              </a:lnSpc>
              <a:spcBef>
                <a:spcPts val="0"/>
              </a:spcBef>
              <a:spcAft>
                <a:spcPts val="0"/>
              </a:spcAft>
              <a:buClr>
                <a:srgbClr val="434343"/>
              </a:buClr>
              <a:buSzPts val="1200"/>
              <a:buFont typeface="Lexend"/>
              <a:buAutoNum type="alphaLcPeriod"/>
            </a:pPr>
            <a:r>
              <a:rPr lang="en" sz="1200" b="0" i="0" u="none" strike="noStrike" cap="none" dirty="0">
                <a:solidFill>
                  <a:srgbClr val="434343"/>
                </a:solidFill>
                <a:latin typeface="Lexend"/>
                <a:ea typeface="Lexend"/>
                <a:cs typeface="Lexend"/>
                <a:sym typeface="Lexend"/>
              </a:rPr>
              <a:t>Declare double, identifier </a:t>
            </a:r>
            <a:r>
              <a:rPr lang="en" sz="1200" b="0" i="0" u="none" strike="noStrike" cap="none" dirty="0" err="1">
                <a:solidFill>
                  <a:srgbClr val="434343"/>
                </a:solidFill>
                <a:latin typeface="Lexend"/>
                <a:ea typeface="Lexend"/>
                <a:cs typeface="Lexend"/>
                <a:sym typeface="Lexend"/>
              </a:rPr>
              <a:t>divResult</a:t>
            </a:r>
            <a:r>
              <a:rPr lang="en" sz="1200" b="0" i="0" u="none" strike="noStrike" cap="none" dirty="0">
                <a:solidFill>
                  <a:srgbClr val="434343"/>
                </a:solidFill>
                <a:latin typeface="Lexend"/>
                <a:ea typeface="Lexend"/>
                <a:cs typeface="Lexend"/>
                <a:sym typeface="Lexend"/>
              </a:rPr>
              <a:t> where is assigned </a:t>
            </a:r>
            <a:r>
              <a:rPr lang="en" sz="1200" b="0" i="0" u="none" strike="noStrike" cap="none" dirty="0" err="1">
                <a:solidFill>
                  <a:srgbClr val="434343"/>
                </a:solidFill>
                <a:latin typeface="Lexend"/>
                <a:ea typeface="Lexend"/>
                <a:cs typeface="Lexend"/>
                <a:sym typeface="Lexend"/>
              </a:rPr>
              <a:t>divResult</a:t>
            </a:r>
            <a:r>
              <a:rPr lang="en" sz="1200" b="0" i="0" u="none" strike="noStrike" cap="none" dirty="0">
                <a:solidFill>
                  <a:srgbClr val="434343"/>
                </a:solidFill>
                <a:latin typeface="Lexend"/>
                <a:ea typeface="Lexend"/>
                <a:cs typeface="Lexend"/>
                <a:sym typeface="Lexend"/>
              </a:rPr>
              <a:t> = test/3</a:t>
            </a:r>
            <a:endParaRPr sz="1200" b="0" i="0" u="none" strike="noStrike" cap="none" dirty="0">
              <a:solidFill>
                <a:srgbClr val="434343"/>
              </a:solidFill>
              <a:latin typeface="Lexend"/>
              <a:ea typeface="Lexend"/>
              <a:cs typeface="Lexend"/>
              <a:sym typeface="Lexend"/>
            </a:endParaRPr>
          </a:p>
          <a:p>
            <a:pPr marL="914400" marR="0" lvl="1" indent="-304800" algn="l" rtl="0">
              <a:lnSpc>
                <a:spcPct val="115000"/>
              </a:lnSpc>
              <a:spcBef>
                <a:spcPts val="0"/>
              </a:spcBef>
              <a:spcAft>
                <a:spcPts val="0"/>
              </a:spcAft>
              <a:buClr>
                <a:srgbClr val="434343"/>
              </a:buClr>
              <a:buSzPts val="1200"/>
              <a:buFont typeface="Lexend"/>
              <a:buAutoNum type="alphaLcPeriod"/>
            </a:pPr>
            <a:r>
              <a:rPr lang="en" sz="1200" b="0" i="0" u="none" strike="noStrike" cap="none" dirty="0">
                <a:solidFill>
                  <a:srgbClr val="434343"/>
                </a:solidFill>
                <a:latin typeface="Lexend"/>
                <a:ea typeface="Lexend"/>
                <a:cs typeface="Lexend"/>
                <a:sym typeface="Lexend"/>
              </a:rPr>
              <a:t>Add statement to print </a:t>
            </a:r>
            <a:r>
              <a:rPr lang="en" sz="1200" b="0" i="0" u="none" strike="noStrike" cap="none" dirty="0" err="1">
                <a:solidFill>
                  <a:srgbClr val="434343"/>
                </a:solidFill>
                <a:latin typeface="Lexend"/>
                <a:ea typeface="Lexend"/>
                <a:cs typeface="Lexend"/>
                <a:sym typeface="Lexend"/>
              </a:rPr>
              <a:t>divResult</a:t>
            </a:r>
            <a:r>
              <a:rPr lang="en" sz="1200" b="0" i="0" u="none" strike="noStrike" cap="none" dirty="0">
                <a:solidFill>
                  <a:srgbClr val="434343"/>
                </a:solidFill>
                <a:latin typeface="Lexend"/>
                <a:ea typeface="Lexend"/>
                <a:cs typeface="Lexend"/>
                <a:sym typeface="Lexend"/>
              </a:rPr>
              <a:t> </a:t>
            </a:r>
            <a:endParaRPr sz="1200" b="0" i="0" u="none" strike="noStrike" cap="none" dirty="0">
              <a:solidFill>
                <a:srgbClr val="434343"/>
              </a:solidFill>
              <a:latin typeface="Lexend"/>
              <a:ea typeface="Lexend"/>
              <a:cs typeface="Lexend"/>
              <a:sym typeface="Lexend"/>
            </a:endParaRPr>
          </a:p>
          <a:p>
            <a:pPr marL="914400" marR="0" lvl="1" indent="-304800" algn="l" rtl="0">
              <a:lnSpc>
                <a:spcPct val="115000"/>
              </a:lnSpc>
              <a:spcBef>
                <a:spcPts val="0"/>
              </a:spcBef>
              <a:spcAft>
                <a:spcPts val="0"/>
              </a:spcAft>
              <a:buClr>
                <a:srgbClr val="434343"/>
              </a:buClr>
              <a:buSzPts val="1200"/>
              <a:buFont typeface="Lexend"/>
              <a:buAutoNum type="alphaLcPeriod"/>
            </a:pPr>
            <a:r>
              <a:rPr lang="en" sz="1200" b="0" i="0" u="none" strike="noStrike" cap="none" dirty="0">
                <a:solidFill>
                  <a:srgbClr val="434343"/>
                </a:solidFill>
                <a:latin typeface="Lexend"/>
                <a:ea typeface="Lexend"/>
                <a:cs typeface="Lexend"/>
                <a:sym typeface="Lexend"/>
              </a:rPr>
              <a:t>Visualize code</a:t>
            </a:r>
            <a:endParaRPr sz="1200" b="0" i="0" u="none" strike="noStrike" cap="none" dirty="0">
              <a:solidFill>
                <a:srgbClr val="434343"/>
              </a:solidFill>
              <a:latin typeface="Lexend"/>
              <a:ea typeface="Lexend"/>
              <a:cs typeface="Lexend"/>
              <a:sym typeface="Lexend"/>
            </a:endParaRPr>
          </a:p>
          <a:p>
            <a:pPr marL="914400" marR="0" lvl="1" indent="-304800" algn="l" rtl="0">
              <a:lnSpc>
                <a:spcPct val="115000"/>
              </a:lnSpc>
              <a:spcBef>
                <a:spcPts val="0"/>
              </a:spcBef>
              <a:spcAft>
                <a:spcPts val="0"/>
              </a:spcAft>
              <a:buClr>
                <a:srgbClr val="434343"/>
              </a:buClr>
              <a:buSzPts val="1200"/>
              <a:buFont typeface="Lexend"/>
              <a:buAutoNum type="alphaLcPeriod"/>
            </a:pPr>
            <a:r>
              <a:rPr lang="en" sz="1200" b="0" i="0" u="none" strike="noStrike" cap="none" dirty="0">
                <a:solidFill>
                  <a:srgbClr val="434343"/>
                </a:solidFill>
                <a:latin typeface="Lexend"/>
                <a:ea typeface="Lexend"/>
                <a:cs typeface="Lexend"/>
                <a:sym typeface="Lexend"/>
              </a:rPr>
              <a:t>Add another statement </a:t>
            </a:r>
            <a:r>
              <a:rPr lang="en" sz="1200" b="0" i="0" u="none" strike="noStrike" cap="none" dirty="0" err="1">
                <a:solidFill>
                  <a:srgbClr val="434343"/>
                </a:solidFill>
                <a:latin typeface="Lexend"/>
                <a:ea typeface="Lexend"/>
                <a:cs typeface="Lexend"/>
                <a:sym typeface="Lexend"/>
              </a:rPr>
              <a:t>divResult</a:t>
            </a:r>
            <a:r>
              <a:rPr lang="en" sz="1200" b="0" i="0" u="none" strike="noStrike" cap="none" dirty="0">
                <a:solidFill>
                  <a:srgbClr val="434343"/>
                </a:solidFill>
                <a:latin typeface="Lexend"/>
                <a:ea typeface="Lexend"/>
                <a:cs typeface="Lexend"/>
                <a:sym typeface="Lexend"/>
              </a:rPr>
              <a:t> = radius/3</a:t>
            </a:r>
            <a:endParaRPr sz="1200" b="0" i="0" u="none" strike="noStrike" cap="none" dirty="0">
              <a:solidFill>
                <a:srgbClr val="434343"/>
              </a:solidFill>
              <a:latin typeface="Lexend"/>
              <a:ea typeface="Lexend"/>
              <a:cs typeface="Lexend"/>
              <a:sym typeface="Lexend"/>
            </a:endParaRPr>
          </a:p>
          <a:p>
            <a:pPr marL="914400" marR="0" lvl="1" indent="-304800" algn="l" rtl="0">
              <a:lnSpc>
                <a:spcPct val="115000"/>
              </a:lnSpc>
              <a:spcBef>
                <a:spcPts val="0"/>
              </a:spcBef>
              <a:spcAft>
                <a:spcPts val="0"/>
              </a:spcAft>
              <a:buClr>
                <a:srgbClr val="434343"/>
              </a:buClr>
              <a:buSzPts val="1200"/>
              <a:buFont typeface="Lexend"/>
              <a:buAutoNum type="alphaLcPeriod"/>
            </a:pPr>
            <a:r>
              <a:rPr lang="en" sz="1200" b="0" i="0" u="none" strike="noStrike" cap="none" dirty="0">
                <a:solidFill>
                  <a:srgbClr val="434343"/>
                </a:solidFill>
                <a:latin typeface="Lexend"/>
                <a:ea typeface="Lexend"/>
                <a:cs typeface="Lexend"/>
                <a:sym typeface="Lexend"/>
              </a:rPr>
              <a:t>Add another statement to print </a:t>
            </a:r>
            <a:r>
              <a:rPr lang="en" sz="1200" b="0" i="0" u="none" strike="noStrike" cap="none" dirty="0" err="1">
                <a:solidFill>
                  <a:srgbClr val="434343"/>
                </a:solidFill>
                <a:latin typeface="Lexend"/>
                <a:ea typeface="Lexend"/>
                <a:cs typeface="Lexend"/>
                <a:sym typeface="Lexend"/>
              </a:rPr>
              <a:t>divResult</a:t>
            </a:r>
            <a:endParaRPr sz="1200" b="0" i="0" u="none" strike="noStrike" cap="none" dirty="0">
              <a:solidFill>
                <a:srgbClr val="434343"/>
              </a:solidFill>
              <a:latin typeface="Lexend"/>
              <a:ea typeface="Lexend"/>
              <a:cs typeface="Lexend"/>
              <a:sym typeface="Lexend"/>
            </a:endParaRPr>
          </a:p>
          <a:p>
            <a:pPr marL="914400" marR="0" lvl="1" indent="-304800" algn="l" rtl="0">
              <a:lnSpc>
                <a:spcPct val="115000"/>
              </a:lnSpc>
              <a:spcBef>
                <a:spcPts val="0"/>
              </a:spcBef>
              <a:spcAft>
                <a:spcPts val="0"/>
              </a:spcAft>
              <a:buClr>
                <a:srgbClr val="434343"/>
              </a:buClr>
              <a:buSzPts val="1200"/>
              <a:buFont typeface="Lexend"/>
              <a:buAutoNum type="alphaLcPeriod"/>
            </a:pPr>
            <a:r>
              <a:rPr lang="en" sz="1200" b="0" i="0" u="none" strike="noStrike" cap="none" dirty="0">
                <a:solidFill>
                  <a:srgbClr val="434343"/>
                </a:solidFill>
                <a:latin typeface="Lexend"/>
                <a:ea typeface="Lexend"/>
                <a:cs typeface="Lexend"/>
                <a:sym typeface="Lexend"/>
              </a:rPr>
              <a:t>Visualize code</a:t>
            </a:r>
            <a:endParaRPr sz="1200" b="0" i="0" u="none" strike="noStrike" cap="none" dirty="0">
              <a:solidFill>
                <a:srgbClr val="434343"/>
              </a:solidFill>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9"/>
          <p:cNvSpPr txBox="1">
            <a:spLocks noGrp="1"/>
          </p:cNvSpPr>
          <p:nvPr>
            <p:ph type="title"/>
          </p:nvPr>
        </p:nvSpPr>
        <p:spPr>
          <a:xfrm>
            <a:off x="311700" y="254900"/>
            <a:ext cx="8520600" cy="5727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800"/>
              <a:buNone/>
            </a:pPr>
            <a:r>
              <a:rPr lang="en"/>
              <a:t>Next Steps</a:t>
            </a:r>
            <a:endParaRPr/>
          </a:p>
        </p:txBody>
      </p:sp>
      <p:sp>
        <p:nvSpPr>
          <p:cNvPr id="324" name="Google Shape;324;p29"/>
          <p:cNvSpPr txBox="1">
            <a:spLocks noGrp="1"/>
          </p:cNvSpPr>
          <p:nvPr>
            <p:ph type="body" idx="1"/>
          </p:nvPr>
        </p:nvSpPr>
        <p:spPr>
          <a:xfrm>
            <a:off x="311700" y="863550"/>
            <a:ext cx="8520600" cy="3842700"/>
          </a:xfrm>
          <a:prstGeom prst="rect">
            <a:avLst/>
          </a:prstGeom>
          <a:solidFill>
            <a:srgbClr val="D9D2E9"/>
          </a:solidFill>
          <a:ln>
            <a:noFill/>
          </a:ln>
        </p:spPr>
        <p:txBody>
          <a:bodyPr spcFirstLastPara="1" wrap="square" lIns="91425" tIns="45700" rIns="91425" bIns="45700" anchor="t" anchorCtr="0">
            <a:normAutofit/>
          </a:bodyPr>
          <a:lstStyle/>
          <a:p>
            <a:pPr marL="0" lvl="0" indent="0" algn="l" rtl="0">
              <a:spcBef>
                <a:spcPts val="640"/>
              </a:spcBef>
              <a:spcAft>
                <a:spcPts val="0"/>
              </a:spcAft>
              <a:buSzPts val="1700"/>
              <a:buNone/>
            </a:pPr>
            <a:endParaRPr dirty="0"/>
          </a:p>
          <a:p>
            <a:pPr marL="0" lvl="0" indent="0" algn="l" rtl="0">
              <a:spcBef>
                <a:spcPts val="640"/>
              </a:spcBef>
              <a:spcAft>
                <a:spcPts val="0"/>
              </a:spcAft>
              <a:buSzPts val="1700"/>
              <a:buNone/>
            </a:pPr>
            <a:r>
              <a:rPr lang="en" dirty="0"/>
              <a:t>Go to preparation in canvas</a:t>
            </a:r>
            <a:endParaRPr dirty="0"/>
          </a:p>
          <a:p>
            <a:pPr marL="457200" lvl="0" indent="-336550" algn="l" rtl="0">
              <a:spcBef>
                <a:spcPts val="640"/>
              </a:spcBef>
              <a:spcAft>
                <a:spcPts val="0"/>
              </a:spcAft>
              <a:buSzPts val="1700"/>
              <a:buChar char="●"/>
            </a:pPr>
            <a:r>
              <a:rPr lang="en" dirty="0"/>
              <a:t>Explore information and activities from this lecture and the following book sections  </a:t>
            </a:r>
            <a:r>
              <a:rPr lang="en" u="sng" dirty="0">
                <a:solidFill>
                  <a:schemeClr val="hlink"/>
                </a:solidFill>
                <a:hlinkClick r:id="rId3"/>
              </a:rPr>
              <a:t>1. Getting Started and Primitive Types — CS Java</a:t>
            </a:r>
            <a:r>
              <a:rPr lang="en" dirty="0"/>
              <a:t>: sections 1.2 - 1.4</a:t>
            </a:r>
            <a:endParaRPr dirty="0"/>
          </a:p>
          <a:p>
            <a:pPr marL="457200" lvl="0" indent="-336550" algn="l" rtl="0">
              <a:spcBef>
                <a:spcPts val="640"/>
              </a:spcBef>
              <a:spcAft>
                <a:spcPts val="0"/>
              </a:spcAft>
              <a:buSzPts val="1700"/>
              <a:buChar char="●"/>
            </a:pPr>
            <a:r>
              <a:rPr lang="en" dirty="0"/>
              <a:t>Update your technical documentation to explain in your own words and code examples you explore from lecture or book. Use headings to organize information on these </a:t>
            </a:r>
            <a:r>
              <a:rPr lang="en" u="sng" dirty="0">
                <a:solidFill>
                  <a:schemeClr val="hlink"/>
                </a:solidFill>
                <a:hlinkClick r:id="rId4"/>
              </a:rPr>
              <a:t>Module 1: Programming Fundamentals and Tools</a:t>
            </a:r>
            <a:r>
              <a:rPr lang="en" dirty="0"/>
              <a:t> objectives </a:t>
            </a:r>
            <a:endParaRPr dirty="0"/>
          </a:p>
          <a:p>
            <a:pPr marL="914400" lvl="0" indent="-336550" algn="l" rtl="0">
              <a:spcBef>
                <a:spcPts val="640"/>
              </a:spcBef>
              <a:spcAft>
                <a:spcPts val="0"/>
              </a:spcAft>
              <a:buSzPts val="1700"/>
              <a:buChar char="●"/>
            </a:pPr>
            <a:r>
              <a:rPr lang="en" dirty="0"/>
              <a:t>Declaring, initializing, and assigning variables.</a:t>
            </a:r>
            <a:endParaRPr dirty="0"/>
          </a:p>
          <a:p>
            <a:pPr marL="914400" lvl="0" indent="-336550" algn="l" rtl="0">
              <a:spcBef>
                <a:spcPts val="640"/>
              </a:spcBef>
              <a:spcAft>
                <a:spcPts val="0"/>
              </a:spcAft>
              <a:buSzPts val="1700"/>
              <a:buChar char="●"/>
            </a:pPr>
            <a:r>
              <a:rPr lang="en" dirty="0"/>
              <a:t>Compare constants and variables</a:t>
            </a:r>
            <a:endParaRPr dirty="0"/>
          </a:p>
          <a:p>
            <a:pPr marL="914400" lvl="0" indent="-336550" algn="l" rtl="0">
              <a:spcBef>
                <a:spcPts val="640"/>
              </a:spcBef>
              <a:spcAft>
                <a:spcPts val="0"/>
              </a:spcAft>
              <a:buSzPts val="1700"/>
              <a:buChar char="●"/>
            </a:pPr>
            <a:r>
              <a:rPr lang="en" dirty="0"/>
              <a:t>Order of operations, integer division and the modulus operator.</a:t>
            </a:r>
            <a:endParaRPr dirty="0"/>
          </a:p>
          <a:p>
            <a:pPr marL="0" lvl="0" indent="0" algn="l" rtl="0">
              <a:spcBef>
                <a:spcPts val="640"/>
              </a:spcBef>
              <a:spcAft>
                <a:spcPts val="0"/>
              </a:spcAft>
              <a:buNone/>
            </a:pPr>
            <a:endParaRPr dirty="0"/>
          </a:p>
          <a:p>
            <a:pPr marL="0" lvl="0" indent="0" algn="l" rtl="0">
              <a:spcBef>
                <a:spcPts val="640"/>
              </a:spcBef>
              <a:spcAft>
                <a:spcPts val="0"/>
              </a:spcAft>
              <a:buClr>
                <a:schemeClr val="dk1"/>
              </a:buClr>
              <a:buSzPts val="1100"/>
              <a:buFont typeface="Arial"/>
              <a:buNone/>
            </a:pPr>
            <a:endParaRPr dirty="0"/>
          </a:p>
        </p:txBody>
      </p:sp>
    </p:spTree>
  </p:cSld>
  <p:clrMapOvr>
    <a:masterClrMapping/>
  </p:clrMapOvr>
</p:sld>
</file>

<file path=ppt/theme/theme1.xml><?xml version="1.0" encoding="utf-8"?>
<a:theme xmlns:a="http://schemas.openxmlformats.org/drawingml/2006/main" name="Deb Final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4055</TotalTime>
  <Words>4459</Words>
  <Application>Microsoft Macintosh PowerPoint</Application>
  <PresentationFormat>On-screen Show (16:9)</PresentationFormat>
  <Paragraphs>503</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Verdana</vt:lpstr>
      <vt:lpstr>Lexend</vt:lpstr>
      <vt:lpstr>Open Sans</vt:lpstr>
      <vt:lpstr>Calibri</vt:lpstr>
      <vt:lpstr>Deb Final Theme</vt:lpstr>
      <vt:lpstr>M01 L02 Language Fundamentals</vt:lpstr>
      <vt:lpstr>Check In</vt:lpstr>
      <vt:lpstr> Learning and Collaborating Reflection</vt:lpstr>
      <vt:lpstr>Goals</vt:lpstr>
      <vt:lpstr>Programming Languages</vt:lpstr>
      <vt:lpstr>Java High Level Language and Object Oriented </vt:lpstr>
      <vt:lpstr>Programming Language Elements</vt:lpstr>
      <vt:lpstr>Java Program </vt:lpstr>
      <vt:lpstr>Parts of Java Program</vt:lpstr>
      <vt:lpstr>Identifiers</vt:lpstr>
      <vt:lpstr>Class Identifier and Main Method</vt:lpstr>
      <vt:lpstr>Comments</vt:lpstr>
      <vt:lpstr>Variables</vt:lpstr>
      <vt:lpstr>Data Type </vt:lpstr>
      <vt:lpstr>Data Types Ranges and Storage Size</vt:lpstr>
      <vt:lpstr>Quality Code: Variable Naming Conventions</vt:lpstr>
      <vt:lpstr>Quality Coding Guide Using Industry Standards</vt:lpstr>
      <vt:lpstr>Declare and Initialize Variables</vt:lpstr>
      <vt:lpstr>Constants</vt:lpstr>
      <vt:lpstr>Number Literals</vt:lpstr>
      <vt:lpstr>Print Methods</vt:lpstr>
      <vt:lpstr>Discuss</vt:lpstr>
      <vt:lpstr>Operators and Evaluating Expressions</vt:lpstr>
      <vt:lpstr>Integer Division and Modulo Operator </vt:lpstr>
      <vt:lpstr>Exponent Operations</vt:lpstr>
      <vt:lpstr>Technical Developer Documentation</vt:lpstr>
      <vt:lpstr>Best Practices for Developer Documentation</vt:lpstr>
      <vt:lpstr>Pair Programming</vt:lpstr>
      <vt:lpstr>Lab: Pair Programming</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Isabella Eaton</cp:lastModifiedBy>
  <cp:revision>3</cp:revision>
  <dcterms:modified xsi:type="dcterms:W3CDTF">2026-02-08T15:58:56Z</dcterms:modified>
</cp:coreProperties>
</file>