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exend" pitchFamily="2" charset="77"/>
      <p:regular r:id="rId25"/>
      <p:bold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2258FF-108E-4C2C-BBC2-629FA6B42FFC}">
  <a:tblStyle styleId="{172258FF-108E-4C2C-BBC2-629FA6B42F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8"/>
    <p:restoredTop sz="94724"/>
  </p:normalViewPr>
  <p:slideViewPr>
    <p:cSldViewPr snapToGrid="0">
      <p:cViewPr varScale="1">
        <p:scale>
          <a:sx n="138" d="100"/>
          <a:sy n="138" d="100"/>
        </p:scale>
        <p:origin x="72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Will produce a double, store it in another memory location for doubles.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Think of a variable as a container.</a:t>
            </a:r>
            <a:endParaRPr dirty="0"/>
          </a:p>
        </p:txBody>
      </p:sp>
      <p:sp>
        <p:nvSpPr>
          <p:cNvPr id="107" name="Google Shape;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When you declare a certain variable type, your data type determines how big.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Holds certain min and max for the value. If you go over what is allowed to be held, can cause security attacks.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Someone explain 1</a:t>
            </a:r>
            <a:r>
              <a:rPr lang="en-US" baseline="30000" dirty="0"/>
              <a:t>st</a:t>
            </a:r>
            <a:r>
              <a:rPr lang="en-US" dirty="0"/>
              <a:t> 2 lines code, someone explain next 2 lines code, 3</a:t>
            </a:r>
            <a:r>
              <a:rPr lang="en-US" baseline="30000" dirty="0"/>
              <a:t>rd</a:t>
            </a:r>
            <a:r>
              <a:rPr lang="en-US" dirty="0"/>
              <a:t> person do final lines of code.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line allowed, implicit casting, smaller can be put into a larger container.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Guess number code: takes double value makes an integer.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6" name="Google Shape;14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Implicit-smaller into larger, can just do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Explicit- cannot automatically do. Need to manually cast into a diff variable.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Generates random double, int number 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dirty="0"/>
              <a:t>The difference between using 3 and 2.0 is 3 is an integer, 2.0 is a double. Each has a different data type. 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dirty="0"/>
              <a:t>Saved as a specific data type depending on how you are declaring the value in an operator. Modulus and integer division. </a:t>
            </a:r>
          </a:p>
          <a:p>
            <a:pPr marL="6858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dirty="0"/>
              <a:t>When you have a mixed value, it results in the bigger cup size of a variable</a:t>
            </a:r>
          </a:p>
          <a:p>
            <a:pPr marL="6858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dirty="0"/>
              <a:t>Integer divided by double, result is a double so long as one value is a double.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Need to create new storage if you are combining different data types, need to store to larger data type typically.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Can copy and paste code from lecture examples and then play with it in tech doc.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655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marL="914400" lvl="1" indent="-3238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marL="1371600" lvl="2" indent="-3175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21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b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sz="28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sz="18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sz="16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nnel/19%3ApRvy9tzuOww2RtQDiRX6dWVr25d3oXmxcDaOjchsfdU1%40thread.tacv2/Meeting%20links?groupId=16f4039e-c6e4-42e7-9bd9-71227385d91e&amp;tenantId=03309ca4-1733-4af9-a73c-f18cc841325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mojipedia.org/sunflower" TargetMode="External"/><Relationship Id="rId4" Type="http://schemas.openxmlformats.org/officeDocument/2006/relationships/hyperlink" Target="https://getemoji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paritech.com/blog/information-security/integer-overflow-attack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-ppe.pearsoncmg.com/codeanimation/ComputeChang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liveexample.pearsoncmg.com/liang/intro12e/html/FahrenheitToCelsius.html" TargetMode="External"/><Relationship Id="rId4" Type="http://schemas.openxmlformats.org/officeDocument/2006/relationships/hyperlink" Target="https://liveexample.pearsoncmg.com/liang/intro12e/html/ComputeChange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calculator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tutor.com/render.html#mode=edi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unestone.academy/ns/books/published/csjava/Unit1-Getting-Started/toctree.html?mode=browsi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ctrTitle"/>
          </p:nvPr>
        </p:nvSpPr>
        <p:spPr>
          <a:xfrm>
            <a:off x="707725" y="141950"/>
            <a:ext cx="7031700" cy="13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L04 Primitive Data Type Conversion and Casting</a:t>
            </a:r>
            <a:endParaRPr sz="3780"/>
          </a:p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9925" y="1530950"/>
            <a:ext cx="5709102" cy="3512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120400" y="71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157500" y="588475"/>
            <a:ext cx="8829000" cy="43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300"/>
              <a:t>Check in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/>
              <a:t>Questions on setting up Git/GitHub and Eclipse?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/>
              <a:t>Who has Eclipse set up? </a:t>
            </a:r>
            <a:endParaRPr sz="13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Meeting links | CS Office Hours | Microsoft Teams</a:t>
            </a:r>
            <a:endParaRPr sz="150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sz="1300">
                <a:highlight>
                  <a:srgbClr val="D9D2E9"/>
                </a:highlight>
              </a:rPr>
              <a:t>Set up</a:t>
            </a:r>
            <a:endParaRPr sz="1300">
              <a:highlight>
                <a:srgbClr val="D9D2E9"/>
              </a:highlight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•"/>
            </a:pPr>
            <a:r>
              <a:rPr lang="en" sz="1300">
                <a:highlight>
                  <a:srgbClr val="D9D2E9"/>
                </a:highlight>
              </a:rPr>
              <a:t>Open Eclipse or Sit with someone that has Eclipse set up if you do not. </a:t>
            </a:r>
            <a:endParaRPr sz="1300">
              <a:highlight>
                <a:srgbClr val="D9D2E9"/>
              </a:highlight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>
                <a:highlight>
                  <a:srgbClr val="D9D2E9"/>
                </a:highlight>
              </a:rPr>
              <a:t>Go to your local repo and open documentation</a:t>
            </a:r>
            <a:endParaRPr sz="1300">
              <a:highlight>
                <a:srgbClr val="D9D2E9"/>
              </a:highlight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 sz="1300">
                <a:highlight>
                  <a:srgbClr val="D9D2E9"/>
                </a:highlight>
              </a:rPr>
              <a:t>Technical Documentation</a:t>
            </a:r>
            <a:endParaRPr sz="1300">
              <a:highlight>
                <a:srgbClr val="D9D2E9"/>
              </a:highlight>
            </a:endParaRPr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–"/>
            </a:pPr>
            <a:r>
              <a:rPr lang="en" sz="1300">
                <a:highlight>
                  <a:srgbClr val="D9D2E9"/>
                </a:highlight>
              </a:rPr>
              <a:t>Eclipse Cheatsheet</a:t>
            </a:r>
            <a:endParaRPr sz="1300">
              <a:highlight>
                <a:srgbClr val="D9D2E9"/>
              </a:highlight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en" sz="1300">
                <a:highlight>
                  <a:srgbClr val="D9D2E9"/>
                </a:highlight>
              </a:rPr>
              <a:t>Go to canvas and open today’s participation to submit your tech doc</a:t>
            </a:r>
            <a:endParaRPr sz="1300">
              <a:highlight>
                <a:srgbClr val="D9D2E9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highlight>
                <a:srgbClr val="D9D2E9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300"/>
              <a:t>Goals: 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1"/>
                </a:solidFill>
              </a:rPr>
              <a:t>Explain how </a:t>
            </a:r>
            <a:r>
              <a:rPr lang="en" sz="1300" b="1">
                <a:solidFill>
                  <a:schemeClr val="dk1"/>
                </a:solidFill>
              </a:rPr>
              <a:t>data type selection affects memory allocation</a:t>
            </a:r>
            <a:r>
              <a:rPr lang="en" sz="1300">
                <a:solidFill>
                  <a:schemeClr val="dk1"/>
                </a:solidFill>
              </a:rPr>
              <a:t>  and potential overflow errors during program execution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</a:rPr>
              <a:t>Describe implicit and explicit conversion rules in assignment statements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</a:rPr>
              <a:t>Describe cast operator and apply in code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</a:rPr>
              <a:t>Explain mixed number (doubles and integers) operations </a:t>
            </a:r>
            <a:endParaRPr sz="1300"/>
          </a:p>
        </p:txBody>
      </p:sp>
      <p:sp>
        <p:nvSpPr>
          <p:cNvPr id="60" name="Google Shape;60;p10"/>
          <p:cNvSpPr/>
          <p:nvPr/>
        </p:nvSpPr>
        <p:spPr>
          <a:xfrm>
            <a:off x="4882275" y="124225"/>
            <a:ext cx="4141500" cy="572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400" b="0" i="0" u="sng" strike="noStrike" cap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Emojis</a:t>
            </a: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that represent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s: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you feel </a:t>
            </a:r>
            <a:r>
              <a:rPr lang="en">
                <a:latin typeface="Lexend"/>
                <a:ea typeface="Lexend"/>
                <a:cs typeface="Lexend"/>
                <a:sym typeface="Lexend"/>
              </a:rPr>
              <a:t>using Eclipse?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0"/>
          <p:cNvSpPr txBox="1"/>
          <p:nvPr/>
        </p:nvSpPr>
        <p:spPr>
          <a:xfrm>
            <a:off x="4882275" y="696925"/>
            <a:ext cx="414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 </a:t>
            </a:r>
            <a:r>
              <a:rPr lang="en"/>
              <a:t>is </a:t>
            </a:r>
            <a:r>
              <a:rPr lang="en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🤩 Ready to </a:t>
            </a:r>
            <a:r>
              <a:rPr lang="en"/>
              <a:t>help you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7290875" y="812775"/>
            <a:ext cx="16446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 b="0" i="0" u="sng" strike="noStrike" cap="none">
                <a:solidFill>
                  <a:srgbClr val="99C8FF"/>
                </a:solidFill>
                <a:highlight>
                  <a:srgbClr val="7A92B1"/>
                </a:highlight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L🌻ve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 b="0" i="0" u="none" strike="noStrike" cap="none">
                <a:solidFill>
                  <a:srgbClr val="F3F4F6"/>
                </a:solidFill>
                <a:highlight>
                  <a:srgbClr val="464D56"/>
                </a:highlight>
                <a:latin typeface="Arial"/>
                <a:ea typeface="Arial"/>
                <a:cs typeface="Arial"/>
                <a:sym typeface="Arial"/>
              </a:rPr>
              <a:t>L💗ve</a:t>
            </a:r>
            <a:endParaRPr sz="2200" b="0" i="0" u="sng" strike="noStrike" cap="none">
              <a:solidFill>
                <a:srgbClr val="99C8FF"/>
              </a:solidFill>
              <a:highlight>
                <a:srgbClr val="7A92B1"/>
              </a:highlight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 b="0" i="0" u="sng" strike="noStrike" cap="none">
                <a:solidFill>
                  <a:srgbClr val="99C8FF"/>
                </a:solidFill>
                <a:highlight>
                  <a:srgbClr val="7A92B1"/>
                </a:highlight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</a:t>
            </a:r>
            <a:r>
              <a:rPr lang="en" sz="2200" b="0" i="0" u="none" strike="noStrike" cap="none">
                <a:solidFill>
                  <a:srgbClr val="F3F4F6"/>
                </a:solidFill>
                <a:highlight>
                  <a:srgbClr val="464D56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🤣gh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 b="0" i="0" u="none" strike="noStrike" cap="none">
                <a:solidFill>
                  <a:srgbClr val="F3F4F6"/>
                </a:solidFill>
                <a:highlight>
                  <a:srgbClr val="464D56"/>
                </a:highlight>
                <a:latin typeface="Arial"/>
                <a:ea typeface="Arial"/>
                <a:cs typeface="Arial"/>
                <a:sym typeface="Arial"/>
              </a:rPr>
              <a:t>Le💡rn</a:t>
            </a:r>
            <a:endParaRPr sz="2200" b="0" i="0" u="none" strike="noStrike" cap="none">
              <a:solidFill>
                <a:srgbClr val="F3F4F6"/>
              </a:solidFill>
              <a:highlight>
                <a:srgbClr val="464D56"/>
              </a:highlight>
              <a:uFill>
                <a:noFill/>
              </a:u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1"/>
          <p:cNvGrpSpPr/>
          <p:nvPr/>
        </p:nvGrpSpPr>
        <p:grpSpPr>
          <a:xfrm>
            <a:off x="7050107" y="2031555"/>
            <a:ext cx="1949450" cy="2076638"/>
            <a:chOff x="6905043" y="201009"/>
            <a:chExt cx="2002723" cy="1912718"/>
          </a:xfrm>
        </p:grpSpPr>
        <p:pic>
          <p:nvPicPr>
            <p:cNvPr id="68" name="Google Shape;68;p11"/>
            <p:cNvPicPr preferRelativeResize="0"/>
            <p:nvPr/>
          </p:nvPicPr>
          <p:blipFill rotWithShape="1">
            <a:blip r:embed="rId3">
              <a:alphaModFix/>
            </a:blip>
            <a:srcRect r="59661"/>
            <a:stretch/>
          </p:blipFill>
          <p:spPr>
            <a:xfrm rot="5400000">
              <a:off x="6950045" y="156007"/>
              <a:ext cx="1912718" cy="2002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1"/>
            <p:cNvSpPr txBox="1"/>
            <p:nvPr/>
          </p:nvSpPr>
          <p:spPr>
            <a:xfrm>
              <a:off x="7502405" y="407461"/>
              <a:ext cx="1234800" cy="318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" sz="1350" b="0" i="0" u="none" strike="noStrike" cap="none">
                  <a:solidFill>
                    <a:srgbClr val="FFFFFF"/>
                  </a:solidFill>
                  <a:highlight>
                    <a:srgbClr val="000000"/>
                  </a:highlight>
                  <a:latin typeface="Verdana"/>
                  <a:ea typeface="Verdana"/>
                  <a:cs typeface="Verdana"/>
                  <a:sym typeface="Verdana"/>
                </a:rPr>
                <a:t>009AFD2A</a:t>
              </a:r>
              <a:endParaRPr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311700" y="137775"/>
            <a:ext cx="376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Memory Concepts</a:t>
            </a:r>
            <a:endParaRPr/>
          </a:p>
        </p:txBody>
      </p:sp>
      <p:pic>
        <p:nvPicPr>
          <p:cNvPr id="71" name="Google Shape;71;p11" descr="A picture containing room,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6323" t="4838" r="6817" b="16865"/>
          <a:stretch/>
        </p:blipFill>
        <p:spPr>
          <a:xfrm>
            <a:off x="5524650" y="212250"/>
            <a:ext cx="3288749" cy="16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538300" y="775700"/>
            <a:ext cx="3862200" cy="572700"/>
          </a:xfrm>
          <a:prstGeom prst="wedgeRoundRectCallout">
            <a:avLst>
              <a:gd name="adj1" fmla="val 67077"/>
              <a:gd name="adj2" fmla="val 28180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happens  when you declare  a variable?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3" name="Google Shape;73;p11"/>
          <p:cNvGrpSpPr/>
          <p:nvPr/>
        </p:nvGrpSpPr>
        <p:grpSpPr>
          <a:xfrm>
            <a:off x="7050102" y="2986507"/>
            <a:ext cx="1949450" cy="2076638"/>
            <a:chOff x="6905043" y="201009"/>
            <a:chExt cx="2002723" cy="1912718"/>
          </a:xfrm>
        </p:grpSpPr>
        <p:pic>
          <p:nvPicPr>
            <p:cNvPr id="74" name="Google Shape;74;p11"/>
            <p:cNvPicPr preferRelativeResize="0"/>
            <p:nvPr/>
          </p:nvPicPr>
          <p:blipFill rotWithShape="1">
            <a:blip r:embed="rId3">
              <a:alphaModFix/>
            </a:blip>
            <a:srcRect r="59661"/>
            <a:stretch/>
          </p:blipFill>
          <p:spPr>
            <a:xfrm rot="5400000">
              <a:off x="6950045" y="156007"/>
              <a:ext cx="1912718" cy="2002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1"/>
            <p:cNvSpPr txBox="1"/>
            <p:nvPr/>
          </p:nvSpPr>
          <p:spPr>
            <a:xfrm>
              <a:off x="7502405" y="407461"/>
              <a:ext cx="1234800" cy="318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" sz="1350" b="0" i="0" u="none" strike="noStrike" cap="none">
                  <a:solidFill>
                    <a:srgbClr val="FFFFFF"/>
                  </a:solidFill>
                  <a:highlight>
                    <a:srgbClr val="000000"/>
                  </a:highlight>
                  <a:latin typeface="Verdana"/>
                  <a:ea typeface="Verdana"/>
                  <a:cs typeface="Verdana"/>
                  <a:sym typeface="Verdana"/>
                </a:rPr>
                <a:t>009AFD30</a:t>
              </a:r>
              <a:endParaRPr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76" name="Google Shape;76;p11"/>
          <p:cNvSpPr txBox="1"/>
          <p:nvPr/>
        </p:nvSpPr>
        <p:spPr>
          <a:xfrm>
            <a:off x="7613100" y="4324350"/>
            <a:ext cx="1200300" cy="40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rPr>
              <a:t>009AFD3C</a:t>
            </a:r>
            <a:endParaRPr sz="135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538300" y="2375938"/>
            <a:ext cx="3621000" cy="756300"/>
          </a:xfrm>
          <a:prstGeom prst="wedgeRoundRectCallout">
            <a:avLst>
              <a:gd name="adj1" fmla="val 67296"/>
              <a:gd name="adj2" fmla="val 5839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is the amount of memory to be allocated determined?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4902350" y="2248300"/>
            <a:ext cx="25569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double PI = 3.14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5456450" y="3198550"/>
            <a:ext cx="19494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radius = 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4079700" y="4265275"/>
            <a:ext cx="33609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area = radius * radius * PI;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538300" y="4184550"/>
            <a:ext cx="2616900" cy="680100"/>
          </a:xfrm>
          <a:prstGeom prst="wedgeRoundRectCallout">
            <a:avLst>
              <a:gd name="adj1" fmla="val 76808"/>
              <a:gd name="adj2" fmla="val 8061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is the memory accessed?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704350" y="1544275"/>
            <a:ext cx="3288900" cy="572700"/>
          </a:xfrm>
          <a:prstGeom prst="wedgeRoundRectCallout">
            <a:avLst>
              <a:gd name="adj1" fmla="val 58758"/>
              <a:gd name="adj2" fmla="val -16949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do you read these statements with = 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538300" y="3280238"/>
            <a:ext cx="3621000" cy="756300"/>
          </a:xfrm>
          <a:prstGeom prst="wedgeRoundRectCallout">
            <a:avLst>
              <a:gd name="adj1" fmla="val 67296"/>
              <a:gd name="adj2" fmla="val 5839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is memory allocated for a constant different than a variable?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2"/>
          <p:cNvGrpSpPr/>
          <p:nvPr/>
        </p:nvGrpSpPr>
        <p:grpSpPr>
          <a:xfrm>
            <a:off x="7050107" y="1955355"/>
            <a:ext cx="1949450" cy="2076638"/>
            <a:chOff x="6905043" y="201009"/>
            <a:chExt cx="2002723" cy="1912718"/>
          </a:xfrm>
        </p:grpSpPr>
        <p:pic>
          <p:nvPicPr>
            <p:cNvPr id="89" name="Google Shape;89;p12"/>
            <p:cNvPicPr preferRelativeResize="0"/>
            <p:nvPr/>
          </p:nvPicPr>
          <p:blipFill rotWithShape="1">
            <a:blip r:embed="rId3">
              <a:alphaModFix/>
            </a:blip>
            <a:srcRect r="59661"/>
            <a:stretch/>
          </p:blipFill>
          <p:spPr>
            <a:xfrm rot="5400000">
              <a:off x="6950045" y="156007"/>
              <a:ext cx="1912718" cy="2002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2"/>
            <p:cNvSpPr txBox="1"/>
            <p:nvPr/>
          </p:nvSpPr>
          <p:spPr>
            <a:xfrm>
              <a:off x="7502405" y="407461"/>
              <a:ext cx="1234800" cy="318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" sz="1350" b="0" i="0" u="none" strike="noStrike" cap="none">
                  <a:solidFill>
                    <a:srgbClr val="FFFFFF"/>
                  </a:solidFill>
                  <a:highlight>
                    <a:srgbClr val="000000"/>
                  </a:highlight>
                  <a:latin typeface="Verdana"/>
                  <a:ea typeface="Verdana"/>
                  <a:cs typeface="Verdana"/>
                  <a:sym typeface="Verdana"/>
                </a:rPr>
                <a:t>009AFD2A</a:t>
              </a:r>
              <a:endParaRPr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376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Memory Concepts</a:t>
            </a:r>
            <a:endParaRPr/>
          </a:p>
        </p:txBody>
      </p:sp>
      <p:pic>
        <p:nvPicPr>
          <p:cNvPr id="92" name="Google Shape;92;p12" descr="A picture containing room, sig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6323" t="4838" r="6817" b="16865"/>
          <a:stretch/>
        </p:blipFill>
        <p:spPr>
          <a:xfrm>
            <a:off x="5417475" y="104877"/>
            <a:ext cx="3582074" cy="1746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2"/>
          <p:cNvGrpSpPr/>
          <p:nvPr/>
        </p:nvGrpSpPr>
        <p:grpSpPr>
          <a:xfrm>
            <a:off x="7050107" y="2910305"/>
            <a:ext cx="1949450" cy="2076638"/>
            <a:chOff x="6905043" y="201009"/>
            <a:chExt cx="2002723" cy="1912718"/>
          </a:xfrm>
        </p:grpSpPr>
        <p:pic>
          <p:nvPicPr>
            <p:cNvPr id="94" name="Google Shape;94;p12"/>
            <p:cNvPicPr preferRelativeResize="0"/>
            <p:nvPr/>
          </p:nvPicPr>
          <p:blipFill rotWithShape="1">
            <a:blip r:embed="rId3">
              <a:alphaModFix/>
            </a:blip>
            <a:srcRect r="59661"/>
            <a:stretch/>
          </p:blipFill>
          <p:spPr>
            <a:xfrm rot="5400000">
              <a:off x="6950045" y="156007"/>
              <a:ext cx="1912718" cy="2002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2"/>
            <p:cNvSpPr txBox="1"/>
            <p:nvPr/>
          </p:nvSpPr>
          <p:spPr>
            <a:xfrm>
              <a:off x="7502405" y="407461"/>
              <a:ext cx="1234800" cy="318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en" sz="1350" b="0" i="0" u="none" strike="noStrike" cap="none">
                  <a:solidFill>
                    <a:srgbClr val="FFFFFF"/>
                  </a:solidFill>
                  <a:highlight>
                    <a:srgbClr val="000000"/>
                  </a:highlight>
                  <a:latin typeface="Verdana"/>
                  <a:ea typeface="Verdana"/>
                  <a:cs typeface="Verdana"/>
                  <a:sym typeface="Verdana"/>
                </a:rPr>
                <a:t>009AFD30</a:t>
              </a:r>
              <a:endParaRPr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6" name="Google Shape;96;p12"/>
          <p:cNvSpPr txBox="1"/>
          <p:nvPr/>
        </p:nvSpPr>
        <p:spPr>
          <a:xfrm>
            <a:off x="7613100" y="4248150"/>
            <a:ext cx="1200300" cy="400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Verdana"/>
                <a:ea typeface="Verdana"/>
                <a:cs typeface="Verdana"/>
                <a:sym typeface="Verdana"/>
              </a:rPr>
              <a:t>009AFD3C</a:t>
            </a:r>
            <a:endParaRPr sz="135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95950" y="2259800"/>
            <a:ext cx="22194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double PI = 3.14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4995950" y="3133288"/>
            <a:ext cx="20565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radius = 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079700" y="4006800"/>
            <a:ext cx="3360900" cy="40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area = radius * radius * PI;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311700" y="2259802"/>
            <a:ext cx="4511100" cy="5727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2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Declaring a constant (final)  allocated enough memory for the data type in read only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311700" y="3133300"/>
            <a:ext cx="4511100" cy="5727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2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Declaring variables allocated enough memory for the data type in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read/write 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252300" y="594388"/>
            <a:ext cx="4319700" cy="7671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2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Memory is allocated to a location with a unique address to store that variable’s value.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361725" y="1524300"/>
            <a:ext cx="3987000" cy="5727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888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= means assign what is on the right and store in memory identified on the left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252300" y="4006800"/>
            <a:ext cx="3768000" cy="6417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782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Access the memory address through the identifier (variable or constant name 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9285"/>
              <a:buFont typeface="Open Sans"/>
              <a:buNone/>
            </a:pPr>
            <a:r>
              <a:rPr lang="en"/>
              <a:t>Cup Analogy </a:t>
            </a:r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body" idx="1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27000" lvl="0" indent="-114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/>
              <a:t>Each data type has a range of values that are valid for that type</a:t>
            </a:r>
            <a:endParaRPr sz="1600"/>
          </a:p>
          <a:p>
            <a:pPr marL="127000" lvl="0" indent="-114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/>
              <a:t>Declaring a variable a certain type sets aside (allocates) a certain amount of memory for that variable</a:t>
            </a:r>
            <a:endParaRPr sz="1600"/>
          </a:p>
          <a:p>
            <a:pPr marL="127000" lvl="0" indent="-25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Think of a Variable as a Cup 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1600"/>
              <a:t>Cup is a container            -&gt;           Variable is a container 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1600"/>
              <a:t>Cup holds something      -&gt;           Variable holds a value 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" sz="1600"/>
              <a:t>Cup has a size                -&gt;           Variable has a size </a:t>
            </a:r>
            <a:endParaRPr sz="1600"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</a:pPr>
            <a:r>
              <a:rPr lang="en" sz="1600"/>
              <a:t>                                                       Variable has a name (identifier) </a:t>
            </a:r>
            <a:endParaRPr sz="1600"/>
          </a:p>
        </p:txBody>
      </p:sp>
      <p:pic>
        <p:nvPicPr>
          <p:cNvPr id="111" name="Google Shape;11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750" y="1914575"/>
            <a:ext cx="19812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212400" y="151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 Ranges and Literals</a:t>
            </a:r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113100" y="2683050"/>
            <a:ext cx="8719200" cy="21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You assign a variable a certain data type which means it is a certain size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Then if you place a value into that variable that is too big it will "overflow"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This is like pouring the liquid of a big cup into a small cup - it "overflows"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sz="1400"/>
              <a:t>Integer literals are assumed to be of type int. An integer literal can be assigned to an integer variable as long as it can fit into the variable. 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sz="1400"/>
              <a:t>int tooBig = 2147483648;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 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/>
          </a:p>
        </p:txBody>
      </p:sp>
      <p:sp>
        <p:nvSpPr>
          <p:cNvPr id="118" name="Google Shape;118;p14"/>
          <p:cNvSpPr/>
          <p:nvPr/>
        </p:nvSpPr>
        <p:spPr>
          <a:xfrm>
            <a:off x="2552200" y="4230200"/>
            <a:ext cx="6044400" cy="7419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6280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Error: Out of range would cause an overflow error.</a:t>
            </a:r>
            <a:endParaRPr sz="1400" b="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Did you know this is a security issue? </a:t>
            </a:r>
            <a:endParaRPr sz="1300" b="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sng" strike="noStrike" cap="non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What is an Integer Overflow Attack?</a:t>
            </a:r>
            <a:r>
              <a:rPr lang="en" sz="1300" b="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400" b="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" name="Google Shape;119;p14"/>
          <p:cNvGraphicFramePr/>
          <p:nvPr/>
        </p:nvGraphicFramePr>
        <p:xfrm>
          <a:off x="212400" y="724075"/>
          <a:ext cx="8719175" cy="1740221"/>
        </p:xfrm>
        <a:graphic>
          <a:graphicData uri="http://schemas.openxmlformats.org/drawingml/2006/table">
            <a:tbl>
              <a:tblPr>
                <a:noFill/>
                <a:tableStyleId>{172258FF-108E-4C2C-BBC2-629FA6B42FFC}</a:tableStyleId>
              </a:tblPr>
              <a:tblGrid>
                <a:gridCol w="155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Data Type</a:t>
                      </a:r>
                      <a:endParaRPr sz="1300" b="1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</a:t>
                      </a:r>
                      <a:endParaRPr sz="1300" b="1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Minimum Value</a:t>
                      </a:r>
                      <a:endParaRPr sz="1300" b="1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b="1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Maximum Value</a:t>
                      </a:r>
                      <a:endParaRPr sz="1300" b="1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byte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 byte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–128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127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2 bytes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–32,768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32,767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int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4 bytes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–2,147,483,648 (-2^31)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2,147,483,647 (2^31 – 1)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long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8 bytes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–9,223,372,036,854,775,808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9,223,372,036,854,770,000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float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4 bytes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~1.4 × 10^–45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~3.4 × 10^38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8 bytes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~4.9 × 10^–324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~1.8 × 10^308</a:t>
                      </a:r>
                      <a:endParaRPr sz="13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0" name="Google Shape;12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76325" y="2683050"/>
            <a:ext cx="636850" cy="9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197850" y="1104750"/>
            <a:ext cx="4695000" cy="173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intValue1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123456;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intValue2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-9876543;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12345.23;	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intValue1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8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8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intValue2</a:t>
            </a:r>
            <a:r>
              <a:rPr lang="en" sz="18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347750" y="110550"/>
            <a:ext cx="32373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Code Discussion 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4263375" y="2214798"/>
            <a:ext cx="4462500" cy="700500"/>
          </a:xfrm>
          <a:prstGeom prst="wedgeRoundRectCallout">
            <a:avLst>
              <a:gd name="adj1" fmla="val -68761"/>
              <a:gd name="adj2" fmla="val 1748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think there is any problem with these assignment statements?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4674900" y="692525"/>
            <a:ext cx="4200000" cy="994200"/>
          </a:xfrm>
          <a:prstGeom prst="wedgeRoundRectCallout">
            <a:avLst>
              <a:gd name="adj1" fmla="val -62396"/>
              <a:gd name="adj2" fmla="val 82439"/>
              <a:gd name="adj3" fmla="val 0"/>
            </a:avLst>
          </a:prstGeom>
          <a:solidFill>
            <a:srgbClr val="CFE2F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Take turns describing each statement using terms: variables, identifier, naming conventions, declare, initialize, assign, memory and literals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" name="Google Shape;129;p15"/>
          <p:cNvGrpSpPr/>
          <p:nvPr/>
        </p:nvGrpSpPr>
        <p:grpSpPr>
          <a:xfrm>
            <a:off x="470463" y="3399325"/>
            <a:ext cx="2582700" cy="1581250"/>
            <a:chOff x="535113" y="2830250"/>
            <a:chExt cx="2582700" cy="1581250"/>
          </a:xfrm>
        </p:grpSpPr>
        <p:pic>
          <p:nvPicPr>
            <p:cNvPr id="130" name="Google Shape;130;p15" descr="A picture containing 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b="17498"/>
            <a:stretch/>
          </p:blipFill>
          <p:spPr>
            <a:xfrm>
              <a:off x="566050" y="2830250"/>
              <a:ext cx="2520825" cy="1284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5"/>
            <p:cNvSpPr/>
            <p:nvPr/>
          </p:nvSpPr>
          <p:spPr>
            <a:xfrm>
              <a:off x="535113" y="4114800"/>
              <a:ext cx="2582700" cy="296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int                         double</a:t>
              </a:r>
              <a:endParaRPr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3771900" y="3306575"/>
            <a:ext cx="2582700" cy="1674000"/>
            <a:chOff x="211675" y="1512625"/>
            <a:chExt cx="2582700" cy="1674000"/>
          </a:xfrm>
        </p:grpSpPr>
        <p:pic>
          <p:nvPicPr>
            <p:cNvPr id="133" name="Google Shape;133;p15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b="15274"/>
            <a:stretch/>
          </p:blipFill>
          <p:spPr>
            <a:xfrm>
              <a:off x="220075" y="1512625"/>
              <a:ext cx="2565925" cy="137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5"/>
            <p:cNvSpPr/>
            <p:nvPr/>
          </p:nvSpPr>
          <p:spPr>
            <a:xfrm>
              <a:off x="211675" y="2889925"/>
              <a:ext cx="2582700" cy="296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Double                         int</a:t>
              </a:r>
              <a:endParaRPr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172650" y="139724"/>
            <a:ext cx="7886700" cy="6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None/>
            </a:pPr>
            <a:r>
              <a:rPr lang="en" sz="3500"/>
              <a:t>Primitive  Data Types</a:t>
            </a:r>
            <a:endParaRPr sz="2700"/>
          </a:p>
        </p:txBody>
      </p:sp>
      <p:sp>
        <p:nvSpPr>
          <p:cNvPr id="141" name="Google Shape;141;p16"/>
          <p:cNvSpPr txBox="1">
            <a:spLocks noGrp="1"/>
          </p:cNvSpPr>
          <p:nvPr>
            <p:ph type="body" idx="1"/>
          </p:nvPr>
        </p:nvSpPr>
        <p:spPr>
          <a:xfrm>
            <a:off x="5379600" y="1268050"/>
            <a:ext cx="3695700" cy="13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 b="1">
                <a:solidFill>
                  <a:schemeClr val="dk1"/>
                </a:solidFill>
              </a:rPr>
              <a:t>Bits and bytes 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1 byte is made up of 8 bits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This shows one byte whose value is 20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3">
            <a:alphaModFix/>
          </a:blip>
          <a:srcRect l="4725" t="10473"/>
          <a:stretch/>
        </p:blipFill>
        <p:spPr>
          <a:xfrm>
            <a:off x="110150" y="1006150"/>
            <a:ext cx="5269450" cy="394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5475" y="2397025"/>
            <a:ext cx="3483950" cy="14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320150" y="186675"/>
            <a:ext cx="24762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lang="en"/>
              <a:t>Rules</a:t>
            </a:r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body" idx="1"/>
          </p:nvPr>
        </p:nvSpPr>
        <p:spPr>
          <a:xfrm>
            <a:off x="173700" y="807200"/>
            <a:ext cx="87966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0" lvl="0" indent="-120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/>
              <a:t>When declaring variables - be sure it’s potential values can fit into the type you assign (i.e. cup)</a:t>
            </a:r>
            <a:endParaRPr sz="1600"/>
          </a:p>
          <a:p>
            <a:pPr marL="127000" lvl="0" indent="-1206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/>
              <a:t>Pick the best type for your variable, although, if there are no concerns about memory</a:t>
            </a:r>
            <a:endParaRPr sz="1600"/>
          </a:p>
          <a:p>
            <a:pPr marL="381000" lvl="1" indent="-1397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int – generally used as default type for integral values</a:t>
            </a:r>
            <a:endParaRPr/>
          </a:p>
          <a:p>
            <a:pPr marL="381000" lvl="1" indent="-1397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double – generally used as default type for decimal values </a:t>
            </a:r>
            <a:endParaRPr/>
          </a:p>
          <a:p>
            <a:pPr marL="127000" lvl="0" indent="-1206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/>
              <a:t>You can put the contents of a smaller variable (cup) into a larger variable (cup)</a:t>
            </a:r>
            <a:endParaRPr sz="1600"/>
          </a:p>
          <a:p>
            <a:pPr marL="127000" lvl="0" indent="-25400" algn="l" rtl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  <p:sp>
        <p:nvSpPr>
          <p:cNvPr id="150" name="Google Shape;150;p17"/>
          <p:cNvSpPr txBox="1"/>
          <p:nvPr/>
        </p:nvSpPr>
        <p:spPr>
          <a:xfrm>
            <a:off x="3703775" y="2675400"/>
            <a:ext cx="4695000" cy="173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intValue1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123456;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intValue2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-9876543;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12345.23;	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intValue2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35113" y="2830250"/>
            <a:ext cx="2582700" cy="1581250"/>
            <a:chOff x="535113" y="2830250"/>
            <a:chExt cx="2582700" cy="1581250"/>
          </a:xfrm>
        </p:grpSpPr>
        <p:pic>
          <p:nvPicPr>
            <p:cNvPr id="152" name="Google Shape;152;p17" descr="A picture containing ic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b="17498"/>
            <a:stretch/>
          </p:blipFill>
          <p:spPr>
            <a:xfrm>
              <a:off x="566050" y="2830250"/>
              <a:ext cx="2520825" cy="1284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7"/>
            <p:cNvSpPr/>
            <p:nvPr/>
          </p:nvSpPr>
          <p:spPr>
            <a:xfrm>
              <a:off x="535113" y="4114800"/>
              <a:ext cx="2582700" cy="296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int                         double</a:t>
              </a:r>
              <a:endParaRPr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" name="Google Shape;154;p17"/>
          <p:cNvSpPr/>
          <p:nvPr/>
        </p:nvSpPr>
        <p:spPr>
          <a:xfrm>
            <a:off x="6442575" y="3905975"/>
            <a:ext cx="2187000" cy="5409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works!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413875" y="206023"/>
            <a:ext cx="78867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Open Sans"/>
              <a:buNone/>
            </a:pPr>
            <a:r>
              <a:rPr lang="en"/>
              <a:t>Error</a:t>
            </a:r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1"/>
          </p:nvPr>
        </p:nvSpPr>
        <p:spPr>
          <a:xfrm>
            <a:off x="271800" y="706125"/>
            <a:ext cx="86004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chemeClr val="dk1"/>
                </a:solidFill>
              </a:rPr>
              <a:t>You </a:t>
            </a:r>
            <a:r>
              <a:rPr lang="en" sz="1600" b="1" u="sng">
                <a:solidFill>
                  <a:schemeClr val="dk1"/>
                </a:solidFill>
              </a:rPr>
              <a:t>cannot</a:t>
            </a:r>
            <a:r>
              <a:rPr lang="en" sz="1600">
                <a:solidFill>
                  <a:schemeClr val="dk1"/>
                </a:solidFill>
              </a:rPr>
              <a:t> put the contents from a larger variable (cup) into a smaller variable (cup)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Well you can but you must do something special to do so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You will also lose information when you do this</a:t>
            </a:r>
            <a:endParaRPr sz="1600">
              <a:solidFill>
                <a:schemeClr val="dk1"/>
              </a:solidFill>
            </a:endParaRPr>
          </a:p>
          <a:p>
            <a:pPr marL="101600" lvl="0" indent="0" algn="l" rtl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chemeClr val="dk1"/>
              </a:solidFill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8048" y="1643625"/>
            <a:ext cx="5302525" cy="156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8"/>
          <p:cNvGrpSpPr/>
          <p:nvPr/>
        </p:nvGrpSpPr>
        <p:grpSpPr>
          <a:xfrm>
            <a:off x="211675" y="1512625"/>
            <a:ext cx="2582700" cy="1674000"/>
            <a:chOff x="211675" y="1512625"/>
            <a:chExt cx="2582700" cy="1674000"/>
          </a:xfrm>
        </p:grpSpPr>
        <p:pic>
          <p:nvPicPr>
            <p:cNvPr id="163" name="Google Shape;163;p18" descr="A picture containing text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 b="15274"/>
            <a:stretch/>
          </p:blipFill>
          <p:spPr>
            <a:xfrm>
              <a:off x="220075" y="1512625"/>
              <a:ext cx="2565925" cy="137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8"/>
            <p:cNvSpPr/>
            <p:nvPr/>
          </p:nvSpPr>
          <p:spPr>
            <a:xfrm>
              <a:off x="211675" y="2889925"/>
              <a:ext cx="2582700" cy="296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double                         int</a:t>
              </a:r>
              <a:endParaRPr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" name="Google Shape;165;p18"/>
          <p:cNvSpPr txBox="1"/>
          <p:nvPr/>
        </p:nvSpPr>
        <p:spPr>
          <a:xfrm>
            <a:off x="326750" y="3407400"/>
            <a:ext cx="4695000" cy="141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intValue1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123456;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intValue2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-9876543;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12345.23;	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intValue1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8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doubleValue</a:t>
            </a:r>
            <a:r>
              <a:rPr lang="en" sz="18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18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 rot="-215">
            <a:off x="3341900" y="4252159"/>
            <a:ext cx="4793100" cy="7308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2666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Causes compiler error: cannot convert from int to double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Type Casting - Implicit (Widening) </a:t>
            </a: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311700" y="710475"/>
            <a:ext cx="8520600" cy="25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Casting is an operation that converts one data type to another. Casting widens or narrows the type.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To convert a variable of one type into another type: (type)value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"/>
              <a:t>Widening: Casting a value with a smaller range to one with a bigger range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o"/>
            </a:pPr>
            <a:r>
              <a:rPr lang="en" sz="1700"/>
              <a:t>Java does this automatically because safe to do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o"/>
            </a:pPr>
            <a:r>
              <a:rPr lang="en" sz="1700"/>
              <a:t>Example  double radius = 3;  			</a:t>
            </a:r>
            <a:endParaRPr sz="1700"/>
          </a:p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	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4329925" y="2571750"/>
            <a:ext cx="4744200" cy="5727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5921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implicit casting radius is stored as double 3.0 even though literal integer 3 is used.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12075" y="3873025"/>
            <a:ext cx="51984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smallNumber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42;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bigNumber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smallNumber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 </a:t>
            </a:r>
            <a:r>
              <a:rPr lang="en" sz="13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lang="en" sz="1300" b="0" i="0" u="sng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3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→ double (implicit cast)</a:t>
            </a:r>
            <a:endParaRPr sz="1300" b="0" i="0" u="none" strike="noStrike" cap="non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3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lang="en" sz="13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"Original int: "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smallNumber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3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lang="en" sz="13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"After implicit casting to double: "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bigNumber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145825" y="4021975"/>
            <a:ext cx="2928300" cy="845100"/>
          </a:xfrm>
          <a:prstGeom prst="rect">
            <a:avLst/>
          </a:prstGeom>
          <a:solidFill>
            <a:srgbClr val="FEFEF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Original int: 42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After implicit casting to double: 42.0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167675" y="4147775"/>
            <a:ext cx="1044000" cy="42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displays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11700" y="3270175"/>
            <a:ext cx="4022400" cy="7518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Implicit casting of integer variable 42 into double when assigned to a double variable.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311700" y="13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Type Casting - Explicit (Narrowing)</a:t>
            </a: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311700" y="585150"/>
            <a:ext cx="8691600" cy="19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You cannot put the contents from a larger variable (cup) into a smaller variable (cup) unless you do something special - casting 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 sz="1600"/>
              <a:t>Narrowing: Casting a value with a bigger range to one with a smaller range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To convert a variable of one type into another type explicitly: (type)value	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You must do explicitly (manually) because it can result in losing data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o"/>
            </a:pPr>
            <a:r>
              <a:rPr lang="en" sz="1600"/>
              <a:t>Example  int number = (int)3.1;  	 	</a:t>
            </a:r>
            <a:endParaRPr sz="1600"/>
          </a:p>
        </p:txBody>
      </p:sp>
      <p:sp>
        <p:nvSpPr>
          <p:cNvPr id="184" name="Google Shape;184;p20"/>
          <p:cNvSpPr/>
          <p:nvPr/>
        </p:nvSpPr>
        <p:spPr>
          <a:xfrm>
            <a:off x="4418150" y="2041925"/>
            <a:ext cx="3705900" cy="3540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5921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explicit casting is necessary 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0" descr="error: type mismatch can't conver from double to int" title="Screenshot 2025-08-07 at 1.47.0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725" y="2395925"/>
            <a:ext cx="5438500" cy="11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0125" y="4033450"/>
            <a:ext cx="5374200" cy="105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preciseValue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42.75;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wholeNumber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" sz="13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preciseValue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 </a:t>
            </a:r>
            <a:r>
              <a:rPr lang="en" sz="13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 double → </a:t>
            </a:r>
            <a:r>
              <a:rPr lang="en" sz="1300" b="0" i="0" u="sng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300" b="0" i="0" u="none" strike="noStrike" cap="none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(explicit cast)</a:t>
            </a:r>
            <a:endParaRPr sz="1300" b="0" i="0" u="none" strike="noStrike" cap="none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3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lang="en" sz="13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"Original double: "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preciseValue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300" b="1" i="1" u="none" strike="noStrike" cap="none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.println(</a:t>
            </a:r>
            <a:r>
              <a:rPr lang="en" sz="1300" b="0" i="0" u="none" strike="noStrike" cap="none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"After explicit casting to int: "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3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wholeNumber</a:t>
            </a: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343525" y="4452200"/>
            <a:ext cx="1044000" cy="42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displays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27275" y="3616600"/>
            <a:ext cx="4899900" cy="7518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Explicit (manual) casting of double variable 42.75 using (int) preciseValue causes loss of data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387525" y="4290650"/>
            <a:ext cx="2527800" cy="75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Original double: 42.75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After explicit casting to int: 42</a:t>
            </a:r>
            <a:endParaRPr sz="13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Explicit Casting Example</a:t>
            </a:r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0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/>
              <a:t>There are some problems where you will want to narrow from a larger variable (cup) into a smaller variable (cup).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/>
              <a:t>For example if you want to generate a random integer </a:t>
            </a:r>
            <a:endParaRPr/>
          </a:p>
          <a:p>
            <a:pPr marL="457200" lvl="0" indent="-3365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you can use the method random() to generate random double in the range [0.0, 1.0), meaning it includes 0.0 but not 1.0</a:t>
            </a:r>
            <a:endParaRPr/>
          </a:p>
          <a:p>
            <a:pPr marL="457200" lvl="0" indent="-3365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Multiplying by RANDOM_MULTIPLIER (which is 100) gives a value in the range [0.0, 100.0)</a:t>
            </a:r>
            <a:endParaRPr/>
          </a:p>
          <a:p>
            <a:pPr marL="457200" lvl="0" indent="-3365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•"/>
            </a:pPr>
            <a:r>
              <a:rPr lang="en"/>
              <a:t>Casting that to an int truncates the decimal part, resulting in an integer between 0 and 100.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51275" y="3850875"/>
            <a:ext cx="5867100" cy="997500"/>
          </a:xfrm>
          <a:prstGeom prst="rect">
            <a:avLst/>
          </a:prstGeom>
          <a:solidFill>
            <a:srgbClr val="FEFEF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final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RANDOM_MULTIPLIER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100;</a:t>
            </a:r>
            <a:endParaRPr sz="16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randomResult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 Math.</a:t>
            </a:r>
            <a:r>
              <a:rPr lang="en" sz="1600" b="0" i="1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();</a:t>
            </a:r>
            <a:endParaRPr sz="160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 b="0" i="0" u="sng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" sz="1600" b="1" i="0" u="none" strike="noStrike" cap="none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(</a:t>
            </a:r>
            <a:r>
              <a:rPr lang="en" sz="16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randomResult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" sz="1600" b="0" i="0" u="none" strike="noStrike" cap="none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RANDOM_MULTIPLIER</a:t>
            </a:r>
            <a:r>
              <a:rPr lang="en" sz="16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6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080050" y="3996450"/>
            <a:ext cx="4391400" cy="572700"/>
          </a:xfrm>
          <a:prstGeom prst="leftArrow">
            <a:avLst>
              <a:gd name="adj1" fmla="val 50000"/>
              <a:gd name="adj2" fmla="val 51349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randomResult assigned 0.8736631218959736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903525" y="4429575"/>
            <a:ext cx="2173800" cy="572700"/>
          </a:xfrm>
          <a:prstGeom prst="leftArrow">
            <a:avLst>
              <a:gd name="adj1" fmla="val 50000"/>
              <a:gd name="adj2" fmla="val 51349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assigned 87 </a:t>
            </a:r>
            <a:endParaRPr sz="14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9285"/>
              <a:buNone/>
            </a:pPr>
            <a:r>
              <a:rPr lang="en"/>
              <a:t>Numeric Type Conversion Examples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224550" y="978700"/>
            <a:ext cx="57735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System.out.println("3 / 2     = " + (3 / 2));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System.out.println("3 / 2.0   = " + (3 / 2.0));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System.out.println("3.0 / 2   = " + (3.0 / 2));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System.out.println("3.0 / 2.0 = " + (3.0 / 2.0));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048850" y="2176500"/>
            <a:ext cx="4624800" cy="126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3 / 2     =  1    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3 / 2.0   =  1.5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3.0 / 2   =  1.5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63500" lvl="0" indent="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3.0 / 2.0 =  1.5</a:t>
            </a:r>
            <a:endParaRPr sz="1400" b="1" i="0" u="none" strike="noStrike" cap="none">
              <a:solidFill>
                <a:schemeClr val="dk1"/>
              </a:solidFill>
              <a:highlight>
                <a:srgbClr val="FEFEF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74300" y="2352150"/>
            <a:ext cx="2507400" cy="910800"/>
          </a:xfrm>
          <a:prstGeom prst="wedgeRoundRectCallout">
            <a:avLst>
              <a:gd name="adj1" fmla="val 83007"/>
              <a:gd name="adj2" fmla="val -16114"/>
              <a:gd name="adj3" fmla="val 0"/>
            </a:avLst>
          </a:prstGeom>
          <a:solidFill>
            <a:srgbClr val="D9D2E9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 you think is  happening? 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275425" y="852300"/>
            <a:ext cx="2507400" cy="1324200"/>
          </a:xfrm>
          <a:prstGeom prst="wedgeRoundRectCallout">
            <a:avLst>
              <a:gd name="adj1" fmla="val 65422"/>
              <a:gd name="adj2" fmla="val -25225"/>
              <a:gd name="adj3" fmla="val 0"/>
            </a:avLst>
          </a:prstGeom>
          <a:solidFill>
            <a:srgbClr val="D9D2E9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difference between using the 3 literal and the 2.0 literal? What is the data type of each?</a:t>
            </a: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07"/>
              <a:buNone/>
            </a:pPr>
            <a:r>
              <a:rPr lang="en"/>
              <a:t>Numeric Type Conversions</a:t>
            </a:r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127200" y="875125"/>
            <a:ext cx="88896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When performing operation involving two different types, Java automatically converts the smaller type is converted to a larger type before operation occurs but what is stored in memory doesn’t change.</a:t>
            </a:r>
            <a:endParaRPr/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For example if one of the operands is double, the others are converted into double.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592425" y="2419150"/>
            <a:ext cx="4851300" cy="120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hours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5;</a:t>
            </a:r>
            <a:endParaRPr sz="21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hourlyRate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18.75;</a:t>
            </a:r>
            <a:endParaRPr sz="21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21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totalPay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21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hourlyRate</a:t>
            </a:r>
            <a:r>
              <a:rPr lang="en" sz="21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" sz="21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hours</a:t>
            </a:r>
            <a:r>
              <a:rPr lang="en" sz="21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 </a:t>
            </a:r>
            <a:endParaRPr sz="2100" b="0" i="0" u="none" strike="noStrike" cap="none" dirty="0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 dirty="0">
              <a:solidFill>
                <a:srgbClr val="7F0055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2021300" y="3622750"/>
            <a:ext cx="5454300" cy="12036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Since hourlyRate is a double hours converted to double for calculation but remains integer in memory.</a:t>
            </a:r>
            <a:endParaRPr sz="15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596125" y="2419150"/>
            <a:ext cx="5213700" cy="4335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Memory allocated to store integer</a:t>
            </a:r>
            <a:endParaRPr sz="15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Lab Exploration</a:t>
            </a:r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body" idx="1"/>
          </p:nvPr>
        </p:nvSpPr>
        <p:spPr>
          <a:xfrm>
            <a:off x="248750" y="1069150"/>
            <a:ext cx="8520600" cy="37659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Explore  Interactive Animations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 </a:t>
            </a:r>
            <a:endParaRPr dirty="0"/>
          </a:p>
          <a:p>
            <a:pPr marL="457200" lvl="0" indent="-3365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Compute Change </a:t>
            </a:r>
            <a:endParaRPr dirty="0"/>
          </a:p>
          <a:p>
            <a:pPr marL="457200" lvl="0" indent="-3365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FahrenheitToCelsius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Discuss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Take turns finding different examples from the animations to explain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1. Explain implicit and explicit casting.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2. Explain numeric type conversion and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3. Explain integer division and modulus division.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You can use these examples to update your technical documentation.</a:t>
            </a:r>
            <a:endParaRPr dirty="0"/>
          </a:p>
        </p:txBody>
      </p:sp>
      <p:pic>
        <p:nvPicPr>
          <p:cNvPr id="223" name="Google Shape;22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5166" y="150525"/>
            <a:ext cx="782051" cy="7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222900" y="143525"/>
            <a:ext cx="69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Lab Pair Programming: Calculate Average</a:t>
            </a:r>
            <a:endParaRPr sz="2420"/>
          </a:p>
        </p:txBody>
      </p:sp>
      <p:sp>
        <p:nvSpPr>
          <p:cNvPr id="229" name="Google Shape;229;p25"/>
          <p:cNvSpPr txBox="1">
            <a:spLocks noGrp="1"/>
          </p:cNvSpPr>
          <p:nvPr>
            <p:ph type="body" idx="1"/>
          </p:nvPr>
        </p:nvSpPr>
        <p:spPr>
          <a:xfrm>
            <a:off x="302675" y="716225"/>
            <a:ext cx="401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61900" y="922400"/>
            <a:ext cx="4360500" cy="337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AverageScores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{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main(String[] </a:t>
            </a:r>
            <a:r>
              <a:rPr lang="en" sz="1400" b="0" i="0" u="none" strike="noStrike" cap="none" dirty="0" err="1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args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{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score1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80;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score2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97;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score3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85;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score1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score2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score3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1" i="0" u="none" strike="noStrike" cap="none" dirty="0">
                <a:solidFill>
                  <a:srgbClr val="7F005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double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3;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0" i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400" b="1" i="1" u="none" strike="noStrike" cap="none" dirty="0" err="1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400" b="0" i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 b="0" i="0" u="none" strike="noStrike" cap="none" dirty="0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"Total: "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82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400" b="0" i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System.</a:t>
            </a:r>
            <a:r>
              <a:rPr lang="en" sz="1400" b="1" i="1" u="none" strike="noStrike" cap="none" dirty="0" err="1">
                <a:solidFill>
                  <a:srgbClr val="000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" sz="1400" b="0" i="0" u="none" strike="noStrike" cap="none" dirty="0" err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.println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 b="0" i="0" u="none" strike="noStrike" cap="none" dirty="0">
                <a:solidFill>
                  <a:srgbClr val="2A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"Average "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" sz="1400" b="0" i="0" u="none" strike="noStrike" cap="none" dirty="0">
                <a:solidFill>
                  <a:srgbClr val="6A3E3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}</a:t>
            </a:r>
            <a:r>
              <a:rPr lang="en" sz="1400" b="0" i="0" u="none" strike="noStrike" cap="none" dirty="0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//end of main</a:t>
            </a:r>
            <a:endParaRPr sz="1400" b="0" i="0" u="none" strike="noStrike" cap="none" dirty="0">
              <a:solidFill>
                <a:srgbClr val="3F7F5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5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}</a:t>
            </a:r>
            <a:r>
              <a:rPr lang="en" sz="1400" b="0" i="0" u="none" strike="noStrike" cap="none" dirty="0">
                <a:solidFill>
                  <a:srgbClr val="3F7F5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//end of class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4422400" y="733625"/>
            <a:ext cx="4650000" cy="3869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Discuss the parts of the code using the terms you have learned. 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sng" strike="noStrike" cap="non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Calculate</a:t>
            </a: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what the average should be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Predict what the computer will print out.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Put the code into </a:t>
            </a:r>
            <a:r>
              <a:rPr lang="en" sz="1400" b="0" i="0" u="sng" strike="noStrike" cap="none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Visualize Code</a:t>
            </a: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and select java from the drop down.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Review lecture and discuss how you might fix this. Try out your ideas where one person drives and one person navigates.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rabi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Use an AI tool to help you understand what is wrong and possible solutions if you still can’t fix it.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AutoNum type="alphaLcPeriod"/>
            </a:pPr>
            <a:r>
              <a:rPr lang="en" sz="1400" b="0" i="0" u="none" strike="noStrike" cap="non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Remember AI could use something you don’t understand or that is not the way we are doing it so always use lecture.</a:t>
            </a:r>
            <a:endParaRPr sz="1400" b="0" i="0" u="none" strike="noStrike" cap="none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>
            <a:spLocks noGrp="1"/>
          </p:cNvSpPr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Next</a:t>
            </a:r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Remember commit and push</a:t>
            </a:r>
            <a:endParaRPr/>
          </a:p>
          <a:p>
            <a:pPr marL="3429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Other Resource: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1. Getting Started and Primitive Types — CS Java</a:t>
            </a:r>
            <a:r>
              <a:rPr lang="en"/>
              <a:t> sections 1.6 </a:t>
            </a:r>
            <a:endParaRPr/>
          </a:p>
          <a:p>
            <a:pPr marL="3429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No class Monday </a:t>
            </a:r>
            <a:endParaRPr/>
          </a:p>
          <a:p>
            <a:pPr marL="3429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See the preparation in today’s lecture</a:t>
            </a:r>
            <a:endParaRPr/>
          </a:p>
          <a:p>
            <a:pPr marL="74295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–"/>
            </a:pPr>
            <a:r>
              <a:rPr lang="en" sz="1700"/>
              <a:t>What should you be working on? </a:t>
            </a:r>
            <a:endParaRPr sz="1700"/>
          </a:p>
          <a:p>
            <a:pPr marL="74295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–"/>
            </a:pPr>
            <a:r>
              <a:rPr lang="en" sz="1700"/>
              <a:t>Do you have your environment set up? Are you practicing?</a:t>
            </a:r>
            <a:endParaRPr sz="1700"/>
          </a:p>
          <a:p>
            <a:pPr marL="74295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–"/>
            </a:pPr>
            <a:r>
              <a:rPr lang="en" sz="1700"/>
              <a:t>What can you attend to become better at using git, github and Eclipse?</a:t>
            </a:r>
            <a:endParaRPr sz="1700"/>
          </a:p>
          <a:p>
            <a:pPr marL="74295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–"/>
            </a:pPr>
            <a:r>
              <a:rPr lang="en" sz="1700"/>
              <a:t>When is it due?</a:t>
            </a:r>
            <a:endParaRPr sz="1700"/>
          </a:p>
          <a:p>
            <a:pPr marL="742950" lvl="1" indent="-215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–"/>
            </a:pPr>
            <a:r>
              <a:rPr lang="en" sz="1700"/>
              <a:t>Module 1 Quiz Sep 10th/ 11th - I will go over the quiz and preparing for it next week.</a:t>
            </a:r>
            <a:endParaRPr sz="1700"/>
          </a:p>
          <a:p>
            <a:pPr marL="342900" lvl="0" indent="-247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Microsoft Macintosh PowerPoint</Application>
  <PresentationFormat>On-screen Show (16:9)</PresentationFormat>
  <Paragraphs>267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Open Sans</vt:lpstr>
      <vt:lpstr>Courier New</vt:lpstr>
      <vt:lpstr>Calibri</vt:lpstr>
      <vt:lpstr>Arial</vt:lpstr>
      <vt:lpstr>Lexend</vt:lpstr>
      <vt:lpstr>Verdana</vt:lpstr>
      <vt:lpstr>Lato</vt:lpstr>
      <vt:lpstr>Deb Final Theme</vt:lpstr>
      <vt:lpstr>L04 Primitive Data Type Conversion and Casting</vt:lpstr>
      <vt:lpstr>Today</vt:lpstr>
      <vt:lpstr>Memory Concepts</vt:lpstr>
      <vt:lpstr>Memory Concepts</vt:lpstr>
      <vt:lpstr>Cup Analogy </vt:lpstr>
      <vt:lpstr>Data Type Ranges and Literals</vt:lpstr>
      <vt:lpstr>Code Discussion </vt:lpstr>
      <vt:lpstr>Primitive  Data Types</vt:lpstr>
      <vt:lpstr>Rules</vt:lpstr>
      <vt:lpstr>Error</vt:lpstr>
      <vt:lpstr>Type Casting - Implicit (Widening) </vt:lpstr>
      <vt:lpstr>Type Casting - Explicit (Narrowing)</vt:lpstr>
      <vt:lpstr>Explicit Casting Example</vt:lpstr>
      <vt:lpstr>Numeric Type Conversion Examples</vt:lpstr>
      <vt:lpstr>Numeric Type Conversions</vt:lpstr>
      <vt:lpstr>Lab Exploration</vt:lpstr>
      <vt:lpstr>Lab Pair Programming: Calculate Average</vt:lpstr>
      <vt:lpstr>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Isabella Eaton</cp:lastModifiedBy>
  <cp:revision>1</cp:revision>
  <dcterms:modified xsi:type="dcterms:W3CDTF">2026-02-04T01:36:02Z</dcterms:modified>
</cp:coreProperties>
</file>