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y="5143500" cx="9144000"/>
  <p:notesSz cx="6858000" cy="9144000"/>
  <p:embeddedFontLst>
    <p:embeddedFont>
      <p:font typeface="Lato"/>
      <p:regular r:id="rId25"/>
      <p:bold r:id="rId26"/>
      <p:italic r:id="rId27"/>
      <p:boldItalic r:id="rId28"/>
    </p:embeddedFont>
    <p:embeddedFont>
      <p:font typeface="Lexend"/>
      <p:regular r:id="rId29"/>
      <p:bold r:id="rId30"/>
    </p:embeddedFont>
    <p:embeddedFont>
      <p:font typeface="Open Sans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72258FF-108E-4C2C-BBC2-629FA6B42FFC}">
  <a:tblStyle styleId="{172258FF-108E-4C2C-BBC2-629FA6B42F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Lato-bold.fntdata"/><Relationship Id="rId25" Type="http://schemas.openxmlformats.org/officeDocument/2006/relationships/font" Target="fonts/Lato-regular.fntdata"/><Relationship Id="rId28" Type="http://schemas.openxmlformats.org/officeDocument/2006/relationships/font" Target="fonts/Lato-boldItalic.fntdata"/><Relationship Id="rId27" Type="http://schemas.openxmlformats.org/officeDocument/2006/relationships/font" Target="fonts/Lato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Lexend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OpenSans-regular.fntdata"/><Relationship Id="rId30" Type="http://schemas.openxmlformats.org/officeDocument/2006/relationships/font" Target="fonts/Lexend-bold.fntdata"/><Relationship Id="rId11" Type="http://schemas.openxmlformats.org/officeDocument/2006/relationships/slide" Target="slides/slide5.xml"/><Relationship Id="rId33" Type="http://schemas.openxmlformats.org/officeDocument/2006/relationships/font" Target="fonts/OpenSans-italic.fntdata"/><Relationship Id="rId10" Type="http://schemas.openxmlformats.org/officeDocument/2006/relationships/slide" Target="slides/slide4.xml"/><Relationship Id="rId32" Type="http://schemas.openxmlformats.org/officeDocument/2006/relationships/font" Target="fonts/OpenSans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schemas.openxmlformats.org/officeDocument/2006/relationships/font" Target="fonts/OpenSans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7" name="Google Shape;10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7" name="Google Shape;157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" name="Google Shape;18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2" name="Google Shape;19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9" name="Google Shape;219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6" name="Google Shape;22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"/>
              <a:buNone/>
              <a:defRPr sz="3100">
                <a:latin typeface="Lexend"/>
                <a:ea typeface="Lexend"/>
                <a:cs typeface="Lexend"/>
                <a:sym typeface="Lexen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371600" y="2914650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34343"/>
              </a:buClr>
              <a:buSzPts val="3200"/>
              <a:buNone/>
              <a:defRPr>
                <a:solidFill>
                  <a:srgbClr val="434343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311700" y="2549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Lexend"/>
              <a:buNone/>
              <a:defRPr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311700" y="863550"/>
            <a:ext cx="8520600" cy="38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655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22375" y="205987"/>
            <a:ext cx="8229600" cy="4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exend"/>
              <a:buNone/>
              <a:defRPr sz="2800">
                <a:latin typeface="Lexend"/>
                <a:ea typeface="Lexend"/>
                <a:cs typeface="Lexend"/>
                <a:sym typeface="Lexen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22375" y="689275"/>
            <a:ext cx="8554500" cy="38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921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Lexend"/>
              <a:buChar char="•"/>
              <a:defRPr>
                <a:latin typeface="Lexend"/>
                <a:ea typeface="Lexend"/>
                <a:cs typeface="Lexend"/>
                <a:sym typeface="Lexend"/>
              </a:defRPr>
            </a:lvl1pPr>
            <a:lvl2pPr indent="-31115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Lexend"/>
              <a:buChar char="–"/>
              <a:defRPr>
                <a:latin typeface="Lexend"/>
                <a:ea typeface="Lexend"/>
                <a:cs typeface="Lexend"/>
                <a:sym typeface="Lexend"/>
              </a:defRPr>
            </a:lvl2pPr>
            <a:lvl3pPr indent="-3175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"/>
              <a:buChar char="•"/>
              <a:defRPr>
                <a:latin typeface="Lexend"/>
                <a:ea typeface="Lexend"/>
                <a:cs typeface="Lexend"/>
                <a:sym typeface="Lexend"/>
              </a:defRPr>
            </a:lvl3pPr>
            <a:lvl4pPr indent="-3175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"/>
              <a:buChar char="–"/>
              <a:defRPr>
                <a:latin typeface="Lexend"/>
                <a:ea typeface="Lexend"/>
                <a:cs typeface="Lexend"/>
                <a:sym typeface="Lexend"/>
              </a:defRPr>
            </a:lvl4pPr>
            <a:lvl5pPr indent="-3175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"/>
              <a:buChar char="»"/>
              <a:defRPr>
                <a:latin typeface="Lexend"/>
                <a:ea typeface="Lexend"/>
                <a:cs typeface="Lexend"/>
                <a:sym typeface="Lexend"/>
              </a:defRPr>
            </a:lvl5pPr>
            <a:lvl6pPr indent="-3175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"/>
              <a:buChar char="•"/>
              <a:defRPr>
                <a:latin typeface="Lexend"/>
                <a:ea typeface="Lexend"/>
                <a:cs typeface="Lexend"/>
                <a:sym typeface="Lexend"/>
              </a:defRPr>
            </a:lvl6pPr>
            <a:lvl7pPr indent="-3175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"/>
              <a:buChar char="•"/>
              <a:defRPr>
                <a:latin typeface="Lexend"/>
                <a:ea typeface="Lexend"/>
                <a:cs typeface="Lexend"/>
                <a:sym typeface="Lexend"/>
              </a:defRPr>
            </a:lvl7pPr>
            <a:lvl8pPr indent="-3175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"/>
              <a:buChar char="•"/>
              <a:defRPr>
                <a:latin typeface="Lexend"/>
                <a:ea typeface="Lexend"/>
                <a:cs typeface="Lexend"/>
                <a:sym typeface="Lexend"/>
              </a:defRPr>
            </a:lvl8pPr>
            <a:lvl9pPr indent="-3175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"/>
              <a:buChar char="•"/>
              <a:defRPr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b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457200" y="205987"/>
            <a:ext cx="8229600" cy="5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457200" y="1200150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302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648200" y="1200150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302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>
            <p:ph type="title"/>
          </p:nvPr>
        </p:nvSpPr>
        <p:spPr>
          <a:xfrm>
            <a:off x="457200" y="205987"/>
            <a:ext cx="8229600" cy="5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7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7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5" name="Google Shape;45;p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" name="Google Shape;4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05987"/>
            <a:ext cx="8229600" cy="50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Lexend"/>
              <a:buNone/>
              <a:defRPr b="0" i="0" sz="28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710664"/>
            <a:ext cx="8229600" cy="378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Lexend"/>
              <a:buChar char="•"/>
              <a:defRPr b="0" i="0" sz="18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indent="-3302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Lexend"/>
              <a:buChar char="–"/>
              <a:defRPr b="0" i="0" sz="16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Char char="•"/>
              <a:defRPr b="0" i="0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Char char="–"/>
              <a:defRPr b="0" i="0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Char char="»"/>
              <a:defRPr b="0" i="0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Char char="•"/>
              <a:defRPr b="0" i="0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Char char="•"/>
              <a:defRPr b="0" i="0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Char char="•"/>
              <a:defRPr b="0" i="0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Char char="•"/>
              <a:defRPr b="0" i="0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teams.microsoft.com/l/channel/19%3ApRvy9tzuOww2RtQDiRX6dWVr25d3oXmxcDaOjchsfdU1%40thread.tacv2/Meeting%20links?groupId=16f4039e-c6e4-42e7-9bd9-71227385d91e&amp;tenantId=03309ca4-1733-4af9-a73c-f18cc841325c" TargetMode="External"/><Relationship Id="rId4" Type="http://schemas.openxmlformats.org/officeDocument/2006/relationships/hyperlink" Target="https://getemoji.com/" TargetMode="External"/><Relationship Id="rId9" Type="http://schemas.openxmlformats.org/officeDocument/2006/relationships/hyperlink" Target="https://emojipedia.org/sunflower" TargetMode="External"/><Relationship Id="rId5" Type="http://schemas.openxmlformats.org/officeDocument/2006/relationships/hyperlink" Target="https://emojipedia.org/sunflower" TargetMode="External"/><Relationship Id="rId6" Type="http://schemas.openxmlformats.org/officeDocument/2006/relationships/hyperlink" Target="https://emojipedia.org/sunflower" TargetMode="External"/><Relationship Id="rId7" Type="http://schemas.openxmlformats.org/officeDocument/2006/relationships/hyperlink" Target="https://emojipedia.org/sunflower" TargetMode="External"/><Relationship Id="rId8" Type="http://schemas.openxmlformats.org/officeDocument/2006/relationships/hyperlink" Target="https://emojipedia.org/sunflower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comparitech.com/blog/information-security/integer-overflow-attack/" TargetMode="External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liveexample-ppe.pearsoncmg.com/codeanimation/ComputeChange.html" TargetMode="External"/><Relationship Id="rId4" Type="http://schemas.openxmlformats.org/officeDocument/2006/relationships/hyperlink" Target="https://liveexample.pearsoncmg.com/liang/intro12e/html/ComputeChange.html" TargetMode="External"/><Relationship Id="rId5" Type="http://schemas.openxmlformats.org/officeDocument/2006/relationships/hyperlink" Target="https://liveexample.pearsoncmg.com/liang/intro12e/html/FahrenheitToCelsius.html" TargetMode="External"/><Relationship Id="rId6" Type="http://schemas.openxmlformats.org/officeDocument/2006/relationships/image" Target="../media/image1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www.online-calculator.com/" TargetMode="External"/><Relationship Id="rId4" Type="http://schemas.openxmlformats.org/officeDocument/2006/relationships/hyperlink" Target="https://pythontutor.com/render.html#mode=edit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runestone.academy/ns/books/published/csjava/Unit1-Getting-Started/toctree.html?mode=brows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707725" y="141950"/>
            <a:ext cx="7031700" cy="1389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780"/>
              <a:t>L04 Primitive Data Type Conversion and Casting</a:t>
            </a:r>
            <a:endParaRPr sz="3780"/>
          </a:p>
        </p:txBody>
      </p:sp>
      <p:pic>
        <p:nvPicPr>
          <p:cNvPr id="53" name="Google Shape;5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9925" y="1530950"/>
            <a:ext cx="5709102" cy="35124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120400" y="710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Today</a:t>
            </a:r>
            <a:endParaRPr/>
          </a:p>
        </p:txBody>
      </p:sp>
      <p:sp>
        <p:nvSpPr>
          <p:cNvPr id="59" name="Google Shape;59;p10"/>
          <p:cNvSpPr txBox="1"/>
          <p:nvPr>
            <p:ph idx="1" type="body"/>
          </p:nvPr>
        </p:nvSpPr>
        <p:spPr>
          <a:xfrm>
            <a:off x="157500" y="588475"/>
            <a:ext cx="8829000" cy="43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 sz="1300"/>
              <a:t>Check in</a:t>
            </a:r>
            <a:endParaRPr sz="1300"/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</a:pPr>
            <a:r>
              <a:rPr lang="en" sz="1300"/>
              <a:t>Questions on setting up Git/GitHub and Eclipse?</a:t>
            </a:r>
            <a:endParaRPr sz="1300"/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</a:pPr>
            <a:r>
              <a:rPr lang="en" sz="1300"/>
              <a:t>Who has Eclipse set up? </a:t>
            </a:r>
            <a:endParaRPr sz="13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300" u="sng">
                <a:solidFill>
                  <a:schemeClr val="hlink"/>
                </a:solidFill>
                <a:hlinkClick r:id="rId3"/>
              </a:rPr>
              <a:t>Meeting links | CS Office Hours | Microsoft Teams</a:t>
            </a:r>
            <a:endParaRPr sz="1500"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None/>
            </a:pPr>
            <a:r>
              <a:rPr lang="en" sz="1300">
                <a:highlight>
                  <a:srgbClr val="D9D2E9"/>
                </a:highlight>
              </a:rPr>
              <a:t>Set up</a:t>
            </a:r>
            <a:endParaRPr sz="1300">
              <a:highlight>
                <a:srgbClr val="D9D2E9"/>
              </a:highlight>
            </a:endParaRPr>
          </a:p>
          <a:p>
            <a:pPr indent="-31115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300"/>
              <a:buChar char="•"/>
            </a:pPr>
            <a:r>
              <a:rPr lang="en" sz="1300">
                <a:highlight>
                  <a:srgbClr val="D9D2E9"/>
                </a:highlight>
              </a:rPr>
              <a:t>Open Eclipse or Sit with someone that has Eclipse set up if you do not. </a:t>
            </a:r>
            <a:endParaRPr sz="1300">
              <a:highlight>
                <a:srgbClr val="D9D2E9"/>
              </a:highlight>
            </a:endParaRPr>
          </a:p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</a:pPr>
            <a:r>
              <a:rPr lang="en" sz="1300">
                <a:highlight>
                  <a:srgbClr val="D9D2E9"/>
                </a:highlight>
              </a:rPr>
              <a:t>Go to your local repo and open documentation</a:t>
            </a:r>
            <a:endParaRPr sz="1300">
              <a:highlight>
                <a:srgbClr val="D9D2E9"/>
              </a:highlight>
            </a:endParaRPr>
          </a:p>
          <a:p>
            <a:pPr indent="-3111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–"/>
            </a:pPr>
            <a:r>
              <a:rPr lang="en" sz="1300">
                <a:highlight>
                  <a:srgbClr val="D9D2E9"/>
                </a:highlight>
              </a:rPr>
              <a:t>Technical Documentation</a:t>
            </a:r>
            <a:endParaRPr sz="1300">
              <a:highlight>
                <a:srgbClr val="D9D2E9"/>
              </a:highlight>
            </a:endParaRPr>
          </a:p>
          <a:p>
            <a:pPr indent="-31115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–"/>
            </a:pPr>
            <a:r>
              <a:rPr lang="en" sz="1300">
                <a:highlight>
                  <a:srgbClr val="D9D2E9"/>
                </a:highlight>
              </a:rPr>
              <a:t>Eclipse Cheatsheet</a:t>
            </a:r>
            <a:endParaRPr sz="1300">
              <a:highlight>
                <a:srgbClr val="D9D2E9"/>
              </a:highlight>
            </a:endParaRPr>
          </a:p>
          <a:p>
            <a:pPr indent="-3111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</a:pPr>
            <a:r>
              <a:rPr lang="en" sz="1300">
                <a:highlight>
                  <a:srgbClr val="D9D2E9"/>
                </a:highlight>
              </a:rPr>
              <a:t>Go to canvas and open today’s participation to submit your tech doc</a:t>
            </a:r>
            <a:endParaRPr sz="1300">
              <a:highlight>
                <a:srgbClr val="D9D2E9"/>
              </a:highlight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highlight>
                <a:srgbClr val="D9D2E9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 sz="1300"/>
              <a:t>Goals: </a:t>
            </a:r>
            <a:endParaRPr sz="1300"/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●"/>
            </a:pPr>
            <a:r>
              <a:rPr lang="en" sz="1300">
                <a:solidFill>
                  <a:schemeClr val="dk1"/>
                </a:solidFill>
              </a:rPr>
              <a:t>Explain how </a:t>
            </a:r>
            <a:r>
              <a:rPr b="1" lang="en" sz="1300">
                <a:solidFill>
                  <a:schemeClr val="dk1"/>
                </a:solidFill>
              </a:rPr>
              <a:t>data type selection affects memory allocation</a:t>
            </a:r>
            <a:r>
              <a:rPr lang="en" sz="1300">
                <a:solidFill>
                  <a:schemeClr val="dk1"/>
                </a:solidFill>
              </a:rPr>
              <a:t>  and potential overflow errors during program execution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Lexend"/>
              <a:buChar char="●"/>
            </a:pPr>
            <a:r>
              <a:rPr lang="en" sz="1300">
                <a:solidFill>
                  <a:schemeClr val="dk1"/>
                </a:solidFill>
              </a:rPr>
              <a:t>Describe implicit and explicit conversion rules in assignment statements 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Lexend"/>
              <a:buChar char="●"/>
            </a:pPr>
            <a:r>
              <a:rPr lang="en" sz="1300">
                <a:solidFill>
                  <a:schemeClr val="dk1"/>
                </a:solidFill>
              </a:rPr>
              <a:t>Describe cast operator and apply in code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Lexend"/>
              <a:buChar char="●"/>
            </a:pPr>
            <a:r>
              <a:rPr lang="en" sz="1300">
                <a:solidFill>
                  <a:schemeClr val="dk1"/>
                </a:solidFill>
              </a:rPr>
              <a:t>Explain mixed number (doubles and integers) operations </a:t>
            </a:r>
            <a:endParaRPr sz="1300"/>
          </a:p>
        </p:txBody>
      </p:sp>
      <p:sp>
        <p:nvSpPr>
          <p:cNvPr id="60" name="Google Shape;60;p10"/>
          <p:cNvSpPr/>
          <p:nvPr/>
        </p:nvSpPr>
        <p:spPr>
          <a:xfrm>
            <a:off x="4882275" y="124225"/>
            <a:ext cx="4141500" cy="572700"/>
          </a:xfrm>
          <a:prstGeom prst="rect">
            <a:avLst/>
          </a:prstGeom>
          <a:solidFill>
            <a:srgbClr val="D9D2E9"/>
          </a:solidFill>
          <a:ln cap="flat" cmpd="sng" w="9525">
            <a:solidFill>
              <a:srgbClr val="1F49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Pick </a:t>
            </a:r>
            <a:r>
              <a:rPr lang="en">
                <a:latin typeface="Lexend"/>
                <a:ea typeface="Lexend"/>
                <a:cs typeface="Lexend"/>
                <a:sym typeface="Lexend"/>
              </a:rPr>
              <a:t>an </a:t>
            </a: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 </a:t>
            </a:r>
            <a:r>
              <a:rPr b="0" i="0" lang="en" sz="1400" u="sng" cap="none" strike="noStrike">
                <a:solidFill>
                  <a:srgbClr val="0000FF"/>
                </a:solidFill>
                <a:latin typeface="Lexend"/>
                <a:ea typeface="Lexend"/>
                <a:cs typeface="Lexend"/>
                <a:sym typeface="Lexend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Emojis</a:t>
            </a: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  that represent</a:t>
            </a:r>
            <a:r>
              <a:rPr lang="en">
                <a:latin typeface="Lexend"/>
                <a:ea typeface="Lexend"/>
                <a:cs typeface="Lexend"/>
                <a:sym typeface="Lexend"/>
              </a:rPr>
              <a:t>s: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How you feel </a:t>
            </a:r>
            <a:r>
              <a:rPr lang="en">
                <a:latin typeface="Lexend"/>
                <a:ea typeface="Lexend"/>
                <a:cs typeface="Lexend"/>
                <a:sym typeface="Lexend"/>
              </a:rPr>
              <a:t>using Eclipse?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61" name="Google Shape;61;p10"/>
          <p:cNvSpPr txBox="1"/>
          <p:nvPr/>
        </p:nvSpPr>
        <p:spPr>
          <a:xfrm>
            <a:off x="4882275" y="696925"/>
            <a:ext cx="4141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Deb </a:t>
            </a:r>
            <a:r>
              <a:rPr lang="en"/>
              <a:t>is </a:t>
            </a:r>
            <a:r>
              <a:rPr b="0" i="0" lang="en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🤩 Ready to </a:t>
            </a:r>
            <a:r>
              <a:rPr lang="en"/>
              <a:t>help you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0"/>
          <p:cNvSpPr txBox="1"/>
          <p:nvPr/>
        </p:nvSpPr>
        <p:spPr>
          <a:xfrm>
            <a:off x="7290875" y="812775"/>
            <a:ext cx="1644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200" u="sng" cap="none" strike="noStrike">
                <a:solidFill>
                  <a:srgbClr val="99C8FF"/>
                </a:solidFill>
                <a:highlight>
                  <a:srgbClr val="7A92B1"/>
                </a:highlight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L🌻ve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200" u="none" cap="none" strike="noStrike">
                <a:solidFill>
                  <a:srgbClr val="F3F4F6"/>
                </a:solidFill>
                <a:highlight>
                  <a:srgbClr val="464D56"/>
                </a:highlight>
                <a:latin typeface="Arial"/>
                <a:ea typeface="Arial"/>
                <a:cs typeface="Arial"/>
                <a:sym typeface="Arial"/>
              </a:rPr>
              <a:t>L💗ve</a:t>
            </a:r>
            <a:endParaRPr b="0" i="0" sz="2200" u="sng" cap="none" strike="noStrike">
              <a:solidFill>
                <a:srgbClr val="99C8FF"/>
              </a:solidFill>
              <a:highlight>
                <a:srgbClr val="7A92B1"/>
              </a:highlight>
              <a:latin typeface="Arial"/>
              <a:ea typeface="Arial"/>
              <a:cs typeface="Arial"/>
              <a:sym typeface="Arial"/>
              <a:hlinkClick r:id="rId6">
                <a:extLst>
                  <a:ext uri="{A12FA001-AC4F-418D-AE19-62706E023703}">
                    <ahyp:hlinkClr val="tx"/>
                  </a:ext>
                </a:extLst>
              </a:hlinkClick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200" u="sng" cap="none" strike="noStrike">
                <a:solidFill>
                  <a:srgbClr val="99C8FF"/>
                </a:solidFill>
                <a:highlight>
                  <a:srgbClr val="7A92B1"/>
                </a:highlight>
                <a:latin typeface="Arial"/>
                <a:ea typeface="Arial"/>
                <a:cs typeface="Arial"/>
                <a:sym typeface="Arial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La</a:t>
            </a:r>
            <a:r>
              <a:rPr b="0" i="0" lang="en" sz="2200" u="none" cap="none" strike="noStrike">
                <a:solidFill>
                  <a:srgbClr val="F3F4F6"/>
                </a:solidFill>
                <a:highlight>
                  <a:srgbClr val="464D56"/>
                </a:highlight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🤣gh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200" u="none" cap="none" strike="noStrike">
                <a:solidFill>
                  <a:srgbClr val="F3F4F6"/>
                </a:solidFill>
                <a:highlight>
                  <a:srgbClr val="464D56"/>
                </a:highlight>
                <a:latin typeface="Arial"/>
                <a:ea typeface="Arial"/>
                <a:cs typeface="Arial"/>
                <a:sym typeface="Arial"/>
              </a:rPr>
              <a:t>Le💡rn</a:t>
            </a:r>
            <a:endParaRPr b="0" i="0" sz="2200" u="none" cap="none" strike="noStrike">
              <a:solidFill>
                <a:srgbClr val="F3F4F6"/>
              </a:solidFill>
              <a:highlight>
                <a:srgbClr val="464D56"/>
              </a:highlight>
              <a:uFill>
                <a:noFill/>
              </a:uFill>
              <a:latin typeface="Arial"/>
              <a:ea typeface="Arial"/>
              <a:cs typeface="Arial"/>
              <a:sym typeface="Arial"/>
              <a:hlinkClick r:id="rId9">
                <a:extLst>
                  <a:ext uri="{A12FA001-AC4F-418D-AE19-62706E023703}">
                    <ahyp:hlinkClr val="tx"/>
                  </a:ext>
                </a:extLst>
              </a:hlinkClick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oogle Shape;67;p11"/>
          <p:cNvGrpSpPr/>
          <p:nvPr/>
        </p:nvGrpSpPr>
        <p:grpSpPr>
          <a:xfrm>
            <a:off x="7050107" y="2031555"/>
            <a:ext cx="1949450" cy="2076638"/>
            <a:chOff x="6905043" y="201009"/>
            <a:chExt cx="2002723" cy="1912718"/>
          </a:xfrm>
        </p:grpSpPr>
        <p:pic>
          <p:nvPicPr>
            <p:cNvPr id="68" name="Google Shape;68;p11"/>
            <p:cNvPicPr preferRelativeResize="0"/>
            <p:nvPr/>
          </p:nvPicPr>
          <p:blipFill rotWithShape="1">
            <a:blip r:embed="rId3">
              <a:alphaModFix/>
            </a:blip>
            <a:srcRect b="0" l="0" r="59661" t="0"/>
            <a:stretch/>
          </p:blipFill>
          <p:spPr>
            <a:xfrm rot="5400000">
              <a:off x="6950045" y="156007"/>
              <a:ext cx="1912718" cy="20027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9" name="Google Shape;69;p11"/>
            <p:cNvSpPr txBox="1"/>
            <p:nvPr/>
          </p:nvSpPr>
          <p:spPr>
            <a:xfrm>
              <a:off x="7502405" y="407461"/>
              <a:ext cx="1234800" cy="3186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rPr b="0" i="0" lang="en" sz="1350" u="none" cap="none" strike="noStrike">
                  <a:solidFill>
                    <a:srgbClr val="FFFFFF"/>
                  </a:solidFill>
                  <a:highlight>
                    <a:srgbClr val="000000"/>
                  </a:highlight>
                  <a:latin typeface="Verdana"/>
                  <a:ea typeface="Verdana"/>
                  <a:cs typeface="Verdana"/>
                  <a:sym typeface="Verdana"/>
                </a:rPr>
                <a:t>009AFD2A</a:t>
              </a:r>
              <a:endParaRPr b="0" i="0" sz="1350" u="none" cap="none" strike="noStrike">
                <a:solidFill>
                  <a:srgbClr val="FFFFFF"/>
                </a:solidFill>
                <a:highlight>
                  <a:srgbClr val="000000"/>
                </a:highlight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70" name="Google Shape;70;p11"/>
          <p:cNvSpPr txBox="1"/>
          <p:nvPr>
            <p:ph type="title"/>
          </p:nvPr>
        </p:nvSpPr>
        <p:spPr>
          <a:xfrm>
            <a:off x="311700" y="137775"/>
            <a:ext cx="3768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07"/>
              <a:buNone/>
            </a:pPr>
            <a:r>
              <a:rPr lang="en"/>
              <a:t>Memory Concepts</a:t>
            </a:r>
            <a:endParaRPr/>
          </a:p>
        </p:txBody>
      </p:sp>
      <p:pic>
        <p:nvPicPr>
          <p:cNvPr descr="A picture containing room, sign&#10;&#10;Description automatically generated" id="71" name="Google Shape;71;p11"/>
          <p:cNvPicPr preferRelativeResize="0"/>
          <p:nvPr/>
        </p:nvPicPr>
        <p:blipFill rotWithShape="1">
          <a:blip r:embed="rId4">
            <a:alphaModFix/>
          </a:blip>
          <a:srcRect b="16865" l="6323" r="6817" t="4838"/>
          <a:stretch/>
        </p:blipFill>
        <p:spPr>
          <a:xfrm>
            <a:off x="5524650" y="212250"/>
            <a:ext cx="3288749" cy="160315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1"/>
          <p:cNvSpPr/>
          <p:nvPr/>
        </p:nvSpPr>
        <p:spPr>
          <a:xfrm>
            <a:off x="538300" y="775700"/>
            <a:ext cx="3862200" cy="572700"/>
          </a:xfrm>
          <a:prstGeom prst="wedgeRoundRectCallout">
            <a:avLst>
              <a:gd fmla="val 67077" name="adj1"/>
              <a:gd fmla="val 28180" name="adj2"/>
              <a:gd fmla="val 0" name="adj3"/>
            </a:avLst>
          </a:prstGeom>
          <a:solidFill>
            <a:srgbClr val="CFE2F3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What happens  when you declare  a variable?</a:t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73" name="Google Shape;73;p11"/>
          <p:cNvGrpSpPr/>
          <p:nvPr/>
        </p:nvGrpSpPr>
        <p:grpSpPr>
          <a:xfrm>
            <a:off x="7050102" y="2986507"/>
            <a:ext cx="1949450" cy="2076638"/>
            <a:chOff x="6905043" y="201009"/>
            <a:chExt cx="2002723" cy="1912718"/>
          </a:xfrm>
        </p:grpSpPr>
        <p:pic>
          <p:nvPicPr>
            <p:cNvPr id="74" name="Google Shape;74;p11"/>
            <p:cNvPicPr preferRelativeResize="0"/>
            <p:nvPr/>
          </p:nvPicPr>
          <p:blipFill rotWithShape="1">
            <a:blip r:embed="rId3">
              <a:alphaModFix/>
            </a:blip>
            <a:srcRect b="0" l="0" r="59661" t="0"/>
            <a:stretch/>
          </p:blipFill>
          <p:spPr>
            <a:xfrm rot="5400000">
              <a:off x="6950045" y="156007"/>
              <a:ext cx="1912718" cy="20027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5" name="Google Shape;75;p11"/>
            <p:cNvSpPr txBox="1"/>
            <p:nvPr/>
          </p:nvSpPr>
          <p:spPr>
            <a:xfrm>
              <a:off x="7502405" y="407461"/>
              <a:ext cx="1234800" cy="3186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rPr b="0" i="0" lang="en" sz="1350" u="none" cap="none" strike="noStrike">
                  <a:solidFill>
                    <a:srgbClr val="FFFFFF"/>
                  </a:solidFill>
                  <a:highlight>
                    <a:srgbClr val="000000"/>
                  </a:highlight>
                  <a:latin typeface="Verdana"/>
                  <a:ea typeface="Verdana"/>
                  <a:cs typeface="Verdana"/>
                  <a:sym typeface="Verdana"/>
                </a:rPr>
                <a:t>009AFD30</a:t>
              </a:r>
              <a:endParaRPr b="0" i="0" sz="1350" u="none" cap="none" strike="noStrike">
                <a:solidFill>
                  <a:srgbClr val="FFFFFF"/>
                </a:solidFill>
                <a:highlight>
                  <a:srgbClr val="000000"/>
                </a:highlight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76" name="Google Shape;76;p11"/>
          <p:cNvSpPr txBox="1"/>
          <p:nvPr/>
        </p:nvSpPr>
        <p:spPr>
          <a:xfrm>
            <a:off x="7613100" y="4324350"/>
            <a:ext cx="1200300" cy="40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" sz="1350" u="none" cap="none" strike="noStrike">
                <a:solidFill>
                  <a:srgbClr val="FFFFFF"/>
                </a:solidFill>
                <a:highlight>
                  <a:srgbClr val="000000"/>
                </a:highlight>
                <a:latin typeface="Verdana"/>
                <a:ea typeface="Verdana"/>
                <a:cs typeface="Verdana"/>
                <a:sym typeface="Verdana"/>
              </a:rPr>
              <a:t>009AFD3C</a:t>
            </a:r>
            <a:endParaRPr b="0" i="0" sz="1350" u="none" cap="none" strike="noStrike">
              <a:solidFill>
                <a:srgbClr val="FFFFFF"/>
              </a:solidFill>
              <a:highlight>
                <a:srgbClr val="000000"/>
              </a:highlight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highlight>
                <a:srgbClr val="000000"/>
              </a:highlight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77" name="Google Shape;77;p11"/>
          <p:cNvSpPr/>
          <p:nvPr/>
        </p:nvSpPr>
        <p:spPr>
          <a:xfrm>
            <a:off x="538300" y="2375938"/>
            <a:ext cx="3621000" cy="756300"/>
          </a:xfrm>
          <a:prstGeom prst="wedgeRoundRectCallout">
            <a:avLst>
              <a:gd fmla="val 67296" name="adj1"/>
              <a:gd fmla="val 5839" name="adj2"/>
              <a:gd fmla="val 0" name="adj3"/>
            </a:avLst>
          </a:prstGeom>
          <a:solidFill>
            <a:srgbClr val="CFE2F3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How is the amount of memory to be allocated determined?</a:t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78" name="Google Shape;78;p11"/>
          <p:cNvSpPr txBox="1"/>
          <p:nvPr/>
        </p:nvSpPr>
        <p:spPr>
          <a:xfrm>
            <a:off x="4902350" y="2248300"/>
            <a:ext cx="2556900" cy="400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final double PI = 3.14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5456450" y="3198550"/>
            <a:ext cx="1949400" cy="400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 radius = 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/>
          <p:nvPr/>
        </p:nvSpPr>
        <p:spPr>
          <a:xfrm>
            <a:off x="4079700" y="4265275"/>
            <a:ext cx="3360900" cy="400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double area = radius * radius * PI; 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1"/>
          <p:cNvSpPr/>
          <p:nvPr/>
        </p:nvSpPr>
        <p:spPr>
          <a:xfrm>
            <a:off x="538300" y="4184550"/>
            <a:ext cx="2616900" cy="680100"/>
          </a:xfrm>
          <a:prstGeom prst="wedgeRoundRectCallout">
            <a:avLst>
              <a:gd fmla="val 76808" name="adj1"/>
              <a:gd fmla="val 8061" name="adj2"/>
              <a:gd fmla="val 0" name="adj3"/>
            </a:avLst>
          </a:prstGeom>
          <a:solidFill>
            <a:srgbClr val="CFE2F3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How is the memory accessed?</a:t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2" name="Google Shape;82;p11"/>
          <p:cNvSpPr/>
          <p:nvPr/>
        </p:nvSpPr>
        <p:spPr>
          <a:xfrm>
            <a:off x="704350" y="1544275"/>
            <a:ext cx="3288900" cy="572700"/>
          </a:xfrm>
          <a:prstGeom prst="wedgeRoundRectCallout">
            <a:avLst>
              <a:gd fmla="val 58758" name="adj1"/>
              <a:gd fmla="val -16949" name="adj2"/>
              <a:gd fmla="val 0" name="adj3"/>
            </a:avLst>
          </a:prstGeom>
          <a:solidFill>
            <a:srgbClr val="CFE2F3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How do you read these statements with = ?</a:t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3" name="Google Shape;83;p11"/>
          <p:cNvSpPr/>
          <p:nvPr/>
        </p:nvSpPr>
        <p:spPr>
          <a:xfrm>
            <a:off x="538300" y="3280238"/>
            <a:ext cx="3621000" cy="756300"/>
          </a:xfrm>
          <a:prstGeom prst="wedgeRoundRectCallout">
            <a:avLst>
              <a:gd fmla="val 67296" name="adj1"/>
              <a:gd fmla="val 5839" name="adj2"/>
              <a:gd fmla="val 0" name="adj3"/>
            </a:avLst>
          </a:prstGeom>
          <a:solidFill>
            <a:srgbClr val="CFE2F3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How is memory allocated for a constant different than a variable?</a:t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2"/>
          <p:cNvGrpSpPr/>
          <p:nvPr/>
        </p:nvGrpSpPr>
        <p:grpSpPr>
          <a:xfrm>
            <a:off x="7050107" y="1955355"/>
            <a:ext cx="1949450" cy="2076638"/>
            <a:chOff x="6905043" y="201009"/>
            <a:chExt cx="2002723" cy="1912718"/>
          </a:xfrm>
        </p:grpSpPr>
        <p:pic>
          <p:nvPicPr>
            <p:cNvPr id="89" name="Google Shape;89;p12"/>
            <p:cNvPicPr preferRelativeResize="0"/>
            <p:nvPr/>
          </p:nvPicPr>
          <p:blipFill rotWithShape="1">
            <a:blip r:embed="rId3">
              <a:alphaModFix/>
            </a:blip>
            <a:srcRect b="0" l="0" r="59661" t="0"/>
            <a:stretch/>
          </p:blipFill>
          <p:spPr>
            <a:xfrm rot="5400000">
              <a:off x="6950045" y="156007"/>
              <a:ext cx="1912718" cy="20027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0" name="Google Shape;90;p12"/>
            <p:cNvSpPr txBox="1"/>
            <p:nvPr/>
          </p:nvSpPr>
          <p:spPr>
            <a:xfrm>
              <a:off x="7502405" y="407461"/>
              <a:ext cx="1234800" cy="3186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rPr b="0" i="0" lang="en" sz="1350" u="none" cap="none" strike="noStrike">
                  <a:solidFill>
                    <a:srgbClr val="FFFFFF"/>
                  </a:solidFill>
                  <a:highlight>
                    <a:srgbClr val="000000"/>
                  </a:highlight>
                  <a:latin typeface="Verdana"/>
                  <a:ea typeface="Verdana"/>
                  <a:cs typeface="Verdana"/>
                  <a:sym typeface="Verdana"/>
                </a:rPr>
                <a:t>009AFD2A</a:t>
              </a:r>
              <a:endParaRPr b="0" i="0" sz="1350" u="none" cap="none" strike="noStrike">
                <a:solidFill>
                  <a:srgbClr val="FFFFFF"/>
                </a:solidFill>
                <a:highlight>
                  <a:srgbClr val="000000"/>
                </a:highlight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91" name="Google Shape;91;p12"/>
          <p:cNvSpPr txBox="1"/>
          <p:nvPr>
            <p:ph type="title"/>
          </p:nvPr>
        </p:nvSpPr>
        <p:spPr>
          <a:xfrm>
            <a:off x="311700" y="0"/>
            <a:ext cx="3768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07"/>
              <a:buNone/>
            </a:pPr>
            <a:r>
              <a:rPr lang="en"/>
              <a:t>Memory Concepts</a:t>
            </a:r>
            <a:endParaRPr/>
          </a:p>
        </p:txBody>
      </p:sp>
      <p:pic>
        <p:nvPicPr>
          <p:cNvPr descr="A picture containing room, sign&#10;&#10;Description automatically generated" id="92" name="Google Shape;92;p12"/>
          <p:cNvPicPr preferRelativeResize="0"/>
          <p:nvPr/>
        </p:nvPicPr>
        <p:blipFill rotWithShape="1">
          <a:blip r:embed="rId4">
            <a:alphaModFix/>
          </a:blip>
          <a:srcRect b="16865" l="6323" r="6817" t="4838"/>
          <a:stretch/>
        </p:blipFill>
        <p:spPr>
          <a:xfrm>
            <a:off x="5417475" y="104877"/>
            <a:ext cx="3582074" cy="174612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3" name="Google Shape;93;p12"/>
          <p:cNvGrpSpPr/>
          <p:nvPr/>
        </p:nvGrpSpPr>
        <p:grpSpPr>
          <a:xfrm>
            <a:off x="7050107" y="2910305"/>
            <a:ext cx="1949450" cy="2076638"/>
            <a:chOff x="6905043" y="201009"/>
            <a:chExt cx="2002723" cy="1912718"/>
          </a:xfrm>
        </p:grpSpPr>
        <p:pic>
          <p:nvPicPr>
            <p:cNvPr id="94" name="Google Shape;94;p12"/>
            <p:cNvPicPr preferRelativeResize="0"/>
            <p:nvPr/>
          </p:nvPicPr>
          <p:blipFill rotWithShape="1">
            <a:blip r:embed="rId3">
              <a:alphaModFix/>
            </a:blip>
            <a:srcRect b="0" l="0" r="59661" t="0"/>
            <a:stretch/>
          </p:blipFill>
          <p:spPr>
            <a:xfrm rot="5400000">
              <a:off x="6950045" y="156007"/>
              <a:ext cx="1912718" cy="20027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5" name="Google Shape;95;p12"/>
            <p:cNvSpPr txBox="1"/>
            <p:nvPr/>
          </p:nvSpPr>
          <p:spPr>
            <a:xfrm>
              <a:off x="7502405" y="407461"/>
              <a:ext cx="1234800" cy="3186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rPr b="0" i="0" lang="en" sz="1350" u="none" cap="none" strike="noStrike">
                  <a:solidFill>
                    <a:srgbClr val="FFFFFF"/>
                  </a:solidFill>
                  <a:highlight>
                    <a:srgbClr val="000000"/>
                  </a:highlight>
                  <a:latin typeface="Verdana"/>
                  <a:ea typeface="Verdana"/>
                  <a:cs typeface="Verdana"/>
                  <a:sym typeface="Verdana"/>
                </a:rPr>
                <a:t>009AFD30</a:t>
              </a:r>
              <a:endParaRPr b="0" i="0" sz="1350" u="none" cap="none" strike="noStrike">
                <a:solidFill>
                  <a:srgbClr val="FFFFFF"/>
                </a:solidFill>
                <a:highlight>
                  <a:srgbClr val="000000"/>
                </a:highlight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96" name="Google Shape;96;p12"/>
          <p:cNvSpPr txBox="1"/>
          <p:nvPr/>
        </p:nvSpPr>
        <p:spPr>
          <a:xfrm>
            <a:off x="7613100" y="4248150"/>
            <a:ext cx="1200300" cy="40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" sz="1350" u="none" cap="none" strike="noStrike">
                <a:solidFill>
                  <a:srgbClr val="FFFFFF"/>
                </a:solidFill>
                <a:highlight>
                  <a:srgbClr val="000000"/>
                </a:highlight>
                <a:latin typeface="Verdana"/>
                <a:ea typeface="Verdana"/>
                <a:cs typeface="Verdana"/>
                <a:sym typeface="Verdana"/>
              </a:rPr>
              <a:t>009AFD3C</a:t>
            </a:r>
            <a:endParaRPr b="0" i="0" sz="1350" u="none" cap="none" strike="noStrike">
              <a:solidFill>
                <a:srgbClr val="FFFFFF"/>
              </a:solidFill>
              <a:highlight>
                <a:srgbClr val="000000"/>
              </a:highlight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FFFFFF"/>
              </a:solidFill>
              <a:highlight>
                <a:srgbClr val="000000"/>
              </a:highlight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97" name="Google Shape;97;p12"/>
          <p:cNvSpPr txBox="1"/>
          <p:nvPr/>
        </p:nvSpPr>
        <p:spPr>
          <a:xfrm>
            <a:off x="4995950" y="2259800"/>
            <a:ext cx="2219400" cy="400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final double PI = 3.14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2"/>
          <p:cNvSpPr txBox="1"/>
          <p:nvPr/>
        </p:nvSpPr>
        <p:spPr>
          <a:xfrm>
            <a:off x="4995950" y="3133288"/>
            <a:ext cx="2056500" cy="400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 radius = 4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2"/>
          <p:cNvSpPr txBox="1"/>
          <p:nvPr/>
        </p:nvSpPr>
        <p:spPr>
          <a:xfrm>
            <a:off x="4079700" y="4006800"/>
            <a:ext cx="3360900" cy="400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double area = radius * radius * PI; 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2"/>
          <p:cNvSpPr/>
          <p:nvPr/>
        </p:nvSpPr>
        <p:spPr>
          <a:xfrm>
            <a:off x="311700" y="2259802"/>
            <a:ext cx="4511100" cy="572700"/>
          </a:xfrm>
          <a:prstGeom prst="rightArrowCallout">
            <a:avLst>
              <a:gd fmla="val 25000" name="adj1"/>
              <a:gd fmla="val 25000" name="adj2"/>
              <a:gd fmla="val 25000" name="adj3"/>
              <a:gd fmla="val 86782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Declaring a constant (final)  allocated enough memory for the data type in read only memory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2"/>
          <p:cNvSpPr/>
          <p:nvPr/>
        </p:nvSpPr>
        <p:spPr>
          <a:xfrm>
            <a:off x="311700" y="3133300"/>
            <a:ext cx="4511100" cy="572700"/>
          </a:xfrm>
          <a:prstGeom prst="rightArrowCallout">
            <a:avLst>
              <a:gd fmla="val 25000" name="adj1"/>
              <a:gd fmla="val 25000" name="adj2"/>
              <a:gd fmla="val 25000" name="adj3"/>
              <a:gd fmla="val 86782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Declaring variables allocated enough memory for the data type in</a:t>
            </a: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read/write  memory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252300" y="594388"/>
            <a:ext cx="4319700" cy="767100"/>
          </a:xfrm>
          <a:prstGeom prst="rightArrowCallout">
            <a:avLst>
              <a:gd fmla="val 25000" name="adj1"/>
              <a:gd fmla="val 25000" name="adj2"/>
              <a:gd fmla="val 25000" name="adj3"/>
              <a:gd fmla="val 86782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Memory is allocated to a location with a unique address to store that variable’s value.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2"/>
          <p:cNvSpPr/>
          <p:nvPr/>
        </p:nvSpPr>
        <p:spPr>
          <a:xfrm>
            <a:off x="361725" y="1524300"/>
            <a:ext cx="3987000" cy="572700"/>
          </a:xfrm>
          <a:prstGeom prst="rightArrowCallout">
            <a:avLst>
              <a:gd fmla="val 25000" name="adj1"/>
              <a:gd fmla="val 25000" name="adj2"/>
              <a:gd fmla="val 25000" name="adj3"/>
              <a:gd fmla="val 88887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= means assign what is on the right and store in memory identified on the left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2"/>
          <p:cNvSpPr/>
          <p:nvPr/>
        </p:nvSpPr>
        <p:spPr>
          <a:xfrm>
            <a:off x="252300" y="4006800"/>
            <a:ext cx="3768000" cy="641700"/>
          </a:xfrm>
          <a:prstGeom prst="rightArrowCallout">
            <a:avLst>
              <a:gd fmla="val 25000" name="adj1"/>
              <a:gd fmla="val 25000" name="adj2"/>
              <a:gd fmla="val 25000" name="adj3"/>
              <a:gd fmla="val 86782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Access the memory address through the identifier (variable or constant name 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"/>
          <p:cNvSpPr txBox="1"/>
          <p:nvPr>
            <p:ph type="title"/>
          </p:nvPr>
        </p:nvSpPr>
        <p:spPr>
          <a:xfrm>
            <a:off x="322375" y="205987"/>
            <a:ext cx="8229600" cy="48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9285"/>
              <a:buFont typeface="Open Sans"/>
              <a:buNone/>
            </a:pPr>
            <a:r>
              <a:rPr lang="en"/>
              <a:t>Cup Analogy </a:t>
            </a:r>
            <a:endParaRPr/>
          </a:p>
        </p:txBody>
      </p:sp>
      <p:sp>
        <p:nvSpPr>
          <p:cNvPr id="110" name="Google Shape;110;p13"/>
          <p:cNvSpPr txBox="1"/>
          <p:nvPr>
            <p:ph idx="1" type="body"/>
          </p:nvPr>
        </p:nvSpPr>
        <p:spPr>
          <a:xfrm>
            <a:off x="322375" y="689275"/>
            <a:ext cx="8554500" cy="38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14300" lvl="0" marL="1270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600"/>
              <a:t>Each data type has a range of values that are valid for that type</a:t>
            </a:r>
            <a:endParaRPr sz="1600"/>
          </a:p>
          <a:p>
            <a:pPr indent="-114300" lvl="0" marL="1270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600"/>
              <a:t>Declaring a variable a certain type sets aside (allocates) a certain amount of memory for that variable</a:t>
            </a:r>
            <a:endParaRPr sz="1600"/>
          </a:p>
          <a:p>
            <a:pPr indent="-25400" lvl="0" marL="1270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" sz="1600"/>
              <a:t>Think of a Variable as a Cup </a:t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en" sz="1600"/>
              <a:t>Cup is a container            -&gt;           Variable is a container </a:t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en" sz="1600"/>
              <a:t>Cup holds something      -&gt;           Variable holds a value </a:t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en" sz="1600"/>
              <a:t>Cup has a size                -&gt;           Variable has a size </a:t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dk1"/>
              </a:buClr>
              <a:buSzPts val="1600"/>
              <a:buNone/>
            </a:pPr>
            <a:r>
              <a:rPr lang="en" sz="1600"/>
              <a:t>                                                       Variable has a name (identifier) </a:t>
            </a:r>
            <a:endParaRPr sz="1600"/>
          </a:p>
        </p:txBody>
      </p:sp>
      <p:pic>
        <p:nvPicPr>
          <p:cNvPr id="111" name="Google Shape;11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47750" y="1914575"/>
            <a:ext cx="1981200" cy="1190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4"/>
          <p:cNvSpPr txBox="1"/>
          <p:nvPr>
            <p:ph type="title"/>
          </p:nvPr>
        </p:nvSpPr>
        <p:spPr>
          <a:xfrm>
            <a:off x="212400" y="1513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"/>
              <a:t>Data Type Ranges and Literals</a:t>
            </a:r>
            <a:endParaRPr/>
          </a:p>
        </p:txBody>
      </p:sp>
      <p:sp>
        <p:nvSpPr>
          <p:cNvPr id="117" name="Google Shape;117;p14"/>
          <p:cNvSpPr txBox="1"/>
          <p:nvPr>
            <p:ph idx="1" type="body"/>
          </p:nvPr>
        </p:nvSpPr>
        <p:spPr>
          <a:xfrm>
            <a:off x="113100" y="2683050"/>
            <a:ext cx="8719200" cy="215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You assign a variable a certain data type which means it is a certain size</a:t>
            </a:r>
            <a:endParaRPr sz="1400"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Then if you place a value into that variable that is too big it will "overflow"</a:t>
            </a:r>
            <a:endParaRPr sz="1400"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This is like pouring the liquid of a big cup into a small cup - it "overflows"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t/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" sz="1400"/>
              <a:t>Integer literals are assumed to be of type int. An integer literal can be assigned to an integer variable as long as it can fit into the variable. 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t/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" sz="1400"/>
              <a:t>int tooBig = 2147483648;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800"/>
              <a:buNone/>
            </a:pPr>
            <a:r>
              <a:rPr lang="en" sz="1400"/>
              <a:t> 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/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/>
          </a:p>
        </p:txBody>
      </p:sp>
      <p:sp>
        <p:nvSpPr>
          <p:cNvPr id="118" name="Google Shape;118;p14"/>
          <p:cNvSpPr/>
          <p:nvPr/>
        </p:nvSpPr>
        <p:spPr>
          <a:xfrm>
            <a:off x="2552200" y="4230200"/>
            <a:ext cx="6044400" cy="741900"/>
          </a:xfrm>
          <a:prstGeom prst="leftArrowCallout">
            <a:avLst>
              <a:gd fmla="val 25000" name="adj1"/>
              <a:gd fmla="val 25000" name="adj2"/>
              <a:gd fmla="val 25000" name="adj3"/>
              <a:gd fmla="val 86280" name="adj4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Error: Out of range would cause an overflow error.</a:t>
            </a:r>
            <a:endParaRPr b="0" i="0" sz="1400" u="none" cap="none" strike="noStrike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Did you know this is a security issue? </a:t>
            </a:r>
            <a:endParaRPr b="0" i="0" sz="1300" u="none" cap="none" strike="noStrike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sng" cap="none" strike="noStrike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3"/>
              </a:rPr>
              <a:t>What is an Integer Overflow Attack?</a:t>
            </a:r>
            <a:r>
              <a:rPr b="0" i="0" lang="en" sz="1300" u="none" cap="none" strike="noStrik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graphicFrame>
        <p:nvGraphicFramePr>
          <p:cNvPr id="119" name="Google Shape;119;p14"/>
          <p:cNvGraphicFramePr/>
          <p:nvPr/>
        </p:nvGraphicFramePr>
        <p:xfrm>
          <a:off x="212400" y="724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{172258FF-108E-4C2C-BBC2-629FA6B42FFC}</a:tableStyleId>
              </a:tblPr>
              <a:tblGrid>
                <a:gridCol w="1551925"/>
                <a:gridCol w="1343825"/>
                <a:gridCol w="2679675"/>
                <a:gridCol w="3143750"/>
              </a:tblGrid>
              <a:tr h="2476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Data Type</a:t>
                      </a:r>
                      <a:endParaRPr b="1"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Size</a:t>
                      </a:r>
                      <a:endParaRPr b="1"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Minimum Value</a:t>
                      </a:r>
                      <a:endParaRPr b="1"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Maximum Value</a:t>
                      </a:r>
                      <a:endParaRPr b="1"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58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byte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1 byte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–128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127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7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short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2 bytes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–32,768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32,767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7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int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4 bytes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–2,147,483,648 (-2^31)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2,147,483,647 (2^31 – 1)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7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long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8 bytes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–9,223,372,036,854,775,808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9,223,372,036,854,770,000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7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float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4 bytes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~1.4 × 10^–45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~3.4 × 10^38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7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double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8 bytes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~4.9 × 10^–324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" sz="1300" u="none" cap="none" strike="noStrike">
                          <a:latin typeface="Lexend"/>
                          <a:ea typeface="Lexend"/>
                          <a:cs typeface="Lexend"/>
                          <a:sym typeface="Lexend"/>
                        </a:rPr>
                        <a:t>~1.8 × 10^308</a:t>
                      </a:r>
                      <a:endParaRPr sz="1300" u="none" cap="none" strike="noStrike">
                        <a:latin typeface="Lexend"/>
                        <a:ea typeface="Lexend"/>
                        <a:cs typeface="Lexend"/>
                        <a:sym typeface="Lexend"/>
                      </a:endParaRPr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120" name="Google Shape;120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76325" y="2683050"/>
            <a:ext cx="636850" cy="955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5"/>
          <p:cNvSpPr txBox="1"/>
          <p:nvPr/>
        </p:nvSpPr>
        <p:spPr>
          <a:xfrm>
            <a:off x="197850" y="1104750"/>
            <a:ext cx="4695000" cy="1736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intValue1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123456;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intValue2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-9876543;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doubleValue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12345.23;	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intValue1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doubleValue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;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doubleValue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intValue2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;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5"/>
          <p:cNvSpPr txBox="1"/>
          <p:nvPr>
            <p:ph type="title"/>
          </p:nvPr>
        </p:nvSpPr>
        <p:spPr>
          <a:xfrm>
            <a:off x="347750" y="110550"/>
            <a:ext cx="32373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Code Discussion </a:t>
            </a:r>
            <a:endParaRPr/>
          </a:p>
        </p:txBody>
      </p:sp>
      <p:sp>
        <p:nvSpPr>
          <p:cNvPr id="127" name="Google Shape;127;p15"/>
          <p:cNvSpPr/>
          <p:nvPr/>
        </p:nvSpPr>
        <p:spPr>
          <a:xfrm>
            <a:off x="4263375" y="2214798"/>
            <a:ext cx="4462500" cy="700500"/>
          </a:xfrm>
          <a:prstGeom prst="wedgeRoundRectCallout">
            <a:avLst>
              <a:gd fmla="val -68761" name="adj1"/>
              <a:gd fmla="val 1748" name="adj2"/>
              <a:gd fmla="val 0" name="adj3"/>
            </a:avLst>
          </a:prstGeom>
          <a:solidFill>
            <a:srgbClr val="CFE2F3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Do you think there is any problem with these assignment statements?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28" name="Google Shape;128;p15"/>
          <p:cNvSpPr/>
          <p:nvPr/>
        </p:nvSpPr>
        <p:spPr>
          <a:xfrm>
            <a:off x="4674900" y="692525"/>
            <a:ext cx="4200000" cy="994200"/>
          </a:xfrm>
          <a:prstGeom prst="wedgeRoundRectCallout">
            <a:avLst>
              <a:gd fmla="val -62396" name="adj1"/>
              <a:gd fmla="val 82439" name="adj2"/>
              <a:gd fmla="val 0" name="adj3"/>
            </a:avLst>
          </a:prstGeom>
          <a:solidFill>
            <a:srgbClr val="CFE2F3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Take turns describing each statement using terms: variables, identifier, naming conventions, declare, initialize, assign, memory and literals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grpSp>
        <p:nvGrpSpPr>
          <p:cNvPr id="129" name="Google Shape;129;p15"/>
          <p:cNvGrpSpPr/>
          <p:nvPr/>
        </p:nvGrpSpPr>
        <p:grpSpPr>
          <a:xfrm>
            <a:off x="470463" y="3399325"/>
            <a:ext cx="2582700" cy="1581250"/>
            <a:chOff x="535113" y="2830250"/>
            <a:chExt cx="2582700" cy="1581250"/>
          </a:xfrm>
        </p:grpSpPr>
        <p:pic>
          <p:nvPicPr>
            <p:cNvPr descr="A picture containing icon&#10;&#10;Description automatically generated" id="130" name="Google Shape;130;p15"/>
            <p:cNvPicPr preferRelativeResize="0"/>
            <p:nvPr/>
          </p:nvPicPr>
          <p:blipFill rotWithShape="1">
            <a:blip r:embed="rId3">
              <a:alphaModFix/>
            </a:blip>
            <a:srcRect b="17498" l="0" r="0" t="0"/>
            <a:stretch/>
          </p:blipFill>
          <p:spPr>
            <a:xfrm>
              <a:off x="566050" y="2830250"/>
              <a:ext cx="2520825" cy="12845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1" name="Google Shape;131;p15"/>
            <p:cNvSpPr/>
            <p:nvPr/>
          </p:nvSpPr>
          <p:spPr>
            <a:xfrm>
              <a:off x="535113" y="4114800"/>
              <a:ext cx="2582700" cy="296700"/>
            </a:xfrm>
            <a:prstGeom prst="rect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Lexend"/>
                  <a:ea typeface="Lexend"/>
                  <a:cs typeface="Lexend"/>
                  <a:sym typeface="Lexend"/>
                </a:rPr>
                <a:t>   int                         double</a:t>
              </a:r>
              <a:endParaRPr b="0" i="0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endParaRPr>
            </a:p>
          </p:txBody>
        </p:sp>
      </p:grpSp>
      <p:grpSp>
        <p:nvGrpSpPr>
          <p:cNvPr id="132" name="Google Shape;132;p15"/>
          <p:cNvGrpSpPr/>
          <p:nvPr/>
        </p:nvGrpSpPr>
        <p:grpSpPr>
          <a:xfrm>
            <a:off x="3771900" y="3306575"/>
            <a:ext cx="2582700" cy="1674000"/>
            <a:chOff x="211675" y="1512625"/>
            <a:chExt cx="2582700" cy="1674000"/>
          </a:xfrm>
        </p:grpSpPr>
        <p:pic>
          <p:nvPicPr>
            <p:cNvPr descr="A picture containing text&#10;&#10;Description automatically generated" id="133" name="Google Shape;133;p15"/>
            <p:cNvPicPr preferRelativeResize="0"/>
            <p:nvPr/>
          </p:nvPicPr>
          <p:blipFill rotWithShape="1">
            <a:blip r:embed="rId4">
              <a:alphaModFix/>
            </a:blip>
            <a:srcRect b="15274" l="0" r="0" t="0"/>
            <a:stretch/>
          </p:blipFill>
          <p:spPr>
            <a:xfrm>
              <a:off x="220075" y="1512625"/>
              <a:ext cx="2565925" cy="1377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4" name="Google Shape;134;p15"/>
            <p:cNvSpPr/>
            <p:nvPr/>
          </p:nvSpPr>
          <p:spPr>
            <a:xfrm>
              <a:off x="211675" y="2889925"/>
              <a:ext cx="2582700" cy="296700"/>
            </a:xfrm>
            <a:prstGeom prst="rect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Lexend"/>
                  <a:ea typeface="Lexend"/>
                  <a:cs typeface="Lexend"/>
                  <a:sym typeface="Lexend"/>
                </a:rPr>
                <a:t>Double                         int</a:t>
              </a:r>
              <a:endParaRPr b="0" i="0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0" name="Google Shape;140;p16"/>
          <p:cNvSpPr txBox="1"/>
          <p:nvPr>
            <p:ph type="title"/>
          </p:nvPr>
        </p:nvSpPr>
        <p:spPr>
          <a:xfrm>
            <a:off x="172650" y="139724"/>
            <a:ext cx="7886700" cy="691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</a:pPr>
            <a:r>
              <a:rPr lang="en" sz="3500"/>
              <a:t>Primitive  Data Types</a:t>
            </a:r>
            <a:endParaRPr sz="2700"/>
          </a:p>
        </p:txBody>
      </p:sp>
      <p:sp>
        <p:nvSpPr>
          <p:cNvPr id="141" name="Google Shape;141;p16"/>
          <p:cNvSpPr txBox="1"/>
          <p:nvPr>
            <p:ph idx="1" type="body"/>
          </p:nvPr>
        </p:nvSpPr>
        <p:spPr>
          <a:xfrm>
            <a:off x="5379600" y="1268050"/>
            <a:ext cx="3695700" cy="13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" sz="1400">
                <a:solidFill>
                  <a:schemeClr val="dk1"/>
                </a:solidFill>
              </a:rPr>
              <a:t>Bits and bytes </a:t>
            </a:r>
            <a:endParaRPr b="1"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>
                <a:solidFill>
                  <a:schemeClr val="dk1"/>
                </a:solidFill>
              </a:rPr>
              <a:t>1 byte is made up of 8 bits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>
                <a:solidFill>
                  <a:schemeClr val="dk1"/>
                </a:solidFill>
              </a:rPr>
              <a:t>This shows one byte whose value is 20</a:t>
            </a:r>
            <a:endParaRPr sz="1400">
              <a:solidFill>
                <a:schemeClr val="dk1"/>
              </a:solidFill>
            </a:endParaRPr>
          </a:p>
        </p:txBody>
      </p:sp>
      <p:pic>
        <p:nvPicPr>
          <p:cNvPr id="142" name="Google Shape;142;p16"/>
          <p:cNvPicPr preferRelativeResize="0"/>
          <p:nvPr/>
        </p:nvPicPr>
        <p:blipFill rotWithShape="1">
          <a:blip r:embed="rId3">
            <a:alphaModFix/>
          </a:blip>
          <a:srcRect b="0" l="4725" r="0" t="10473"/>
          <a:stretch/>
        </p:blipFill>
        <p:spPr>
          <a:xfrm>
            <a:off x="110150" y="1006150"/>
            <a:ext cx="5269450" cy="3944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5475" y="2397025"/>
            <a:ext cx="3483950" cy="1406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7"/>
          <p:cNvSpPr txBox="1"/>
          <p:nvPr>
            <p:ph type="title"/>
          </p:nvPr>
        </p:nvSpPr>
        <p:spPr>
          <a:xfrm>
            <a:off x="320150" y="186675"/>
            <a:ext cx="2476200" cy="54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pen Sans"/>
              <a:buNone/>
            </a:pPr>
            <a:r>
              <a:rPr lang="en"/>
              <a:t>Rules</a:t>
            </a:r>
            <a:endParaRPr/>
          </a:p>
        </p:txBody>
      </p:sp>
      <p:sp>
        <p:nvSpPr>
          <p:cNvPr id="149" name="Google Shape;149;p17"/>
          <p:cNvSpPr txBox="1"/>
          <p:nvPr>
            <p:ph idx="1" type="body"/>
          </p:nvPr>
        </p:nvSpPr>
        <p:spPr>
          <a:xfrm>
            <a:off x="173700" y="807200"/>
            <a:ext cx="8796600" cy="238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20650" lvl="0" marL="1270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/>
              <a:t>When declaring variables - be sure it’s potential values can fit into the type you assign (i.e. cup)</a:t>
            </a:r>
            <a:endParaRPr sz="1600"/>
          </a:p>
          <a:p>
            <a:pPr indent="-120650" lvl="0" marL="1270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/>
              <a:t>Pick the best type for your variable, although, if there are no concerns about memory</a:t>
            </a:r>
            <a:endParaRPr sz="1600"/>
          </a:p>
          <a:p>
            <a:pPr indent="-139700" lvl="1" marL="38100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</a:pPr>
            <a:r>
              <a:rPr lang="en"/>
              <a:t>int – generally used as default type for integral values</a:t>
            </a:r>
            <a:endParaRPr/>
          </a:p>
          <a:p>
            <a:pPr indent="-139700" lvl="1" marL="38100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</a:pPr>
            <a:r>
              <a:rPr lang="en"/>
              <a:t>double – generally used as default type for decimal values </a:t>
            </a:r>
            <a:endParaRPr/>
          </a:p>
          <a:p>
            <a:pPr indent="-120650" lvl="0" marL="1270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/>
              <a:t>You can put the contents of a smaller variable (cup) into a larger variable (cup)</a:t>
            </a:r>
            <a:endParaRPr sz="1600"/>
          </a:p>
          <a:p>
            <a:pPr indent="-25400" lvl="0" marL="127000" rtl="0" algn="l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dk1"/>
              </a:buClr>
              <a:buSzPts val="1600"/>
              <a:buNone/>
            </a:pPr>
            <a:r>
              <a:t/>
            </a:r>
            <a:endParaRPr sz="1600"/>
          </a:p>
        </p:txBody>
      </p:sp>
      <p:sp>
        <p:nvSpPr>
          <p:cNvPr id="150" name="Google Shape;150;p17"/>
          <p:cNvSpPr txBox="1"/>
          <p:nvPr/>
        </p:nvSpPr>
        <p:spPr>
          <a:xfrm>
            <a:off x="3703775" y="2675400"/>
            <a:ext cx="4695000" cy="1736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intValue1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123456;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intValue2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-9876543;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doubleValue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12345.23;	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doubleValue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intValue2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;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1" name="Google Shape;151;p17"/>
          <p:cNvGrpSpPr/>
          <p:nvPr/>
        </p:nvGrpSpPr>
        <p:grpSpPr>
          <a:xfrm>
            <a:off x="535113" y="2830250"/>
            <a:ext cx="2582700" cy="1581250"/>
            <a:chOff x="535113" y="2830250"/>
            <a:chExt cx="2582700" cy="1581250"/>
          </a:xfrm>
        </p:grpSpPr>
        <p:pic>
          <p:nvPicPr>
            <p:cNvPr descr="A picture containing icon&#10;&#10;Description automatically generated" id="152" name="Google Shape;152;p17"/>
            <p:cNvPicPr preferRelativeResize="0"/>
            <p:nvPr/>
          </p:nvPicPr>
          <p:blipFill rotWithShape="1">
            <a:blip r:embed="rId3">
              <a:alphaModFix/>
            </a:blip>
            <a:srcRect b="17498" l="0" r="0" t="0"/>
            <a:stretch/>
          </p:blipFill>
          <p:spPr>
            <a:xfrm>
              <a:off x="566050" y="2830250"/>
              <a:ext cx="2520825" cy="12845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3" name="Google Shape;153;p17"/>
            <p:cNvSpPr/>
            <p:nvPr/>
          </p:nvSpPr>
          <p:spPr>
            <a:xfrm>
              <a:off x="535113" y="4114800"/>
              <a:ext cx="2582700" cy="296700"/>
            </a:xfrm>
            <a:prstGeom prst="rect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Lexend"/>
                  <a:ea typeface="Lexend"/>
                  <a:cs typeface="Lexend"/>
                  <a:sym typeface="Lexend"/>
                </a:rPr>
                <a:t>   int                         double</a:t>
              </a:r>
              <a:endParaRPr b="0" i="0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endParaRPr>
            </a:p>
          </p:txBody>
        </p:sp>
      </p:grpSp>
      <p:sp>
        <p:nvSpPr>
          <p:cNvPr id="154" name="Google Shape;154;p17"/>
          <p:cNvSpPr/>
          <p:nvPr/>
        </p:nvSpPr>
        <p:spPr>
          <a:xfrm>
            <a:off x="6442575" y="3905975"/>
            <a:ext cx="2187000" cy="540900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works!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/>
          <p:nvPr>
            <p:ph type="title"/>
          </p:nvPr>
        </p:nvSpPr>
        <p:spPr>
          <a:xfrm>
            <a:off x="413875" y="206023"/>
            <a:ext cx="78867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pen Sans"/>
              <a:buNone/>
            </a:pPr>
            <a:r>
              <a:rPr lang="en"/>
              <a:t>Error</a:t>
            </a:r>
            <a:endParaRPr/>
          </a:p>
        </p:txBody>
      </p:sp>
      <p:sp>
        <p:nvSpPr>
          <p:cNvPr id="160" name="Google Shape;160;p18"/>
          <p:cNvSpPr txBox="1"/>
          <p:nvPr>
            <p:ph idx="1" type="body"/>
          </p:nvPr>
        </p:nvSpPr>
        <p:spPr>
          <a:xfrm>
            <a:off x="271800" y="706125"/>
            <a:ext cx="8600400" cy="8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600">
                <a:solidFill>
                  <a:schemeClr val="dk1"/>
                </a:solidFill>
              </a:rPr>
              <a:t>You </a:t>
            </a:r>
            <a:r>
              <a:rPr b="1" lang="en" sz="1600" u="sng">
                <a:solidFill>
                  <a:schemeClr val="dk1"/>
                </a:solidFill>
              </a:rPr>
              <a:t>cannot</a:t>
            </a:r>
            <a:r>
              <a:rPr lang="en" sz="1600">
                <a:solidFill>
                  <a:schemeClr val="dk1"/>
                </a:solidFill>
              </a:rPr>
              <a:t> put the contents from a larger variable (cup) into a smaller variable (cup)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Well you can but you must do something special to do so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You will also lose information when you do this</a:t>
            </a:r>
            <a:endParaRPr sz="1600">
              <a:solidFill>
                <a:schemeClr val="dk1"/>
              </a:solidFill>
            </a:endParaRPr>
          </a:p>
          <a:p>
            <a:pPr indent="0" lvl="0" marL="101600" rtl="0" algn="l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dk1"/>
              </a:buClr>
              <a:buSzPts val="1600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61" name="Google Shape;16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98048" y="1643625"/>
            <a:ext cx="5302525" cy="15638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2" name="Google Shape;162;p18"/>
          <p:cNvGrpSpPr/>
          <p:nvPr/>
        </p:nvGrpSpPr>
        <p:grpSpPr>
          <a:xfrm>
            <a:off x="211675" y="1512625"/>
            <a:ext cx="2582700" cy="1674000"/>
            <a:chOff x="211675" y="1512625"/>
            <a:chExt cx="2582700" cy="1674000"/>
          </a:xfrm>
        </p:grpSpPr>
        <p:pic>
          <p:nvPicPr>
            <p:cNvPr descr="A picture containing text&#10;&#10;Description automatically generated" id="163" name="Google Shape;163;p18"/>
            <p:cNvPicPr preferRelativeResize="0"/>
            <p:nvPr/>
          </p:nvPicPr>
          <p:blipFill rotWithShape="1">
            <a:blip r:embed="rId4">
              <a:alphaModFix/>
            </a:blip>
            <a:srcRect b="15274" l="0" r="0" t="0"/>
            <a:stretch/>
          </p:blipFill>
          <p:spPr>
            <a:xfrm>
              <a:off x="220075" y="1512625"/>
              <a:ext cx="2565925" cy="1377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4" name="Google Shape;164;p18"/>
            <p:cNvSpPr/>
            <p:nvPr/>
          </p:nvSpPr>
          <p:spPr>
            <a:xfrm>
              <a:off x="211675" y="2889925"/>
              <a:ext cx="2582700" cy="296700"/>
            </a:xfrm>
            <a:prstGeom prst="rect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Lexend"/>
                  <a:ea typeface="Lexend"/>
                  <a:cs typeface="Lexend"/>
                  <a:sym typeface="Lexend"/>
                </a:rPr>
                <a:t>double                         int</a:t>
              </a:r>
              <a:endParaRPr b="0" i="0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endParaRPr>
            </a:p>
          </p:txBody>
        </p:sp>
      </p:grpSp>
      <p:sp>
        <p:nvSpPr>
          <p:cNvPr id="165" name="Google Shape;165;p18"/>
          <p:cNvSpPr txBox="1"/>
          <p:nvPr/>
        </p:nvSpPr>
        <p:spPr>
          <a:xfrm>
            <a:off x="326750" y="3407400"/>
            <a:ext cx="4695000" cy="1417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intValue1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123456;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intValue2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-9876543;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doubleValue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12345.23;	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intValue1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0" lang="en" sz="18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doubleValue</a:t>
            </a:r>
            <a:r>
              <a:rPr b="0" i="0" lang="en" sz="18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;</a:t>
            </a:r>
            <a:endParaRPr b="0" i="0" sz="18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8"/>
          <p:cNvSpPr/>
          <p:nvPr/>
        </p:nvSpPr>
        <p:spPr>
          <a:xfrm rot="-215">
            <a:off x="3341900" y="4252159"/>
            <a:ext cx="4793100" cy="730800"/>
          </a:xfrm>
          <a:prstGeom prst="leftArrowCallout">
            <a:avLst>
              <a:gd fmla="val 25000" name="adj1"/>
              <a:gd fmla="val 25000" name="adj2"/>
              <a:gd fmla="val 25000" name="adj3"/>
              <a:gd fmla="val 82666" name="adj4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Causes compiler error: cannot convert from int to double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/>
          <p:nvPr>
            <p:ph type="title"/>
          </p:nvPr>
        </p:nvSpPr>
        <p:spPr>
          <a:xfrm>
            <a:off x="311700" y="2549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07"/>
              <a:buNone/>
            </a:pPr>
            <a:r>
              <a:rPr lang="en"/>
              <a:t>Type Casting - Implicit (Widening) </a:t>
            </a:r>
            <a:endParaRPr/>
          </a:p>
        </p:txBody>
      </p:sp>
      <p:sp>
        <p:nvSpPr>
          <p:cNvPr id="172" name="Google Shape;172;p19"/>
          <p:cNvSpPr txBox="1"/>
          <p:nvPr>
            <p:ph idx="1" type="body"/>
          </p:nvPr>
        </p:nvSpPr>
        <p:spPr>
          <a:xfrm>
            <a:off x="311700" y="710475"/>
            <a:ext cx="8520600" cy="25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/>
              <a:t>Casting is an operation that converts one data type to another. Casting widens or narrows the type.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/>
              <a:t>To convert a variable of one type into another type: (type)value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700"/>
              <a:buNone/>
            </a:pPr>
            <a:r>
              <a:rPr lang="en"/>
              <a:t>Widening: Casting a value with a smaller range to one with a bigger range</a:t>
            </a:r>
            <a:endParaRPr/>
          </a:p>
          <a:p>
            <a:pPr indent="-3365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o"/>
            </a:pPr>
            <a:r>
              <a:rPr lang="en" sz="1700"/>
              <a:t>Java does this automatically because safe to do</a:t>
            </a:r>
            <a:endParaRPr sz="1700"/>
          </a:p>
          <a:p>
            <a:pPr indent="-3365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o"/>
            </a:pPr>
            <a:r>
              <a:rPr lang="en" sz="1700"/>
              <a:t>Example  double radius = 3;  			</a:t>
            </a:r>
            <a:endParaRPr sz="1700"/>
          </a:p>
          <a:p>
            <a:pPr indent="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"/>
              <a:t>	</a:t>
            </a:r>
            <a:endParaRPr/>
          </a:p>
        </p:txBody>
      </p:sp>
      <p:sp>
        <p:nvSpPr>
          <p:cNvPr id="173" name="Google Shape;173;p19"/>
          <p:cNvSpPr/>
          <p:nvPr/>
        </p:nvSpPr>
        <p:spPr>
          <a:xfrm>
            <a:off x="4329925" y="2571750"/>
            <a:ext cx="4744200" cy="572700"/>
          </a:xfrm>
          <a:prstGeom prst="leftArrowCallout">
            <a:avLst>
              <a:gd fmla="val 25000" name="adj1"/>
              <a:gd fmla="val 25000" name="adj2"/>
              <a:gd fmla="val 25000" name="adj3"/>
              <a:gd fmla="val 85921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implicit casting radius is stored as double 3.0 even though literal integer 3 is used.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112075" y="3873025"/>
            <a:ext cx="5198400" cy="1143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3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smallNumber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42;</a:t>
            </a:r>
            <a:endParaRPr b="0" i="0" sz="13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3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bigNumber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0" lang="en" sz="13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smallNumber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;  </a:t>
            </a:r>
            <a:r>
              <a:rPr b="0" i="0" lang="en" sz="1300" u="none" cap="none" strike="noStrike">
                <a:solidFill>
                  <a:srgbClr val="3F7F5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// </a:t>
            </a:r>
            <a:r>
              <a:rPr b="0" i="0" lang="en" sz="1300" u="sng" cap="none" strike="noStrike">
                <a:solidFill>
                  <a:srgbClr val="3F7F5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300" u="none" cap="none" strike="noStrike">
                <a:solidFill>
                  <a:srgbClr val="3F7F5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→ double (implicit cast)</a:t>
            </a:r>
            <a:endParaRPr b="0" i="0" sz="1300" u="none" cap="none" strike="noStrike">
              <a:solidFill>
                <a:srgbClr val="3F7F5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System.</a:t>
            </a:r>
            <a:r>
              <a:rPr b="1" i="1" lang="en" sz="1300" u="none" cap="none" strike="noStrike">
                <a:solidFill>
                  <a:srgbClr val="0000C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out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.println(</a:t>
            </a:r>
            <a:r>
              <a:rPr b="0" i="0" lang="en" sz="1300" u="none" cap="none" strike="noStrike">
                <a:solidFill>
                  <a:srgbClr val="2A00F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"Original int: "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b="0" i="0" lang="en" sz="13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smallNumber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);</a:t>
            </a:r>
            <a:endParaRPr b="0" i="0" sz="13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System.</a:t>
            </a:r>
            <a:r>
              <a:rPr b="1" i="1" lang="en" sz="1300" u="none" cap="none" strike="noStrike">
                <a:solidFill>
                  <a:srgbClr val="0000C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out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.println(</a:t>
            </a:r>
            <a:r>
              <a:rPr b="0" i="0" lang="en" sz="1300" u="none" cap="none" strike="noStrike">
                <a:solidFill>
                  <a:srgbClr val="2A00F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"After implicit casting to double: "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b="0" i="0" lang="en" sz="13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bigNumber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);</a:t>
            </a:r>
            <a:endParaRPr b="0" i="0" sz="13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75" name="Google Shape;175;p19"/>
          <p:cNvSpPr txBox="1"/>
          <p:nvPr/>
        </p:nvSpPr>
        <p:spPr>
          <a:xfrm>
            <a:off x="6145825" y="4021975"/>
            <a:ext cx="2928300" cy="845100"/>
          </a:xfrm>
          <a:prstGeom prst="rect">
            <a:avLst/>
          </a:prstGeom>
          <a:solidFill>
            <a:srgbClr val="FEFEF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Original int: 42</a:t>
            </a:r>
            <a:endParaRPr b="0" i="0" sz="13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After implicit casting to double: 42.0</a:t>
            </a:r>
            <a:endParaRPr b="0" i="0" sz="13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5167675" y="4147775"/>
            <a:ext cx="1044000" cy="428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displays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311700" y="3270175"/>
            <a:ext cx="4022400" cy="751800"/>
          </a:xfrm>
          <a:prstGeom prst="downArrowCallout">
            <a:avLst>
              <a:gd fmla="val 25000" name="adj1"/>
              <a:gd fmla="val 25000" name="adj2"/>
              <a:gd fmla="val 25000" name="adj3"/>
              <a:gd fmla="val 64977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Implicit casting of integer variable 42 into double when assigned to a double variable.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0"/>
          <p:cNvSpPr txBox="1"/>
          <p:nvPr>
            <p:ph type="title"/>
          </p:nvPr>
        </p:nvSpPr>
        <p:spPr>
          <a:xfrm>
            <a:off x="311700" y="1377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07"/>
              <a:buNone/>
            </a:pPr>
            <a:r>
              <a:rPr lang="en"/>
              <a:t>Type Casting - Explicit (Narrowing)</a:t>
            </a:r>
            <a:endParaRPr/>
          </a:p>
        </p:txBody>
      </p:sp>
      <p:sp>
        <p:nvSpPr>
          <p:cNvPr id="183" name="Google Shape;183;p20"/>
          <p:cNvSpPr txBox="1"/>
          <p:nvPr>
            <p:ph idx="1" type="body"/>
          </p:nvPr>
        </p:nvSpPr>
        <p:spPr>
          <a:xfrm>
            <a:off x="311700" y="585150"/>
            <a:ext cx="8691600" cy="19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600"/>
              <a:t>You cannot put the contents from a larger variable (cup) into a smaller variable (cup) unless you do something special - casting </a:t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" sz="1600"/>
              <a:t>Narrowing: Casting a value with a bigger range to one with a smaller range</a:t>
            </a:r>
            <a:endParaRPr sz="1600"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o"/>
            </a:pPr>
            <a:r>
              <a:rPr lang="en" sz="1600"/>
              <a:t>To convert a variable of one type into another type explicitly: (type)value	</a:t>
            </a:r>
            <a:endParaRPr sz="1600"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o"/>
            </a:pPr>
            <a:r>
              <a:rPr lang="en" sz="1600"/>
              <a:t>You must do explicitly (manually) because it can result in losing data</a:t>
            </a:r>
            <a:endParaRPr sz="1600"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o"/>
            </a:pPr>
            <a:r>
              <a:rPr lang="en" sz="1600"/>
              <a:t>Example  int number = (int)3.1;  	 	</a:t>
            </a:r>
            <a:endParaRPr sz="1600"/>
          </a:p>
        </p:txBody>
      </p:sp>
      <p:sp>
        <p:nvSpPr>
          <p:cNvPr id="184" name="Google Shape;184;p20"/>
          <p:cNvSpPr/>
          <p:nvPr/>
        </p:nvSpPr>
        <p:spPr>
          <a:xfrm>
            <a:off x="4418150" y="2041925"/>
            <a:ext cx="3705900" cy="354000"/>
          </a:xfrm>
          <a:prstGeom prst="leftArrowCallout">
            <a:avLst>
              <a:gd fmla="val 25000" name="adj1"/>
              <a:gd fmla="val 25000" name="adj2"/>
              <a:gd fmla="val 25000" name="adj3"/>
              <a:gd fmla="val 85921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explicit casting is necessary  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error: type mismatch can't conver from double to int" id="185" name="Google Shape;185;p20" title="Screenshot 2025-08-07 at 1.47.06 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5725" y="2395925"/>
            <a:ext cx="5438500" cy="1154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90125" y="4033450"/>
            <a:ext cx="5374200" cy="1055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3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preciseValue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42.75;</a:t>
            </a:r>
            <a:endParaRPr b="0" i="0" sz="13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3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wholeNumber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(</a:t>
            </a:r>
            <a:r>
              <a:rPr b="1" i="0" lang="en" sz="13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) </a:t>
            </a:r>
            <a:r>
              <a:rPr b="0" i="0" lang="en" sz="13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preciseValue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;  </a:t>
            </a:r>
            <a:r>
              <a:rPr b="0" i="0" lang="en" sz="1300" u="none" cap="none" strike="noStrike">
                <a:solidFill>
                  <a:srgbClr val="3F7F5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// double → </a:t>
            </a:r>
            <a:r>
              <a:rPr b="0" i="0" lang="en" sz="1300" u="sng" cap="none" strike="noStrike">
                <a:solidFill>
                  <a:srgbClr val="3F7F5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300" u="none" cap="none" strike="noStrike">
                <a:solidFill>
                  <a:srgbClr val="3F7F5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(explicit cast)</a:t>
            </a:r>
            <a:endParaRPr b="0" i="0" sz="1300" u="none" cap="none" strike="noStrike">
              <a:solidFill>
                <a:srgbClr val="3F7F5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System.</a:t>
            </a:r>
            <a:r>
              <a:rPr b="1" i="1" lang="en" sz="1300" u="none" cap="none" strike="noStrike">
                <a:solidFill>
                  <a:srgbClr val="0000C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out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.println(</a:t>
            </a:r>
            <a:r>
              <a:rPr b="0" i="0" lang="en" sz="1300" u="none" cap="none" strike="noStrike">
                <a:solidFill>
                  <a:srgbClr val="2A00F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"Original double: "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b="0" i="0" lang="en" sz="13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preciseValue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);</a:t>
            </a:r>
            <a:endParaRPr b="0" i="0" sz="13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System.</a:t>
            </a:r>
            <a:r>
              <a:rPr b="1" i="1" lang="en" sz="1300" u="none" cap="none" strike="noStrike">
                <a:solidFill>
                  <a:srgbClr val="0000C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out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.println(</a:t>
            </a:r>
            <a:r>
              <a:rPr b="0" i="0" lang="en" sz="1300" u="none" cap="none" strike="noStrike">
                <a:solidFill>
                  <a:srgbClr val="2A00F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"After explicit casting to int: "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b="0" i="0" lang="en" sz="13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wholeNumber</a:t>
            </a: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);</a:t>
            </a:r>
            <a:endParaRPr b="0" i="0" sz="13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87" name="Google Shape;187;p20"/>
          <p:cNvSpPr/>
          <p:nvPr/>
        </p:nvSpPr>
        <p:spPr>
          <a:xfrm>
            <a:off x="5343525" y="4452200"/>
            <a:ext cx="1044000" cy="428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displays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88" name="Google Shape;188;p20"/>
          <p:cNvSpPr/>
          <p:nvPr/>
        </p:nvSpPr>
        <p:spPr>
          <a:xfrm>
            <a:off x="327275" y="3616600"/>
            <a:ext cx="4899900" cy="751800"/>
          </a:xfrm>
          <a:prstGeom prst="downArrowCallout">
            <a:avLst>
              <a:gd fmla="val 25000" name="adj1"/>
              <a:gd fmla="val 25000" name="adj2"/>
              <a:gd fmla="val 25000" name="adj3"/>
              <a:gd fmla="val 64977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Explicit (manual) casting of double variable 42.75 using (int) preciseValue causes loss of data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89" name="Google Shape;189;p20"/>
          <p:cNvSpPr txBox="1"/>
          <p:nvPr/>
        </p:nvSpPr>
        <p:spPr>
          <a:xfrm>
            <a:off x="6387525" y="4290650"/>
            <a:ext cx="2527800" cy="75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Original double: 42.75</a:t>
            </a:r>
            <a:endParaRPr b="0" i="0" sz="13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After explicit casting to int: 42</a:t>
            </a:r>
            <a:endParaRPr b="0" i="0" sz="13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1"/>
          <p:cNvSpPr txBox="1"/>
          <p:nvPr>
            <p:ph type="title"/>
          </p:nvPr>
        </p:nvSpPr>
        <p:spPr>
          <a:xfrm>
            <a:off x="311700" y="2549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Explicit Casting Example</a:t>
            </a:r>
            <a:endParaRPr/>
          </a:p>
        </p:txBody>
      </p:sp>
      <p:sp>
        <p:nvSpPr>
          <p:cNvPr id="195" name="Google Shape;195;p21"/>
          <p:cNvSpPr txBox="1"/>
          <p:nvPr>
            <p:ph idx="1" type="body"/>
          </p:nvPr>
        </p:nvSpPr>
        <p:spPr>
          <a:xfrm>
            <a:off x="311700" y="863550"/>
            <a:ext cx="8520600" cy="30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None/>
            </a:pPr>
            <a:r>
              <a:rPr lang="en"/>
              <a:t>There are some problems where you will want to narrow from a larger variable (cup) into a smaller variable (cup).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None/>
            </a:pPr>
            <a:r>
              <a:rPr lang="en"/>
              <a:t>For example if you want to generate a random integer </a:t>
            </a:r>
            <a:endParaRPr/>
          </a:p>
          <a:p>
            <a:pPr indent="-33655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Char char="•"/>
            </a:pPr>
            <a:r>
              <a:rPr lang="en"/>
              <a:t>you can use the method random() to generate random double in the range [0.0, 1.0), meaning it includes 0.0 but not 1.0</a:t>
            </a:r>
            <a:endParaRPr/>
          </a:p>
          <a:p>
            <a:pPr indent="-33655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Char char="•"/>
            </a:pPr>
            <a:r>
              <a:rPr lang="en"/>
              <a:t>Multiplying by RANDOM_MULTIPLIER (which is 100) gives a value in the range [0.0, 100.0)</a:t>
            </a:r>
            <a:endParaRPr/>
          </a:p>
          <a:p>
            <a:pPr indent="-33655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Char char="•"/>
            </a:pPr>
            <a:r>
              <a:rPr lang="en"/>
              <a:t>Casting that to an int truncates the decimal part, resulting in an integer between 0 and 100.</a:t>
            </a:r>
            <a:endParaRPr/>
          </a:p>
        </p:txBody>
      </p:sp>
      <p:sp>
        <p:nvSpPr>
          <p:cNvPr id="196" name="Google Shape;196;p21"/>
          <p:cNvSpPr txBox="1"/>
          <p:nvPr/>
        </p:nvSpPr>
        <p:spPr>
          <a:xfrm>
            <a:off x="151275" y="3850875"/>
            <a:ext cx="5867100" cy="997500"/>
          </a:xfrm>
          <a:prstGeom prst="rect">
            <a:avLst/>
          </a:prstGeom>
          <a:solidFill>
            <a:srgbClr val="FEFEF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final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6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6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RANDOM_MULTIPLIER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100;</a:t>
            </a:r>
            <a:endParaRPr b="0" i="0" sz="16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6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randomResult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= Math.</a:t>
            </a:r>
            <a:r>
              <a:rPr b="0" i="1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random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();</a:t>
            </a:r>
            <a:endParaRPr b="0" i="0" sz="16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600" u="sng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number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(</a:t>
            </a:r>
            <a:r>
              <a:rPr b="1" i="0" lang="en" sz="16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) (</a:t>
            </a:r>
            <a:r>
              <a:rPr b="0" i="0" lang="en" sz="16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randomResult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* </a:t>
            </a:r>
            <a:r>
              <a:rPr b="0" i="0" lang="en" sz="16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RANDOM_MULTIPLIER</a:t>
            </a:r>
            <a:r>
              <a:rPr b="0" i="0" lang="en" sz="16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);</a:t>
            </a:r>
            <a:endParaRPr b="0" i="0" sz="16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7" name="Google Shape;197;p21"/>
          <p:cNvSpPr/>
          <p:nvPr/>
        </p:nvSpPr>
        <p:spPr>
          <a:xfrm>
            <a:off x="4080050" y="3996450"/>
            <a:ext cx="4391400" cy="572700"/>
          </a:xfrm>
          <a:prstGeom prst="leftArrow">
            <a:avLst>
              <a:gd fmla="val 50000" name="adj1"/>
              <a:gd fmla="val 51349" name="adj2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randomResult assigned 0.8736631218959736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8" name="Google Shape;198;p21"/>
          <p:cNvSpPr/>
          <p:nvPr/>
        </p:nvSpPr>
        <p:spPr>
          <a:xfrm>
            <a:off x="5903525" y="4429575"/>
            <a:ext cx="2173800" cy="572700"/>
          </a:xfrm>
          <a:prstGeom prst="leftArrow">
            <a:avLst>
              <a:gd fmla="val 50000" name="adj1"/>
              <a:gd fmla="val 51349" name="adj2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number assigned 87 </a:t>
            </a:r>
            <a:endParaRPr b="0" i="0" sz="14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2"/>
          <p:cNvSpPr txBox="1"/>
          <p:nvPr>
            <p:ph type="title"/>
          </p:nvPr>
        </p:nvSpPr>
        <p:spPr>
          <a:xfrm>
            <a:off x="311700" y="2549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89285"/>
              <a:buNone/>
            </a:pPr>
            <a:r>
              <a:rPr lang="en"/>
              <a:t>Numeric Type Conversion Examples</a:t>
            </a:r>
            <a:endParaRPr/>
          </a:p>
        </p:txBody>
      </p:sp>
      <p:sp>
        <p:nvSpPr>
          <p:cNvPr id="204" name="Google Shape;204;p22"/>
          <p:cNvSpPr txBox="1"/>
          <p:nvPr/>
        </p:nvSpPr>
        <p:spPr>
          <a:xfrm>
            <a:off x="3224550" y="978700"/>
            <a:ext cx="5773500" cy="1046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highlight>
                  <a:srgbClr val="FEFEFC"/>
                </a:highlight>
                <a:latin typeface="Courier New"/>
                <a:ea typeface="Courier New"/>
                <a:cs typeface="Courier New"/>
                <a:sym typeface="Courier New"/>
              </a:rPr>
              <a:t>System.out.println("3 / 2     = " + (3 / 2));</a:t>
            </a:r>
            <a:endParaRPr b="1" i="0" sz="1400" u="none" cap="none" strike="noStrike">
              <a:solidFill>
                <a:schemeClr val="dk1"/>
              </a:solidFill>
              <a:highlight>
                <a:srgbClr val="FEFE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highlight>
                  <a:srgbClr val="FEFEFC"/>
                </a:highlight>
                <a:latin typeface="Courier New"/>
                <a:ea typeface="Courier New"/>
                <a:cs typeface="Courier New"/>
                <a:sym typeface="Courier New"/>
              </a:rPr>
              <a:t>System.out.println("3 / 2.0   = " + (3 / 2.0));</a:t>
            </a:r>
            <a:endParaRPr b="1" i="0" sz="1400" u="none" cap="none" strike="noStrike">
              <a:solidFill>
                <a:schemeClr val="dk1"/>
              </a:solidFill>
              <a:highlight>
                <a:srgbClr val="FEFE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highlight>
                  <a:srgbClr val="FEFEFC"/>
                </a:highlight>
                <a:latin typeface="Courier New"/>
                <a:ea typeface="Courier New"/>
                <a:cs typeface="Courier New"/>
                <a:sym typeface="Courier New"/>
              </a:rPr>
              <a:t>System.out.println("3.0 / 2   = " + (3.0 / 2));</a:t>
            </a:r>
            <a:endParaRPr b="1" i="0" sz="1400" u="none" cap="none" strike="noStrike">
              <a:solidFill>
                <a:schemeClr val="dk1"/>
              </a:solidFill>
              <a:highlight>
                <a:srgbClr val="FEFE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highlight>
                  <a:srgbClr val="FEFEFC"/>
                </a:highlight>
                <a:latin typeface="Courier New"/>
                <a:ea typeface="Courier New"/>
                <a:cs typeface="Courier New"/>
                <a:sym typeface="Courier New"/>
              </a:rPr>
              <a:t>System.out.println("3.0 / 2.0 = " + (3.0 / 2.0));</a:t>
            </a:r>
            <a:endParaRPr b="1" i="0" sz="1400" u="none" cap="none" strike="noStrike">
              <a:solidFill>
                <a:schemeClr val="dk1"/>
              </a:solidFill>
              <a:highlight>
                <a:srgbClr val="FEFEFC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5" name="Google Shape;205;p22"/>
          <p:cNvSpPr txBox="1"/>
          <p:nvPr/>
        </p:nvSpPr>
        <p:spPr>
          <a:xfrm>
            <a:off x="4048850" y="2176500"/>
            <a:ext cx="4624800" cy="1262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highlight>
                  <a:srgbClr val="FEFEFC"/>
                </a:highlight>
                <a:latin typeface="Courier New"/>
                <a:ea typeface="Courier New"/>
                <a:cs typeface="Courier New"/>
                <a:sym typeface="Courier New"/>
              </a:rPr>
              <a:t>Output</a:t>
            </a:r>
            <a:endParaRPr b="1" i="0" sz="1400" u="none" cap="none" strike="noStrike">
              <a:solidFill>
                <a:schemeClr val="dk1"/>
              </a:solidFill>
              <a:highlight>
                <a:srgbClr val="FEFE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highlight>
                  <a:srgbClr val="FEFEFC"/>
                </a:highlight>
                <a:latin typeface="Courier New"/>
                <a:ea typeface="Courier New"/>
                <a:cs typeface="Courier New"/>
                <a:sym typeface="Courier New"/>
              </a:rPr>
              <a:t>3 / 2     =  1    </a:t>
            </a:r>
            <a:endParaRPr b="1" i="0" sz="1400" u="none" cap="none" strike="noStrike">
              <a:solidFill>
                <a:schemeClr val="dk1"/>
              </a:solidFill>
              <a:highlight>
                <a:srgbClr val="FEFE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highlight>
                  <a:srgbClr val="FEFEFC"/>
                </a:highlight>
                <a:latin typeface="Courier New"/>
                <a:ea typeface="Courier New"/>
                <a:cs typeface="Courier New"/>
                <a:sym typeface="Courier New"/>
              </a:rPr>
              <a:t>3 / 2.0   =  1.5</a:t>
            </a:r>
            <a:endParaRPr b="1" i="0" sz="1400" u="none" cap="none" strike="noStrike">
              <a:solidFill>
                <a:schemeClr val="dk1"/>
              </a:solidFill>
              <a:highlight>
                <a:srgbClr val="FEFE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highlight>
                  <a:srgbClr val="FEFEFC"/>
                </a:highlight>
                <a:latin typeface="Courier New"/>
                <a:ea typeface="Courier New"/>
                <a:cs typeface="Courier New"/>
                <a:sym typeface="Courier New"/>
              </a:rPr>
              <a:t>3.0 / 2   =  1.5</a:t>
            </a:r>
            <a:endParaRPr b="1" i="0" sz="1400" u="none" cap="none" strike="noStrike">
              <a:solidFill>
                <a:schemeClr val="dk1"/>
              </a:solidFill>
              <a:highlight>
                <a:srgbClr val="FEFE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63500" rtl="0" algn="l">
              <a:lnSpc>
                <a:spcPct val="150000"/>
              </a:lnSpc>
              <a:spcBef>
                <a:spcPts val="0"/>
              </a:spcBef>
              <a:spcAft>
                <a:spcPts val="160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n" sz="1400" u="none" cap="none" strike="noStrike">
                <a:solidFill>
                  <a:schemeClr val="dk1"/>
                </a:solidFill>
                <a:highlight>
                  <a:srgbClr val="FEFEFC"/>
                </a:highlight>
                <a:latin typeface="Courier New"/>
                <a:ea typeface="Courier New"/>
                <a:cs typeface="Courier New"/>
                <a:sym typeface="Courier New"/>
              </a:rPr>
              <a:t>3.0 / 2.0 =  1.5</a:t>
            </a:r>
            <a:endParaRPr b="1" i="0" sz="1400" u="none" cap="none" strike="noStrike">
              <a:solidFill>
                <a:schemeClr val="dk1"/>
              </a:solidFill>
              <a:highlight>
                <a:srgbClr val="FEFEFC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6" name="Google Shape;206;p22"/>
          <p:cNvSpPr/>
          <p:nvPr/>
        </p:nvSpPr>
        <p:spPr>
          <a:xfrm>
            <a:off x="574300" y="2352150"/>
            <a:ext cx="2507400" cy="910800"/>
          </a:xfrm>
          <a:prstGeom prst="wedgeRoundRectCallout">
            <a:avLst>
              <a:gd fmla="val 83007" name="adj1"/>
              <a:gd fmla="val -16114" name="adj2"/>
              <a:gd fmla="val 0" name="adj3"/>
            </a:avLst>
          </a:prstGeom>
          <a:solidFill>
            <a:srgbClr val="D9D2E9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do you think is  happening? </a:t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07" name="Google Shape;207;p22"/>
          <p:cNvSpPr/>
          <p:nvPr/>
        </p:nvSpPr>
        <p:spPr>
          <a:xfrm>
            <a:off x="275425" y="852300"/>
            <a:ext cx="2507400" cy="1324200"/>
          </a:xfrm>
          <a:prstGeom prst="wedgeRoundRectCallout">
            <a:avLst>
              <a:gd fmla="val 65422" name="adj1"/>
              <a:gd fmla="val -25225" name="adj2"/>
              <a:gd fmla="val 0" name="adj3"/>
            </a:avLst>
          </a:prstGeom>
          <a:solidFill>
            <a:srgbClr val="D9D2E9"/>
          </a:solidFill>
          <a:ln cap="flat" cmpd="sng" w="9525">
            <a:solidFill>
              <a:srgbClr val="30303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is the difference between using the 3 literal and the 2.0 literal? What is the data type of each?</a:t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3"/>
          <p:cNvSpPr txBox="1"/>
          <p:nvPr>
            <p:ph type="title"/>
          </p:nvPr>
        </p:nvSpPr>
        <p:spPr>
          <a:xfrm>
            <a:off x="311700" y="2549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07"/>
              <a:buNone/>
            </a:pPr>
            <a:r>
              <a:rPr lang="en"/>
              <a:t>Numeric Type Conversions</a:t>
            </a:r>
            <a:endParaRPr/>
          </a:p>
        </p:txBody>
      </p:sp>
      <p:sp>
        <p:nvSpPr>
          <p:cNvPr id="213" name="Google Shape;213;p23"/>
          <p:cNvSpPr txBox="1"/>
          <p:nvPr>
            <p:ph idx="1" type="body"/>
          </p:nvPr>
        </p:nvSpPr>
        <p:spPr>
          <a:xfrm>
            <a:off x="127200" y="875125"/>
            <a:ext cx="8889600" cy="14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/>
              <a:t>When performing operation involving two different types, Java automatically converts the smaller type is converted to a larger type before operation occurs but what is stored in memory doesn’t change.</a:t>
            </a:r>
            <a:endParaRPr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/>
              <a:t>For example if one of the operands is double, the others are converted into double.</a:t>
            </a:r>
            <a:endParaRPr/>
          </a:p>
        </p:txBody>
      </p:sp>
      <p:sp>
        <p:nvSpPr>
          <p:cNvPr id="214" name="Google Shape;214;p23"/>
          <p:cNvSpPr/>
          <p:nvPr/>
        </p:nvSpPr>
        <p:spPr>
          <a:xfrm>
            <a:off x="592425" y="2419150"/>
            <a:ext cx="4851300" cy="1203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" sz="21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21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21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hours</a:t>
            </a:r>
            <a:r>
              <a:rPr b="0" i="0" lang="en" sz="21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5;</a:t>
            </a:r>
            <a:endParaRPr b="0" i="0" sz="21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" sz="21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</a:t>
            </a:r>
            <a:r>
              <a:rPr b="0" i="0" lang="en" sz="21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21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hourlyRate</a:t>
            </a:r>
            <a:r>
              <a:rPr b="0" i="0" lang="en" sz="21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18.75;</a:t>
            </a:r>
            <a:endParaRPr b="0" i="0" sz="21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" sz="21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</a:t>
            </a:r>
            <a:r>
              <a:rPr b="0" i="0" lang="en" sz="21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21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totalPay</a:t>
            </a:r>
            <a:r>
              <a:rPr b="0" i="0" lang="en" sz="21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0" lang="en" sz="21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hourlyRate </a:t>
            </a:r>
            <a:r>
              <a:rPr b="0" i="0" lang="en" sz="21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* </a:t>
            </a:r>
            <a:r>
              <a:rPr b="0" i="0" lang="en" sz="21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hours</a:t>
            </a:r>
            <a:r>
              <a:rPr b="0" i="0" lang="en" sz="21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;  </a:t>
            </a:r>
            <a:endParaRPr b="0" i="0" sz="2100" u="none" cap="none" strike="noStrike">
              <a:solidFill>
                <a:srgbClr val="3F7F5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1" i="0" sz="1500" u="none" cap="none" strike="noStrike">
              <a:solidFill>
                <a:srgbClr val="7F0055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15" name="Google Shape;215;p23"/>
          <p:cNvSpPr/>
          <p:nvPr/>
        </p:nvSpPr>
        <p:spPr>
          <a:xfrm>
            <a:off x="2021300" y="3622750"/>
            <a:ext cx="5454300" cy="1203600"/>
          </a:xfrm>
          <a:prstGeom prst="upArrowCallout">
            <a:avLst>
              <a:gd fmla="val 25000" name="adj1"/>
              <a:gd fmla="val 25000" name="adj2"/>
              <a:gd fmla="val 25000" name="adj3"/>
              <a:gd fmla="val 64977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Since hourlyRate is a double hours converted to double for calculation but remains integer in memory.</a:t>
            </a:r>
            <a:endParaRPr b="0" i="0" sz="15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16" name="Google Shape;216;p23"/>
          <p:cNvSpPr/>
          <p:nvPr/>
        </p:nvSpPr>
        <p:spPr>
          <a:xfrm>
            <a:off x="2596125" y="2419150"/>
            <a:ext cx="5213700" cy="433500"/>
          </a:xfrm>
          <a:prstGeom prst="leftArrowCallout">
            <a:avLst>
              <a:gd fmla="val 25000" name="adj1"/>
              <a:gd fmla="val 25000" name="adj2"/>
              <a:gd fmla="val 25000" name="adj3"/>
              <a:gd fmla="val 64977" name="adj4"/>
            </a:avLst>
          </a:prstGeom>
          <a:solidFill>
            <a:srgbClr val="D9EAD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000000"/>
                </a:solidFill>
                <a:latin typeface="Lexend"/>
                <a:ea typeface="Lexend"/>
                <a:cs typeface="Lexend"/>
                <a:sym typeface="Lexend"/>
              </a:rPr>
              <a:t>Memory allocated to store integer</a:t>
            </a:r>
            <a:endParaRPr b="0" i="0" sz="1500" u="none" cap="none" strike="noStrike">
              <a:solidFill>
                <a:srgbClr val="000000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4"/>
          <p:cNvSpPr txBox="1"/>
          <p:nvPr>
            <p:ph type="title"/>
          </p:nvPr>
        </p:nvSpPr>
        <p:spPr>
          <a:xfrm>
            <a:off x="311700" y="2549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Lab Exploration</a:t>
            </a:r>
            <a:endParaRPr/>
          </a:p>
        </p:txBody>
      </p:sp>
      <p:sp>
        <p:nvSpPr>
          <p:cNvPr id="222" name="Google Shape;222;p24"/>
          <p:cNvSpPr txBox="1"/>
          <p:nvPr>
            <p:ph idx="1" type="body"/>
          </p:nvPr>
        </p:nvSpPr>
        <p:spPr>
          <a:xfrm>
            <a:off x="248750" y="1069150"/>
            <a:ext cx="8520600" cy="3765900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Explore  Interactive Animations </a:t>
            </a:r>
            <a:r>
              <a:rPr lang="en" u="sng">
                <a:solidFill>
                  <a:schemeClr val="hlink"/>
                </a:solidFill>
                <a:hlinkClick r:id="rId3"/>
              </a:rPr>
              <a:t> </a:t>
            </a:r>
            <a:endParaRPr/>
          </a:p>
          <a:p>
            <a:pPr indent="-33655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Compute Change </a:t>
            </a:r>
            <a:endParaRPr/>
          </a:p>
          <a:p>
            <a:pPr indent="-336550" lvl="0" marL="4572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Char char="●"/>
            </a:pPr>
            <a:r>
              <a:rPr lang="en" u="sng">
                <a:solidFill>
                  <a:schemeClr val="hlink"/>
                </a:solidFill>
                <a:hlinkClick r:id="rId5"/>
              </a:rPr>
              <a:t>FahrenheitToCelsius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None/>
            </a:pPr>
            <a:r>
              <a:rPr lang="en"/>
              <a:t>Discuss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None/>
            </a:pPr>
            <a:r>
              <a:rPr lang="en"/>
              <a:t>Take turns finding different examples from the animations to explain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None/>
            </a:pPr>
            <a:r>
              <a:rPr lang="en"/>
              <a:t>1. Explain implicit and explicit casting.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None/>
            </a:pPr>
            <a:r>
              <a:rPr lang="en"/>
              <a:t>2. Explain numeric type conversion and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1700"/>
              <a:buNone/>
            </a:pPr>
            <a:r>
              <a:rPr lang="en"/>
              <a:t>3. Explain integer division and modulus division.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can use these examples to update your technical documentation.</a:t>
            </a:r>
            <a:endParaRPr/>
          </a:p>
        </p:txBody>
      </p:sp>
      <p:pic>
        <p:nvPicPr>
          <p:cNvPr id="223" name="Google Shape;223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15166" y="150525"/>
            <a:ext cx="782051" cy="781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5"/>
          <p:cNvSpPr txBox="1"/>
          <p:nvPr>
            <p:ph type="title"/>
          </p:nvPr>
        </p:nvSpPr>
        <p:spPr>
          <a:xfrm>
            <a:off x="222900" y="143525"/>
            <a:ext cx="692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420"/>
              <a:t>Lab Pair Programming</a:t>
            </a:r>
            <a:r>
              <a:rPr lang="en" sz="2420"/>
              <a:t>: Calculate Average</a:t>
            </a:r>
            <a:endParaRPr sz="2420"/>
          </a:p>
        </p:txBody>
      </p:sp>
      <p:sp>
        <p:nvSpPr>
          <p:cNvPr id="229" name="Google Shape;229;p25"/>
          <p:cNvSpPr txBox="1"/>
          <p:nvPr>
            <p:ph idx="1" type="body"/>
          </p:nvPr>
        </p:nvSpPr>
        <p:spPr>
          <a:xfrm>
            <a:off x="302675" y="716225"/>
            <a:ext cx="4014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ct val="108108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ct val="108108"/>
              <a:buNone/>
            </a:pPr>
            <a:r>
              <a:t/>
            </a:r>
            <a:endParaRPr/>
          </a:p>
        </p:txBody>
      </p:sp>
      <p:sp>
        <p:nvSpPr>
          <p:cNvPr id="230" name="Google Shape;230;p25"/>
          <p:cNvSpPr txBox="1"/>
          <p:nvPr/>
        </p:nvSpPr>
        <p:spPr>
          <a:xfrm>
            <a:off x="61900" y="922400"/>
            <a:ext cx="4360500" cy="3374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public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4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class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AverageScores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{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</a:t>
            </a:r>
            <a:r>
              <a:rPr b="1" i="0" lang="en" sz="14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public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4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static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4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void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main(String[]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args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{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482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      </a:t>
            </a:r>
            <a:r>
              <a:rPr b="1" i="0" lang="en" sz="14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score1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80;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482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      </a:t>
            </a:r>
            <a:r>
              <a:rPr b="1" i="0" lang="en" sz="14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score2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97;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482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      </a:t>
            </a:r>
            <a:r>
              <a:rPr b="1" i="0" lang="en" sz="14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score3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85;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482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      </a:t>
            </a:r>
            <a:r>
              <a:rPr b="1" i="0" lang="en" sz="14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int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total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score1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score2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score3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;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482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      </a:t>
            </a:r>
            <a:r>
              <a:rPr b="1" i="0" lang="en" sz="1400" u="none" cap="none" strike="noStrike">
                <a:solidFill>
                  <a:srgbClr val="7F005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double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average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total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/ 3;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482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      System.</a:t>
            </a:r>
            <a:r>
              <a:rPr b="1" i="1" lang="en" sz="1400" u="none" cap="none" strike="noStrike">
                <a:solidFill>
                  <a:srgbClr val="0000C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out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.println(</a:t>
            </a:r>
            <a:r>
              <a:rPr b="0" i="0" lang="en" sz="1400" u="none" cap="none" strike="noStrike">
                <a:solidFill>
                  <a:srgbClr val="2A00F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"Total: "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total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);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482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      System.</a:t>
            </a:r>
            <a:r>
              <a:rPr b="1" i="1" lang="en" sz="1400" u="none" cap="none" strike="noStrike">
                <a:solidFill>
                  <a:srgbClr val="0000C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out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.println(</a:t>
            </a:r>
            <a:r>
              <a:rPr b="0" i="0" lang="en" sz="1400" u="none" cap="none" strike="noStrike">
                <a:solidFill>
                  <a:srgbClr val="2A00F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"Average "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b="0" i="0" lang="en" sz="1400" u="none" cap="none" strike="noStrike">
                <a:solidFill>
                  <a:srgbClr val="6A3E3E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average</a:t>
            </a: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);</a:t>
            </a:r>
            <a:endParaRPr b="0" i="0" sz="14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	}</a:t>
            </a:r>
            <a:r>
              <a:rPr b="0" i="0" lang="en" sz="1400" u="none" cap="none" strike="noStrike">
                <a:solidFill>
                  <a:srgbClr val="3F7F5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//end of main</a:t>
            </a:r>
            <a:endParaRPr b="0" i="0" sz="1400" u="none" cap="none" strike="noStrike">
              <a:solidFill>
                <a:srgbClr val="3F7F5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25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}</a:t>
            </a:r>
            <a:r>
              <a:rPr b="0" i="0" lang="en" sz="1400" u="none" cap="none" strike="noStrike">
                <a:solidFill>
                  <a:srgbClr val="3F7F5F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//end of class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5"/>
          <p:cNvSpPr txBox="1"/>
          <p:nvPr/>
        </p:nvSpPr>
        <p:spPr>
          <a:xfrm>
            <a:off x="4422400" y="733625"/>
            <a:ext cx="4650000" cy="3869700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AutoNum type="arabicPeriod"/>
            </a:pPr>
            <a:r>
              <a:rPr b="0" i="0" lang="en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rPr>
              <a:t>Discuss the parts of the code using the terms you have learned. </a:t>
            </a:r>
            <a:endParaRPr b="0" i="0" sz="14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AutoNum type="arabicPeriod"/>
            </a:pPr>
            <a:r>
              <a:rPr b="0" i="0" lang="en" sz="1400" u="sng" cap="none" strike="noStrike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3"/>
              </a:rPr>
              <a:t>Calculate</a:t>
            </a:r>
            <a:r>
              <a:rPr b="0" i="0" lang="en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rPr>
              <a:t> what the average should be</a:t>
            </a:r>
            <a:endParaRPr b="0" i="0" sz="14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AutoNum type="arabicPeriod"/>
            </a:pPr>
            <a:r>
              <a:rPr b="0" i="0" lang="en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rPr>
              <a:t>Predict what the computer will print out.</a:t>
            </a:r>
            <a:endParaRPr b="0" i="0" sz="14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AutoNum type="arabicPeriod"/>
            </a:pPr>
            <a:r>
              <a:rPr b="0" i="0" lang="en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rPr>
              <a:t>Put the code into </a:t>
            </a:r>
            <a:r>
              <a:rPr b="0" i="0" lang="en" sz="1400" u="sng" cap="none" strike="noStrike">
                <a:solidFill>
                  <a:schemeClr val="hlink"/>
                </a:solidFill>
                <a:latin typeface="Lexend"/>
                <a:ea typeface="Lexend"/>
                <a:cs typeface="Lexend"/>
                <a:sym typeface="Lexend"/>
                <a:hlinkClick r:id="rId4"/>
              </a:rPr>
              <a:t>Visualize Code</a:t>
            </a:r>
            <a:r>
              <a:rPr b="0" i="0" lang="en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rPr>
              <a:t> and select java from the drop down.</a:t>
            </a:r>
            <a:endParaRPr b="0" i="0" sz="14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AutoNum type="arabicPeriod"/>
            </a:pPr>
            <a:r>
              <a:rPr b="0" i="0" lang="en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rPr>
              <a:t>Review lecture and discuss how you might fix this. Try out your ideas where one person drives and one person navigates.</a:t>
            </a:r>
            <a:endParaRPr b="0" i="0" sz="14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AutoNum type="arabicPeriod"/>
            </a:pPr>
            <a:r>
              <a:rPr b="0" i="0" lang="en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rPr>
              <a:t>Use an AI tool to help you understand what is wrong and possible solutions if you still can’t fix it.</a:t>
            </a:r>
            <a:endParaRPr b="0" i="0" sz="14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  <a:p>
            <a: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Lexend"/>
              <a:buAutoNum type="alphaLcPeriod"/>
            </a:pPr>
            <a:r>
              <a:rPr b="0" i="0" lang="en" sz="1400" u="none" cap="none" strike="noStrike">
                <a:solidFill>
                  <a:srgbClr val="434343"/>
                </a:solidFill>
                <a:latin typeface="Lexend"/>
                <a:ea typeface="Lexend"/>
                <a:cs typeface="Lexend"/>
                <a:sym typeface="Lexend"/>
              </a:rPr>
              <a:t>Remember AI could use something you don’t understand or that is not the way we are doing it so always use lecture.</a:t>
            </a:r>
            <a:endParaRPr b="0" i="0" sz="1400" u="none" cap="none" strike="noStrike">
              <a:solidFill>
                <a:srgbClr val="43434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6"/>
          <p:cNvSpPr txBox="1"/>
          <p:nvPr>
            <p:ph type="title"/>
          </p:nvPr>
        </p:nvSpPr>
        <p:spPr>
          <a:xfrm>
            <a:off x="311700" y="2549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Next</a:t>
            </a:r>
            <a:endParaRPr/>
          </a:p>
        </p:txBody>
      </p:sp>
      <p:sp>
        <p:nvSpPr>
          <p:cNvPr id="237" name="Google Shape;237;p26"/>
          <p:cNvSpPr txBox="1"/>
          <p:nvPr>
            <p:ph idx="1" type="body"/>
          </p:nvPr>
        </p:nvSpPr>
        <p:spPr>
          <a:xfrm>
            <a:off x="311700" y="863550"/>
            <a:ext cx="8520600" cy="38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4765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/>
              <a:t>Remember commit and push</a:t>
            </a:r>
            <a:endParaRPr/>
          </a:p>
          <a:p>
            <a:pPr indent="-24765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/>
              <a:t>Other Resource: </a:t>
            </a:r>
            <a:r>
              <a:rPr lang="en" u="sng">
                <a:solidFill>
                  <a:schemeClr val="hlink"/>
                </a:solidFill>
                <a:hlinkClick r:id="rId3"/>
              </a:rPr>
              <a:t>1. Getting Started and Primitive Types — CS Java</a:t>
            </a:r>
            <a:r>
              <a:rPr lang="en"/>
              <a:t> sections 1.6 </a:t>
            </a:r>
            <a:endParaRPr/>
          </a:p>
          <a:p>
            <a:pPr indent="-24765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/>
              <a:t>No class Monday </a:t>
            </a:r>
            <a:endParaRPr/>
          </a:p>
          <a:p>
            <a:pPr indent="-24765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/>
              <a:t>See the preparation in today’s lecture</a:t>
            </a:r>
            <a:endParaRPr/>
          </a:p>
          <a:p>
            <a:pPr indent="-215900" lvl="1" marL="7429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–"/>
            </a:pPr>
            <a:r>
              <a:rPr lang="en" sz="1700"/>
              <a:t>What should you be working on? </a:t>
            </a:r>
            <a:endParaRPr sz="1700"/>
          </a:p>
          <a:p>
            <a:pPr indent="-215900" lvl="1" marL="7429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–"/>
            </a:pPr>
            <a:r>
              <a:rPr lang="en" sz="1700"/>
              <a:t>Do you have your environment set up? Are you practicing?</a:t>
            </a:r>
            <a:endParaRPr sz="1700"/>
          </a:p>
          <a:p>
            <a:pPr indent="-215900" lvl="1" marL="7429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–"/>
            </a:pPr>
            <a:r>
              <a:rPr lang="en" sz="1700"/>
              <a:t>What can you attend to become better at using git, github and Eclipse?</a:t>
            </a:r>
            <a:endParaRPr sz="1700"/>
          </a:p>
          <a:p>
            <a:pPr indent="-215900" lvl="1" marL="7429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–"/>
            </a:pPr>
            <a:r>
              <a:rPr lang="en" sz="1700"/>
              <a:t>When is it due?</a:t>
            </a:r>
            <a:endParaRPr sz="1700"/>
          </a:p>
          <a:p>
            <a:pPr indent="-215900" lvl="1" marL="7429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–"/>
            </a:pPr>
            <a:r>
              <a:rPr lang="en" sz="1700"/>
              <a:t>Module 1 Quiz Sep 10th/ 11th - I will go over the quiz and preparing for it next week.</a:t>
            </a:r>
            <a:endParaRPr sz="1700"/>
          </a:p>
          <a:p>
            <a:pPr indent="-247650" lvl="0" marL="3429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b Final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