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21"/>
  </p:notesMasterIdLst>
  <p:sldIdLst>
    <p:sldId id="256" r:id="rId2"/>
    <p:sldId id="257" r:id="rId3"/>
    <p:sldId id="276" r:id="rId4"/>
    <p:sldId id="258" r:id="rId5"/>
    <p:sldId id="259" r:id="rId6"/>
    <p:sldId id="277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86"/>
    <p:restoredTop sz="94618"/>
  </p:normalViewPr>
  <p:slideViewPr>
    <p:cSldViewPr snapToGrid="0">
      <p:cViewPr>
        <p:scale>
          <a:sx n="129" d="100"/>
          <a:sy n="129" d="100"/>
        </p:scale>
        <p:origin x="632" y="1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CDA1B-C464-AF47-9F60-03347DF65740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3B3DC-499A-FA48-B4BA-F46BD36E0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0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B3DC-499A-FA48-B4BA-F46BD36E0D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9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3B3DC-499A-FA48-B4BA-F46BD36E0D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3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05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33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0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08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7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19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6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7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4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5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B572B2F-C900-5A4A-8312-4B29A95FA73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CECE0AC-2C64-C64F-B6D6-7F154C36B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com/books?id=0HYhAQAAIAAJ" TargetMode="External"/><Relationship Id="rId2" Type="http://schemas.openxmlformats.org/officeDocument/2006/relationships/hyperlink" Target="https://en.wikipedia.org/wiki/Robert_Cecil_Mart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Special:BookSources/978-0135974445" TargetMode="External"/><Relationship Id="rId4" Type="http://schemas.openxmlformats.org/officeDocument/2006/relationships/hyperlink" Target="https://en.wikipedia.org/wiki/ISBN_(identifier)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0A23-9C43-3BB7-EEC4-EEBCE7FCF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Home Final:</a:t>
            </a:r>
            <a:br>
              <a:rPr lang="en-US" dirty="0"/>
            </a:br>
            <a:r>
              <a:rPr lang="en-US" dirty="0"/>
              <a:t>Team Trainer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EA35A-3088-5E22-B93D-760BC9D0D6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Isabella Eaton </a:t>
            </a:r>
          </a:p>
          <a:p>
            <a:r>
              <a:rPr lang="en-US" dirty="0"/>
              <a:t>CS1050 (T/R, 12-1:50p)</a:t>
            </a:r>
          </a:p>
          <a:p>
            <a:r>
              <a:rPr lang="en-US" dirty="0"/>
              <a:t>MSU Denver </a:t>
            </a:r>
          </a:p>
        </p:txBody>
      </p:sp>
    </p:spTree>
    <p:extLst>
      <p:ext uri="{BB962C8B-B14F-4D97-AF65-F5344CB8AC3E}">
        <p14:creationId xmlns:p14="http://schemas.microsoft.com/office/powerpoint/2010/main" val="3476426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5C1BA40-0DE8-9C07-C42C-E6D941C5CF28}"/>
              </a:ext>
            </a:extLst>
          </p:cNvPr>
          <p:cNvSpPr/>
          <p:nvPr/>
        </p:nvSpPr>
        <p:spPr>
          <a:xfrm>
            <a:off x="6071419" y="1705896"/>
            <a:ext cx="5343833" cy="18927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CEDCB-F365-CF52-CDA5-BE2BCF2C7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164" y="152400"/>
            <a:ext cx="10515600" cy="581891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E53B-8CE2-42AD-CA66-07E0A278D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9843" y="1716738"/>
            <a:ext cx="5229722" cy="1908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program is designed for </a:t>
            </a:r>
            <a:r>
              <a:rPr lang="en-US" b="1" dirty="0"/>
              <a:t>Trainers</a:t>
            </a:r>
            <a:r>
              <a:rPr lang="en-US" dirty="0"/>
              <a:t> of athlete teams to be able to </a:t>
            </a:r>
            <a:r>
              <a:rPr lang="en-US" b="1" dirty="0"/>
              <a:t>use basic athlete data </a:t>
            </a:r>
            <a:r>
              <a:rPr lang="en-US" dirty="0"/>
              <a:t>(name, weight, age, height) to to </a:t>
            </a:r>
            <a:r>
              <a:rPr lang="en-US" b="1" dirty="0"/>
              <a:t>receive a comprehensive team and athlete analysis</a:t>
            </a:r>
            <a:r>
              <a:rPr lang="en-US" dirty="0"/>
              <a:t> that can be used for a variety of applications such as progress monitoring and optimizing training regimens.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42796-4A2C-AE93-D29B-C3688B54B4F2}"/>
              </a:ext>
            </a:extLst>
          </p:cNvPr>
          <p:cNvSpPr/>
          <p:nvPr/>
        </p:nvSpPr>
        <p:spPr>
          <a:xfrm>
            <a:off x="535858" y="1523999"/>
            <a:ext cx="4596581" cy="430161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E03AC0-F552-5641-9401-5BE8B6C5F519}"/>
              </a:ext>
            </a:extLst>
          </p:cNvPr>
          <p:cNvSpPr/>
          <p:nvPr/>
        </p:nvSpPr>
        <p:spPr>
          <a:xfrm>
            <a:off x="530942" y="1047135"/>
            <a:ext cx="4601497" cy="48669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AFFC88-F806-D19F-0951-536FA81B7F0B}"/>
              </a:ext>
            </a:extLst>
          </p:cNvPr>
          <p:cNvSpPr txBox="1">
            <a:spLocks/>
          </p:cNvSpPr>
          <p:nvPr/>
        </p:nvSpPr>
        <p:spPr>
          <a:xfrm>
            <a:off x="591106" y="1179327"/>
            <a:ext cx="4393849" cy="47790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chemeClr val="bg1"/>
                </a:solidFill>
              </a:rPr>
              <a:t>Key Features</a:t>
            </a:r>
          </a:p>
          <a:p>
            <a:pPr marL="342900" indent="-342900">
              <a:buAutoNum type="arabicPeriod"/>
            </a:pPr>
            <a:r>
              <a:rPr lang="en-US" dirty="0"/>
              <a:t>User (trainer) uploads a file containing a list of </a:t>
            </a:r>
            <a:r>
              <a:rPr lang="en-US" b="1" dirty="0"/>
              <a:t>athlete data</a:t>
            </a:r>
            <a:r>
              <a:rPr lang="en-US" dirty="0"/>
              <a:t>. </a:t>
            </a:r>
          </a:p>
          <a:p>
            <a:pPr marL="342900" indent="-342900">
              <a:buAutoNum type="arabicPeriod"/>
            </a:pPr>
            <a:r>
              <a:rPr lang="en-US" dirty="0"/>
              <a:t>User receives a comprehensive </a:t>
            </a:r>
            <a:r>
              <a:rPr lang="en-US" b="1" dirty="0"/>
              <a:t>overview</a:t>
            </a:r>
            <a:r>
              <a:rPr lang="en-US" dirty="0"/>
              <a:t> including:</a:t>
            </a:r>
          </a:p>
          <a:p>
            <a:pPr lvl="1"/>
            <a:r>
              <a:rPr lang="en-US" dirty="0"/>
              <a:t>Team name </a:t>
            </a:r>
          </a:p>
          <a:p>
            <a:pPr lvl="1"/>
            <a:r>
              <a:rPr lang="en-US" dirty="0"/>
              <a:t>Athlete name, BMI, BMI category, and maximum heart rate</a:t>
            </a:r>
          </a:p>
          <a:p>
            <a:pPr lvl="1"/>
            <a:r>
              <a:rPr lang="en-US" dirty="0"/>
              <a:t>Athletes outside normal BMI range </a:t>
            </a:r>
          </a:p>
          <a:p>
            <a:pPr lvl="1"/>
            <a:r>
              <a:rPr lang="en-US" dirty="0"/>
              <a:t>Average max heart rate </a:t>
            </a:r>
          </a:p>
          <a:p>
            <a:pPr lvl="1"/>
            <a:r>
              <a:rPr lang="en-US" dirty="0"/>
              <a:t>Athlete with the highest max heart rate </a:t>
            </a:r>
          </a:p>
          <a:p>
            <a:pPr lvl="1"/>
            <a:r>
              <a:rPr lang="en-US" dirty="0"/>
              <a:t>Shortest and tallest athlete </a:t>
            </a:r>
          </a:p>
          <a:p>
            <a:pPr marL="342900" indent="-342900">
              <a:buAutoNum type="arabicPeriod"/>
            </a:pPr>
            <a:r>
              <a:rPr lang="en-US" dirty="0"/>
              <a:t>Results are </a:t>
            </a:r>
            <a:r>
              <a:rPr lang="en-US" b="1" dirty="0"/>
              <a:t>written and saved </a:t>
            </a:r>
            <a:r>
              <a:rPr lang="en-US" dirty="0"/>
              <a:t>to a file for user to keep.</a:t>
            </a:r>
          </a:p>
          <a:p>
            <a:pPr marL="0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D2A85C-EBB7-E939-A39D-D624B53E77CC}"/>
              </a:ext>
            </a:extLst>
          </p:cNvPr>
          <p:cNvSpPr/>
          <p:nvPr/>
        </p:nvSpPr>
        <p:spPr>
          <a:xfrm>
            <a:off x="5860025" y="1052052"/>
            <a:ext cx="5569975" cy="48669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ABA136-56D5-7743-CD8E-BAA2B801D168}"/>
              </a:ext>
            </a:extLst>
          </p:cNvPr>
          <p:cNvSpPr txBox="1">
            <a:spLocks/>
          </p:cNvSpPr>
          <p:nvPr/>
        </p:nvSpPr>
        <p:spPr>
          <a:xfrm>
            <a:off x="5810863" y="1082298"/>
            <a:ext cx="5810865" cy="466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>
                <a:solidFill>
                  <a:schemeClr val="bg1"/>
                </a:solidFill>
              </a:rPr>
              <a:t>What problem(s) does this project solve?</a:t>
            </a:r>
          </a:p>
        </p:txBody>
      </p:sp>
      <p:pic>
        <p:nvPicPr>
          <p:cNvPr id="23" name="Graphic 22" descr="Group of men outline">
            <a:extLst>
              <a:ext uri="{FF2B5EF4-FFF2-40B4-BE49-F238E27FC236}">
                <a16:creationId xmlns:a16="http://schemas.microsoft.com/office/drawing/2014/main" id="{5B679E55-FF38-CED4-5D60-EB787DD3B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5475" y="4170947"/>
            <a:ext cx="1528012" cy="1528012"/>
          </a:xfrm>
          <a:prstGeom prst="rect">
            <a:avLst/>
          </a:prstGeom>
        </p:spPr>
      </p:pic>
      <p:pic>
        <p:nvPicPr>
          <p:cNvPr id="25" name="Graphic 24" descr="Document outline">
            <a:extLst>
              <a:ext uri="{FF2B5EF4-FFF2-40B4-BE49-F238E27FC236}">
                <a16:creationId xmlns:a16="http://schemas.microsoft.com/office/drawing/2014/main" id="{207F408E-1AEC-2491-6A49-55F450B6B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2516" y="4287252"/>
            <a:ext cx="1423738" cy="1423738"/>
          </a:xfrm>
          <a:prstGeom prst="rect">
            <a:avLst/>
          </a:prstGeom>
        </p:spPr>
      </p:pic>
      <p:pic>
        <p:nvPicPr>
          <p:cNvPr id="29" name="Graphic 28" descr="Bar chart outline">
            <a:extLst>
              <a:ext uri="{FF2B5EF4-FFF2-40B4-BE49-F238E27FC236}">
                <a16:creationId xmlns:a16="http://schemas.microsoft.com/office/drawing/2014/main" id="{4530A8FB-B17A-DC48-DE8F-0C52958C8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6572" y="4239124"/>
            <a:ext cx="1500250" cy="1519991"/>
          </a:xfrm>
          <a:prstGeom prst="rect">
            <a:avLst/>
          </a:prstGeom>
        </p:spPr>
      </p:pic>
      <p:pic>
        <p:nvPicPr>
          <p:cNvPr id="33" name="Graphic 32" descr="Whistle with solid fill">
            <a:extLst>
              <a:ext uri="{FF2B5EF4-FFF2-40B4-BE49-F238E27FC236}">
                <a16:creationId xmlns:a16="http://schemas.microsoft.com/office/drawing/2014/main" id="{2F9D6EAF-E486-A63A-ACDD-A56C440BD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26892">
            <a:off x="5462337" y="1383631"/>
            <a:ext cx="914400" cy="914400"/>
          </a:xfrm>
          <a:prstGeom prst="rect">
            <a:avLst/>
          </a:prstGeom>
        </p:spPr>
      </p:pic>
      <p:pic>
        <p:nvPicPr>
          <p:cNvPr id="34" name="Graphic 33" descr="Whistle with solid fill">
            <a:extLst>
              <a:ext uri="{FF2B5EF4-FFF2-40B4-BE49-F238E27FC236}">
                <a16:creationId xmlns:a16="http://schemas.microsoft.com/office/drawing/2014/main" id="{F0BE2378-2536-D20E-8082-FAB330F9E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26892">
            <a:off x="10876548" y="3108158"/>
            <a:ext cx="914400" cy="914400"/>
          </a:xfrm>
          <a:prstGeom prst="rect">
            <a:avLst/>
          </a:prstGeom>
        </p:spPr>
      </p:pic>
      <p:sp>
        <p:nvSpPr>
          <p:cNvPr id="41" name="Right Arrow 40">
            <a:extLst>
              <a:ext uri="{FF2B5EF4-FFF2-40B4-BE49-F238E27FC236}">
                <a16:creationId xmlns:a16="http://schemas.microsoft.com/office/drawing/2014/main" id="{999F2C9B-31DD-B45C-C3AC-DE158D285AFF}"/>
              </a:ext>
            </a:extLst>
          </p:cNvPr>
          <p:cNvSpPr/>
          <p:nvPr/>
        </p:nvSpPr>
        <p:spPr>
          <a:xfrm>
            <a:off x="7523747" y="4844716"/>
            <a:ext cx="481264" cy="2566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04D85D36-46A4-91D0-F3DA-A49507503D7C}"/>
              </a:ext>
            </a:extLst>
          </p:cNvPr>
          <p:cNvSpPr/>
          <p:nvPr/>
        </p:nvSpPr>
        <p:spPr>
          <a:xfrm>
            <a:off x="9456821" y="4900863"/>
            <a:ext cx="481264" cy="2566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76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80314-C45E-647A-C656-7B9638D5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7800"/>
            <a:ext cx="12192000" cy="649748"/>
          </a:xfrm>
        </p:spPr>
        <p:txBody>
          <a:bodyPr>
            <a:normAutofit fontScale="90000"/>
          </a:bodyPr>
          <a:lstStyle/>
          <a:p>
            <a:r>
              <a:rPr lang="en-US" dirty="0"/>
              <a:t>UML in PI01 and PI02: an overview of iteration changes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C1E6C4-37DF-0D31-7686-A27415C78887}"/>
              </a:ext>
            </a:extLst>
          </p:cNvPr>
          <p:cNvSpPr/>
          <p:nvPr/>
        </p:nvSpPr>
        <p:spPr>
          <a:xfrm>
            <a:off x="235974" y="693174"/>
            <a:ext cx="1430593" cy="48669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 01 UML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C46C552-28FC-AB5D-B3D6-BE269C5A1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676996"/>
              </p:ext>
            </p:extLst>
          </p:nvPr>
        </p:nvGraphicFramePr>
        <p:xfrm>
          <a:off x="193275" y="1372457"/>
          <a:ext cx="4612899" cy="4704958"/>
        </p:xfrm>
        <a:graphic>
          <a:graphicData uri="http://schemas.openxmlformats.org/drawingml/2006/table">
            <a:tbl>
              <a:tblPr/>
              <a:tblGrid>
                <a:gridCol w="4612899">
                  <a:extLst>
                    <a:ext uri="{9D8B030D-6E8A-4147-A177-3AD203B41FA5}">
                      <a16:colId xmlns:a16="http://schemas.microsoft.com/office/drawing/2014/main" val="1131581397"/>
                    </a:ext>
                  </a:extLst>
                </a:gridCol>
              </a:tblGrid>
              <a:tr h="39947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Project01Trainer 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615844"/>
                  </a:ext>
                </a:extLst>
              </a:tr>
              <a:tr h="430548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displayProgramOverview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int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getPositiveInteger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(Scanner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String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questionPrompt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double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getPositiveDouble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(Scanner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questionPrompt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enterAthleteData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Scanner,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athleteCounter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 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athleteFirstNames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double[]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athleteBMI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double[] athlete MHR)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String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getAthleteNames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(Scanner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+double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getAthleteBMI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(double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athleteWeight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double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athleteHeight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+double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getAthleteMHR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athleteAge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getBMICategory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(double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bmi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getBMIOutliers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double[]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athleteBMI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athleteFirstNames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getAverage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(double[]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athleteMHR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questionPrompt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findMaxIndex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 double[]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athleteMHR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String[]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athleteFirstNames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questionPrompt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showAboveorEqual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doublemaxValue,double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[]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athleteMHR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String[]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athleteFirstNames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questionPrompt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continueProgram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Scanner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questionPrompt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athletefirstNames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double[]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athleteMHR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char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getValidChar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(Scanner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 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void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getTrainingHR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(Scanner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userInput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int 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athleteCount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String[]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athleteFirstNames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double[]</a:t>
                      </a:r>
                      <a:r>
                        <a:rPr lang="en-US" sz="11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athleteMHR</a:t>
                      </a: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0634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CF39560-1237-3443-DF1A-41D05BEC4115}"/>
              </a:ext>
            </a:extLst>
          </p:cNvPr>
          <p:cNvSpPr/>
          <p:nvPr/>
        </p:nvSpPr>
        <p:spPr>
          <a:xfrm>
            <a:off x="6138805" y="739818"/>
            <a:ext cx="5458463" cy="48669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 01 pros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AF9AD4-67B7-AA47-4E16-97959DA16870}"/>
              </a:ext>
            </a:extLst>
          </p:cNvPr>
          <p:cNvSpPr/>
          <p:nvPr/>
        </p:nvSpPr>
        <p:spPr>
          <a:xfrm>
            <a:off x="6083675" y="3076878"/>
            <a:ext cx="5504984" cy="48669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 01 cons  (to resolve in iteration 02)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D22C9D-5FA9-2FD2-B886-087DE0496E50}"/>
              </a:ext>
            </a:extLst>
          </p:cNvPr>
          <p:cNvSpPr/>
          <p:nvPr/>
        </p:nvSpPr>
        <p:spPr>
          <a:xfrm>
            <a:off x="6138326" y="1349056"/>
            <a:ext cx="5458942" cy="7250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601F71-5CED-48F1-7AF1-D3E621C231AA}"/>
              </a:ext>
            </a:extLst>
          </p:cNvPr>
          <p:cNvSpPr/>
          <p:nvPr/>
        </p:nvSpPr>
        <p:spPr>
          <a:xfrm>
            <a:off x="6049507" y="3646990"/>
            <a:ext cx="5458942" cy="29463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D10EAC1-B68C-738C-F540-9320DB979062}"/>
              </a:ext>
            </a:extLst>
          </p:cNvPr>
          <p:cNvSpPr txBox="1">
            <a:spLocks/>
          </p:cNvSpPr>
          <p:nvPr/>
        </p:nvSpPr>
        <p:spPr>
          <a:xfrm>
            <a:off x="6161070" y="1396091"/>
            <a:ext cx="5229722" cy="6557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User Interaction: </a:t>
            </a:r>
            <a:r>
              <a:rPr lang="en-US" dirty="0"/>
              <a:t>user can enter athlete data on their own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41003F2-7B58-2FDF-DAE9-F52ACAD09A88}"/>
              </a:ext>
            </a:extLst>
          </p:cNvPr>
          <p:cNvSpPr txBox="1">
            <a:spLocks/>
          </p:cNvSpPr>
          <p:nvPr/>
        </p:nvSpPr>
        <p:spPr>
          <a:xfrm>
            <a:off x="5918091" y="3737259"/>
            <a:ext cx="5229722" cy="2872087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Team size: </a:t>
            </a:r>
            <a:r>
              <a:rPr lang="en-US" dirty="0"/>
              <a:t>team size can be altered each time program is run, not set.</a:t>
            </a:r>
          </a:p>
          <a:p>
            <a:r>
              <a:rPr lang="en-US" b="1" dirty="0"/>
              <a:t>Easy to crash</a:t>
            </a:r>
            <a:r>
              <a:rPr lang="en-US" dirty="0"/>
              <a:t>: program will crash if char is entered for a request for a numerical value, lacks an escape if incorrect data is entered.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Methods: </a:t>
            </a:r>
            <a:r>
              <a:rPr lang="en-US" dirty="0"/>
              <a:t>all methods under one class. </a:t>
            </a:r>
            <a:r>
              <a:rPr lang="en-US" dirty="0">
                <a:highlight>
                  <a:srgbClr val="FFFF00"/>
                </a:highlight>
              </a:rPr>
              <a:t>Many methods have similar parameters </a:t>
            </a:r>
            <a:r>
              <a:rPr lang="en-US" dirty="0">
                <a:highlight>
                  <a:srgbClr val="00FFFF"/>
                </a:highlight>
              </a:rPr>
              <a:t>or are void </a:t>
            </a:r>
            <a:r>
              <a:rPr lang="en-US" dirty="0"/>
              <a:t>(could benefit from classes instead), lacks adherence to SRP and DRY.</a:t>
            </a:r>
            <a:endParaRPr lang="en-US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CAAB0E-8584-6678-8190-726FC164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905" y="2192454"/>
            <a:ext cx="3987800" cy="711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0A81A02-3BC1-8A7B-3E1D-B7FA5B8DC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122" y="4976200"/>
            <a:ext cx="4443976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D8325E9-4538-8C9A-A713-18FD2578E07B}"/>
              </a:ext>
            </a:extLst>
          </p:cNvPr>
          <p:cNvSpPr txBox="1">
            <a:spLocks/>
          </p:cNvSpPr>
          <p:nvPr/>
        </p:nvSpPr>
        <p:spPr bwMode="black">
          <a:xfrm>
            <a:off x="0" y="-177800"/>
            <a:ext cx="12192000" cy="649748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UML in PI01 and PI02: an overview of iteration changes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74053C6-99C4-EE7C-2CBB-8889DABD4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041538"/>
              </p:ext>
            </p:extLst>
          </p:nvPr>
        </p:nvGraphicFramePr>
        <p:xfrm>
          <a:off x="5389146" y="940197"/>
          <a:ext cx="2305195" cy="1295400"/>
        </p:xfrm>
        <a:graphic>
          <a:graphicData uri="http://schemas.openxmlformats.org/drawingml/2006/table">
            <a:tbl>
              <a:tblPr/>
              <a:tblGrid>
                <a:gridCol w="2305195">
                  <a:extLst>
                    <a:ext uri="{9D8B030D-6E8A-4147-A177-3AD203B41FA5}">
                      <a16:colId xmlns:a16="http://schemas.microsoft.com/office/drawing/2014/main" val="1131581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Project02Trainer 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61584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main method 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teamSetUp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fileName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Team team)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runAnalysis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(Team team)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displayProgramSummary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063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952A31-AC81-809F-F3B9-9ABDF2F11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537244"/>
              </p:ext>
            </p:extLst>
          </p:nvPr>
        </p:nvGraphicFramePr>
        <p:xfrm>
          <a:off x="5496953" y="3911290"/>
          <a:ext cx="6055711" cy="2857500"/>
        </p:xfrm>
        <a:graphic>
          <a:graphicData uri="http://schemas.openxmlformats.org/drawingml/2006/table">
            <a:tbl>
              <a:tblPr/>
              <a:tblGrid>
                <a:gridCol w="6055711">
                  <a:extLst>
                    <a:ext uri="{9D8B030D-6E8A-4147-A177-3AD203B41FA5}">
                      <a16:colId xmlns:a16="http://schemas.microsoft.com/office/drawing/2014/main" val="2779901650"/>
                    </a:ext>
                  </a:extLst>
                </a:gridCol>
              </a:tblGrid>
              <a:tr h="31248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Team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677750"/>
                  </a:ext>
                </a:extLst>
              </a:tr>
              <a:tr h="60691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teamName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-Athlete[] athletes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-int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athleteCount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496158"/>
                  </a:ext>
                </a:extLst>
              </a:tr>
              <a:tr h="180822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Team(String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teamName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int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maxAthletes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getTeamName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+int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getAthleteCount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addAthlete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(Athlete athlete)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displayAthleteResults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displayAthletesOutsideNormalBMI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+double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calculateAverageMaxHeartRate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displayAthletesAboveAverageMHR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(double avg)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displayHighestMHR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displaySmallestLargestHeight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writeAthletesToFile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fileName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708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4E6B92-FDE8-DFC4-AFA5-3B6291B96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150635"/>
              </p:ext>
            </p:extLst>
          </p:nvPr>
        </p:nvGraphicFramePr>
        <p:xfrm>
          <a:off x="8296507" y="892796"/>
          <a:ext cx="3267307" cy="2705100"/>
        </p:xfrm>
        <a:graphic>
          <a:graphicData uri="http://schemas.openxmlformats.org/drawingml/2006/table">
            <a:tbl>
              <a:tblPr/>
              <a:tblGrid>
                <a:gridCol w="3267307">
                  <a:extLst>
                    <a:ext uri="{9D8B030D-6E8A-4147-A177-3AD203B41FA5}">
                      <a16:colId xmlns:a16="http://schemas.microsoft.com/office/drawing/2014/main" val="1417723635"/>
                    </a:ext>
                  </a:extLst>
                </a:gridCol>
              </a:tblGrid>
              <a:tr h="30769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Athlete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24626"/>
                  </a:ext>
                </a:extLst>
              </a:tr>
              <a:tr h="71794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String name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double weight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-double height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int age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18808"/>
                  </a:ext>
                </a:extLst>
              </a:tr>
              <a:tr h="153845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Athlete(String name, double weight, double height, int age)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getName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double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getHeight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double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calculateBMI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String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determineBMICategory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int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calculateMaxHeartRate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void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displayAthleteAnalysis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() //Displays the athlete’s name, BMI, BMI category, max heart rate.   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094229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A3C7C15-E741-1AEE-B101-DC9DAD02A669}"/>
              </a:ext>
            </a:extLst>
          </p:cNvPr>
          <p:cNvSpPr/>
          <p:nvPr/>
        </p:nvSpPr>
        <p:spPr>
          <a:xfrm>
            <a:off x="618951" y="684061"/>
            <a:ext cx="4532911" cy="35300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Iteration 02 changes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77E25D-53CC-3668-CF8A-ADD62528753B}"/>
              </a:ext>
            </a:extLst>
          </p:cNvPr>
          <p:cNvSpPr/>
          <p:nvPr/>
        </p:nvSpPr>
        <p:spPr>
          <a:xfrm>
            <a:off x="626386" y="3022100"/>
            <a:ext cx="4547780" cy="31211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Importance of changes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42D47DF-BAD1-03EE-70D4-D4FBAA77F626}"/>
              </a:ext>
            </a:extLst>
          </p:cNvPr>
          <p:cNvSpPr/>
          <p:nvPr/>
        </p:nvSpPr>
        <p:spPr>
          <a:xfrm>
            <a:off x="5341434" y="613317"/>
            <a:ext cx="2865864" cy="25647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A5E5236-544B-07CF-E73E-39EFEEF04068}"/>
              </a:ext>
            </a:extLst>
          </p:cNvPr>
          <p:cNvSpPr/>
          <p:nvPr/>
        </p:nvSpPr>
        <p:spPr>
          <a:xfrm>
            <a:off x="8285356" y="613317"/>
            <a:ext cx="3289609" cy="25647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58EEEB-E089-6886-95F6-F8A5E5257727}"/>
              </a:ext>
            </a:extLst>
          </p:cNvPr>
          <p:cNvSpPr/>
          <p:nvPr/>
        </p:nvSpPr>
        <p:spPr>
          <a:xfrm>
            <a:off x="5490114" y="3624145"/>
            <a:ext cx="6062550" cy="24532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CBCF73-5F66-647F-6592-287B6C529CAD}"/>
              </a:ext>
            </a:extLst>
          </p:cNvPr>
          <p:cNvSpPr/>
          <p:nvPr/>
        </p:nvSpPr>
        <p:spPr>
          <a:xfrm>
            <a:off x="607321" y="1114881"/>
            <a:ext cx="4522240" cy="15837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71B89F9-5B44-532F-E5C5-E2ECD72FB535}"/>
              </a:ext>
            </a:extLst>
          </p:cNvPr>
          <p:cNvSpPr txBox="1">
            <a:spLocks/>
          </p:cNvSpPr>
          <p:nvPr/>
        </p:nvSpPr>
        <p:spPr>
          <a:xfrm>
            <a:off x="802888" y="1139612"/>
            <a:ext cx="4371277" cy="157013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Implementation of classes: </a:t>
            </a:r>
            <a:r>
              <a:rPr lang="en-US" dirty="0"/>
              <a:t>separate classes for general setup &amp; analysis, the team, and individual athlete.</a:t>
            </a:r>
          </a:p>
          <a:p>
            <a:r>
              <a:rPr lang="en-US" b="1" dirty="0"/>
              <a:t>Remove keyboard input</a:t>
            </a:r>
            <a:r>
              <a:rPr lang="en-US" dirty="0"/>
              <a:t>: user will now have a file read into the program containing all necessary athlete data. If file is not found,  a message is displayed.</a:t>
            </a:r>
          </a:p>
          <a:p>
            <a:r>
              <a:rPr lang="en-US" dirty="0"/>
              <a:t>User can now </a:t>
            </a:r>
            <a:r>
              <a:rPr lang="en-US" b="1" dirty="0"/>
              <a:t>save output </a:t>
            </a:r>
            <a:r>
              <a:rPr lang="en-US" dirty="0"/>
              <a:t>of program.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5A045E9-7560-C0B7-8AD6-0FE8A1B81BCC}"/>
              </a:ext>
            </a:extLst>
          </p:cNvPr>
          <p:cNvSpPr/>
          <p:nvPr/>
        </p:nvSpPr>
        <p:spPr>
          <a:xfrm>
            <a:off x="620751" y="3564673"/>
            <a:ext cx="2200508" cy="88466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Multiple classes help support SRP by ensuring each class has its specific thematic role. 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FB49610-3840-40C8-4EDD-170C95A3ADF9}"/>
              </a:ext>
            </a:extLst>
          </p:cNvPr>
          <p:cNvSpPr/>
          <p:nvPr/>
        </p:nvSpPr>
        <p:spPr>
          <a:xfrm>
            <a:off x="2858431" y="4516243"/>
            <a:ext cx="2304584" cy="92555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Classes supports DRY by removing any repeated calculations and condensing them into the methods for the class.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2015E66-6DED-41AF-F8B0-9344310D0983}"/>
              </a:ext>
            </a:extLst>
          </p:cNvPr>
          <p:cNvSpPr/>
          <p:nvPr/>
        </p:nvSpPr>
        <p:spPr>
          <a:xfrm>
            <a:off x="617035" y="5564457"/>
            <a:ext cx="2226526" cy="117088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Set team size in program ensures consistent analysis across multiple teams. Ability to save report is beneficial for program usability.</a:t>
            </a:r>
          </a:p>
        </p:txBody>
      </p:sp>
      <p:pic>
        <p:nvPicPr>
          <p:cNvPr id="30" name="Graphic 29" descr="Folder with solid fill">
            <a:extLst>
              <a:ext uri="{FF2B5EF4-FFF2-40B4-BE49-F238E27FC236}">
                <a16:creationId xmlns:a16="http://schemas.microsoft.com/office/drawing/2014/main" id="{D074F4B6-CDCD-09F3-B9FD-5D0A8DAD6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440" y="1037062"/>
            <a:ext cx="485078" cy="485078"/>
          </a:xfrm>
          <a:prstGeom prst="rect">
            <a:avLst/>
          </a:prstGeom>
        </p:spPr>
      </p:pic>
      <p:pic>
        <p:nvPicPr>
          <p:cNvPr id="32" name="Graphic 31" descr="Keyboard with solid fill">
            <a:extLst>
              <a:ext uri="{FF2B5EF4-FFF2-40B4-BE49-F238E27FC236}">
                <a16:creationId xmlns:a16="http://schemas.microsoft.com/office/drawing/2014/main" id="{E8B645A6-C6F2-6541-4B98-BB3D70DE63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449" y="1706136"/>
            <a:ext cx="518531" cy="518531"/>
          </a:xfrm>
          <a:prstGeom prst="rect">
            <a:avLst/>
          </a:prstGeom>
        </p:spPr>
      </p:pic>
      <p:pic>
        <p:nvPicPr>
          <p:cNvPr id="34" name="Graphic 33" descr="Download with solid fill">
            <a:extLst>
              <a:ext uri="{FF2B5EF4-FFF2-40B4-BE49-F238E27FC236}">
                <a16:creationId xmlns:a16="http://schemas.microsoft.com/office/drawing/2014/main" id="{EE4DA21E-6966-6CEB-A642-D3552C9A8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297" y="2254404"/>
            <a:ext cx="416313" cy="416313"/>
          </a:xfrm>
          <a:prstGeom prst="rect">
            <a:avLst/>
          </a:prstGeom>
        </p:spPr>
      </p:pic>
      <p:pic>
        <p:nvPicPr>
          <p:cNvPr id="40" name="Graphic 39" descr="Classroom with solid fill">
            <a:extLst>
              <a:ext uri="{FF2B5EF4-FFF2-40B4-BE49-F238E27FC236}">
                <a16:creationId xmlns:a16="http://schemas.microsoft.com/office/drawing/2014/main" id="{1CC5ABDF-76C4-B7F6-056E-B1C04CC8CC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8127" y="3495908"/>
            <a:ext cx="914400" cy="914400"/>
          </a:xfrm>
          <a:prstGeom prst="rect">
            <a:avLst/>
          </a:prstGeom>
        </p:spPr>
      </p:pic>
      <p:pic>
        <p:nvPicPr>
          <p:cNvPr id="46" name="Graphic 45" descr="Repeat with solid fill">
            <a:extLst>
              <a:ext uri="{FF2B5EF4-FFF2-40B4-BE49-F238E27FC236}">
                <a16:creationId xmlns:a16="http://schemas.microsoft.com/office/drawing/2014/main" id="{3255E7BF-0089-F283-8791-83FE56172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346" y="4532971"/>
            <a:ext cx="914400" cy="914400"/>
          </a:xfrm>
          <a:prstGeom prst="rect">
            <a:avLst/>
          </a:prstGeom>
        </p:spPr>
      </p:pic>
      <p:pic>
        <p:nvPicPr>
          <p:cNvPr id="48" name="Graphic 47" descr="Clipboard Checked with solid fill">
            <a:extLst>
              <a:ext uri="{FF2B5EF4-FFF2-40B4-BE49-F238E27FC236}">
                <a16:creationId xmlns:a16="http://schemas.microsoft.com/office/drawing/2014/main" id="{22D8035B-ED2E-9C59-D85D-5480674F1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8264" y="5692697"/>
            <a:ext cx="914400" cy="914400"/>
          </a:xfrm>
          <a:prstGeom prst="rect">
            <a:avLst/>
          </a:prstGeom>
        </p:spPr>
      </p:pic>
      <p:pic>
        <p:nvPicPr>
          <p:cNvPr id="50" name="Graphic 49" descr="Inbox Check with solid fill">
            <a:extLst>
              <a:ext uri="{FF2B5EF4-FFF2-40B4-BE49-F238E27FC236}">
                <a16:creationId xmlns:a16="http://schemas.microsoft.com/office/drawing/2014/main" id="{22731FBF-262B-EE20-E095-A7F1B4A3B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65396" y="57038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0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9FB5595-8F44-A7EB-7C12-833BC62CA0B2}"/>
              </a:ext>
            </a:extLst>
          </p:cNvPr>
          <p:cNvSpPr/>
          <p:nvPr/>
        </p:nvSpPr>
        <p:spPr>
          <a:xfrm>
            <a:off x="264176" y="1096295"/>
            <a:ext cx="6425382" cy="54809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9268B-1DA5-623C-52E0-2184B328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304295" cy="623476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structures &amp; application: Decision structures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BE017D-B181-C3AF-8953-389F69FEAE18}"/>
              </a:ext>
            </a:extLst>
          </p:cNvPr>
          <p:cNvSpPr/>
          <p:nvPr/>
        </p:nvSpPr>
        <p:spPr>
          <a:xfrm>
            <a:off x="272197" y="1104316"/>
            <a:ext cx="6425382" cy="17351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34D076-3AA6-CF2A-9811-EEABAA596B32}"/>
              </a:ext>
            </a:extLst>
          </p:cNvPr>
          <p:cNvSpPr/>
          <p:nvPr/>
        </p:nvSpPr>
        <p:spPr>
          <a:xfrm>
            <a:off x="265060" y="2238023"/>
            <a:ext cx="6425382" cy="6018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1D8E-5638-6A6E-72D1-82564D026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887" y="1157196"/>
            <a:ext cx="6416839" cy="1184952"/>
          </a:xfrm>
        </p:spPr>
        <p:txBody>
          <a:bodyPr>
            <a:normAutofit/>
          </a:bodyPr>
          <a:lstStyle/>
          <a:p>
            <a:r>
              <a:rPr lang="en-US" dirty="0"/>
              <a:t>Used when multiple conditions are true at the same time for one variable. </a:t>
            </a:r>
          </a:p>
          <a:p>
            <a:r>
              <a:rPr lang="en-US" dirty="0"/>
              <a:t>Signs to use: when &gt;= &lt;= is involved.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E1F044-F419-B4D7-6700-9D4BB081C21E}"/>
              </a:ext>
            </a:extLst>
          </p:cNvPr>
          <p:cNvSpPr txBox="1">
            <a:spLocks/>
          </p:cNvSpPr>
          <p:nvPr/>
        </p:nvSpPr>
        <p:spPr>
          <a:xfrm>
            <a:off x="290522" y="2269515"/>
            <a:ext cx="6302783" cy="5699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Application in PI02: </a:t>
            </a:r>
            <a:r>
              <a:rPr lang="en-US" dirty="0"/>
              <a:t>Used to efficiently assign BMI category to an athlete (following DRY)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A7EDEE-1856-8B77-B23B-66EA51193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47" y="2984835"/>
            <a:ext cx="4191335" cy="3225774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3830D2B-9495-34A7-0DD9-D59D9AFC8FC2}"/>
              </a:ext>
            </a:extLst>
          </p:cNvPr>
          <p:cNvSpPr/>
          <p:nvPr/>
        </p:nvSpPr>
        <p:spPr>
          <a:xfrm>
            <a:off x="8053136" y="1283369"/>
            <a:ext cx="2454443" cy="112294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Given: </a:t>
            </a:r>
          </a:p>
          <a:p>
            <a:pPr algn="ctr"/>
            <a:r>
              <a:rPr lang="en-US" dirty="0" err="1">
                <a:solidFill>
                  <a:srgbClr val="FFFF00"/>
                </a:solidFill>
              </a:rPr>
              <a:t>bmiValue</a:t>
            </a:r>
            <a:r>
              <a:rPr lang="en-US" dirty="0"/>
              <a:t>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double</a:t>
            </a:r>
          </a:p>
          <a:p>
            <a:pPr algn="ctr"/>
            <a:r>
              <a:rPr lang="en-US" dirty="0">
                <a:solidFill>
                  <a:srgbClr val="F3EC79"/>
                </a:solidFill>
              </a:rPr>
              <a:t>Category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“Normal”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1EA216-1894-4DB5-1A6D-AC84DE0184E3}"/>
              </a:ext>
            </a:extLst>
          </p:cNvPr>
          <p:cNvSpPr/>
          <p:nvPr/>
        </p:nvSpPr>
        <p:spPr>
          <a:xfrm>
            <a:off x="6970293" y="2662989"/>
            <a:ext cx="2125580" cy="657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00"/>
                </a:solidFill>
              </a:rPr>
              <a:t>bmiValue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&gt;=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30.00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9237B0E-9734-3415-8629-9882D7FE500A}"/>
              </a:ext>
            </a:extLst>
          </p:cNvPr>
          <p:cNvSpPr/>
          <p:nvPr/>
        </p:nvSpPr>
        <p:spPr>
          <a:xfrm>
            <a:off x="9464842" y="2630905"/>
            <a:ext cx="2085475" cy="65772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00"/>
                </a:solidFill>
              </a:rPr>
              <a:t>bmiValue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/>
              <a:t>&lt;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18.5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656D6BD-9794-9928-CFC0-9905E18A0F57}"/>
              </a:ext>
            </a:extLst>
          </p:cNvPr>
          <p:cNvSpPr/>
          <p:nvPr/>
        </p:nvSpPr>
        <p:spPr>
          <a:xfrm>
            <a:off x="6962274" y="5374106"/>
            <a:ext cx="4620126" cy="73793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-program </a:t>
            </a:r>
            <a:r>
              <a:rPr lang="en-US" b="1" dirty="0">
                <a:solidFill>
                  <a:srgbClr val="FF0000"/>
                </a:solidFill>
              </a:rPr>
              <a:t>ignores</a:t>
            </a:r>
            <a:r>
              <a:rPr lang="en-US" dirty="0"/>
              <a:t> if/else statements</a:t>
            </a:r>
          </a:p>
          <a:p>
            <a:pPr algn="ctr"/>
            <a:r>
              <a:rPr lang="en-US" dirty="0">
                <a:solidFill>
                  <a:srgbClr val="F3EC79"/>
                </a:solidFill>
              </a:rPr>
              <a:t>Category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“Normal”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151532F-B225-8613-BFCB-59AB1696D820}"/>
              </a:ext>
            </a:extLst>
          </p:cNvPr>
          <p:cNvSpPr/>
          <p:nvPr/>
        </p:nvSpPr>
        <p:spPr>
          <a:xfrm>
            <a:off x="6946390" y="3424989"/>
            <a:ext cx="2133602" cy="657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3EC79"/>
                </a:solidFill>
              </a:rPr>
              <a:t>Category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“High”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1C082D-7A25-CBB3-4B8E-18223C37427A}"/>
              </a:ext>
            </a:extLst>
          </p:cNvPr>
          <p:cNvSpPr/>
          <p:nvPr/>
        </p:nvSpPr>
        <p:spPr>
          <a:xfrm>
            <a:off x="9440776" y="3416968"/>
            <a:ext cx="2141623" cy="657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3EC79"/>
                </a:solidFill>
              </a:rPr>
              <a:t>Category</a:t>
            </a:r>
            <a:r>
              <a:rPr lang="en-US" sz="1500" dirty="0"/>
              <a:t>=</a:t>
            </a:r>
            <a:r>
              <a:rPr lang="en-US" sz="1500" dirty="0">
                <a:solidFill>
                  <a:srgbClr val="00B050"/>
                </a:solidFill>
              </a:rPr>
              <a:t>“Underweight”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010669B-2526-9A0F-664E-BD7665A050FB}"/>
              </a:ext>
            </a:extLst>
          </p:cNvPr>
          <p:cNvSpPr/>
          <p:nvPr/>
        </p:nvSpPr>
        <p:spPr>
          <a:xfrm>
            <a:off x="6978316" y="4547937"/>
            <a:ext cx="4604083" cy="65772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FF00"/>
                </a:solidFill>
              </a:rPr>
              <a:t>bmiValue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&gt;=30.00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 &lt;18.5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FA73712-E162-D68F-D84F-58BB7AB87AB5}"/>
              </a:ext>
            </a:extLst>
          </p:cNvPr>
          <p:cNvSpPr txBox="1">
            <a:spLocks/>
          </p:cNvSpPr>
          <p:nvPr/>
        </p:nvSpPr>
        <p:spPr>
          <a:xfrm>
            <a:off x="8223344" y="6183790"/>
            <a:ext cx="4281478" cy="674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Flowchart of method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AD81ED-0FDC-A45F-F8D8-3B4430B9D183}"/>
              </a:ext>
            </a:extLst>
          </p:cNvPr>
          <p:cNvSpPr/>
          <p:nvPr/>
        </p:nvSpPr>
        <p:spPr>
          <a:xfrm>
            <a:off x="282067" y="732188"/>
            <a:ext cx="6423533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Multi-way if/else statements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AD0E731-6C6A-ADCA-B433-E8EBDB30B480}"/>
              </a:ext>
            </a:extLst>
          </p:cNvPr>
          <p:cNvSpPr txBox="1">
            <a:spLocks/>
          </p:cNvSpPr>
          <p:nvPr/>
        </p:nvSpPr>
        <p:spPr>
          <a:xfrm>
            <a:off x="1253049" y="6183790"/>
            <a:ext cx="4281478" cy="674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PI02 lines 198-211 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B39792-8201-A9E4-0760-5340D354DC2D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9280358" y="2406316"/>
            <a:ext cx="0" cy="2141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FE9693-DEEC-4C56-47EA-871A1227AD58}"/>
              </a:ext>
            </a:extLst>
          </p:cNvPr>
          <p:cNvCxnSpPr>
            <a:stCxn id="17" idx="2"/>
            <a:endCxn id="14" idx="0"/>
          </p:cNvCxnSpPr>
          <p:nvPr/>
        </p:nvCxnSpPr>
        <p:spPr>
          <a:xfrm flipH="1">
            <a:off x="9272337" y="5205665"/>
            <a:ext cx="8021" cy="168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144A4A67-D5F5-3FAB-74F9-0F0153000A76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>
            <a:off x="10507579" y="1844843"/>
            <a:ext cx="1" cy="786062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51E94E58-D568-0B5C-B390-EE77B3FC760C}"/>
              </a:ext>
            </a:extLst>
          </p:cNvPr>
          <p:cNvCxnSpPr/>
          <p:nvPr/>
        </p:nvCxnSpPr>
        <p:spPr>
          <a:xfrm>
            <a:off x="8053939" y="1878371"/>
            <a:ext cx="1" cy="786062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1A9D93-3876-90B8-8F62-CC18E7AC4EB9}"/>
              </a:ext>
            </a:extLst>
          </p:cNvPr>
          <p:cNvCxnSpPr/>
          <p:nvPr/>
        </p:nvCxnSpPr>
        <p:spPr>
          <a:xfrm>
            <a:off x="8185483" y="3473117"/>
            <a:ext cx="44116" cy="104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14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ECDA-4322-BFFD-51AD-D881D39A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B49F-2638-8744-4AA8-E199270B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3476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structures &amp; application: loops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CD5DBE-38F6-64F8-ABF0-2A3565EF6428}"/>
              </a:ext>
            </a:extLst>
          </p:cNvPr>
          <p:cNvSpPr/>
          <p:nvPr/>
        </p:nvSpPr>
        <p:spPr>
          <a:xfrm>
            <a:off x="71086" y="708102"/>
            <a:ext cx="11971562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loop statements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3F4590-2CA2-880D-7740-785A47577794}"/>
              </a:ext>
            </a:extLst>
          </p:cNvPr>
          <p:cNvSpPr/>
          <p:nvPr/>
        </p:nvSpPr>
        <p:spPr>
          <a:xfrm>
            <a:off x="73788" y="1055556"/>
            <a:ext cx="11978004" cy="19893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67B43-64F2-DE52-2F4B-2BC6D79A3B85}"/>
              </a:ext>
            </a:extLst>
          </p:cNvPr>
          <p:cNvSpPr/>
          <p:nvPr/>
        </p:nvSpPr>
        <p:spPr>
          <a:xfrm>
            <a:off x="71778" y="1046189"/>
            <a:ext cx="11970869" cy="10935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B3E63-C5B9-CA8A-C93B-B29B757F027B}"/>
              </a:ext>
            </a:extLst>
          </p:cNvPr>
          <p:cNvSpPr txBox="1">
            <a:spLocks/>
          </p:cNvSpPr>
          <p:nvPr/>
        </p:nvSpPr>
        <p:spPr>
          <a:xfrm>
            <a:off x="0" y="1085907"/>
            <a:ext cx="12051792" cy="1090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Repeats an action a predetermined number of times based on the count parameters. </a:t>
            </a:r>
          </a:p>
          <a:p>
            <a:r>
              <a:rPr lang="en-US" b="1" dirty="0"/>
              <a:t>Signs to use</a:t>
            </a:r>
            <a:r>
              <a:rPr lang="en-US" dirty="0"/>
              <a:t>: when you know how many times you would like to execute the same line of code, when you would like to display items in an array.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ACB09A-E843-C710-9C65-78EC55CF7BA4}"/>
              </a:ext>
            </a:extLst>
          </p:cNvPr>
          <p:cNvSpPr/>
          <p:nvPr/>
        </p:nvSpPr>
        <p:spPr>
          <a:xfrm>
            <a:off x="81510" y="2143489"/>
            <a:ext cx="11961138" cy="5575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20EF703-6D5A-E1B9-1847-05D11EF26800}"/>
              </a:ext>
            </a:extLst>
          </p:cNvPr>
          <p:cNvSpPr txBox="1">
            <a:spLocks/>
          </p:cNvSpPr>
          <p:nvPr/>
        </p:nvSpPr>
        <p:spPr>
          <a:xfrm>
            <a:off x="64008" y="2253606"/>
            <a:ext cx="12051792" cy="57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Application in PI02: </a:t>
            </a:r>
            <a:r>
              <a:rPr lang="en-US" dirty="0"/>
              <a:t>Used to efficiently display athlete analysis (following DRY- “don’t repeat yourself”)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85E1243-F4F2-7C64-3050-A6C9BDDFDA33}"/>
              </a:ext>
            </a:extLst>
          </p:cNvPr>
          <p:cNvSpPr txBox="1">
            <a:spLocks/>
          </p:cNvSpPr>
          <p:nvPr/>
        </p:nvSpPr>
        <p:spPr>
          <a:xfrm>
            <a:off x="0" y="2678516"/>
            <a:ext cx="4281478" cy="674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Example: PI02 lines 297-202 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4D444F-DE3E-14EE-3CF2-C844DE2F7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" t="-580" r="73" b="547"/>
          <a:stretch>
            <a:fillRect/>
          </a:stretch>
        </p:blipFill>
        <p:spPr>
          <a:xfrm>
            <a:off x="1110363" y="3995928"/>
            <a:ext cx="9699343" cy="2313432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00A63DD-D67F-F13D-7B52-1D4CEE284DB0}"/>
              </a:ext>
            </a:extLst>
          </p:cNvPr>
          <p:cNvSpPr txBox="1">
            <a:spLocks/>
          </p:cNvSpPr>
          <p:nvPr/>
        </p:nvSpPr>
        <p:spPr>
          <a:xfrm>
            <a:off x="2441449" y="3483864"/>
            <a:ext cx="1371600" cy="379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C06BF468-B617-8DA9-B5F0-55B486221BA9}"/>
              </a:ext>
            </a:extLst>
          </p:cNvPr>
          <p:cNvSpPr/>
          <p:nvPr/>
        </p:nvSpPr>
        <p:spPr>
          <a:xfrm>
            <a:off x="1746504" y="3858768"/>
            <a:ext cx="173736" cy="105156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5AE3EB7-A705-53C8-77EE-EE48B36812A8}"/>
              </a:ext>
            </a:extLst>
          </p:cNvPr>
          <p:cNvSpPr/>
          <p:nvPr/>
        </p:nvSpPr>
        <p:spPr>
          <a:xfrm>
            <a:off x="621792" y="3840480"/>
            <a:ext cx="1298448" cy="15544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Begin for loop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CAB7C10E-3D01-3CDD-F958-9F9856F4F8AB}"/>
              </a:ext>
            </a:extLst>
          </p:cNvPr>
          <p:cNvSpPr/>
          <p:nvPr/>
        </p:nvSpPr>
        <p:spPr>
          <a:xfrm>
            <a:off x="2731008" y="4005072"/>
            <a:ext cx="185928" cy="91135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AB10458-8380-DF3F-DC0C-72E8A3557CB1}"/>
              </a:ext>
            </a:extLst>
          </p:cNvPr>
          <p:cNvSpPr/>
          <p:nvPr/>
        </p:nvSpPr>
        <p:spPr>
          <a:xfrm>
            <a:off x="2304288" y="3557016"/>
            <a:ext cx="1207008" cy="457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Initialize &amp; assign int I to 0 (counting variable)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8412171A-C90B-AF94-D013-BFAC3F814B3B}"/>
              </a:ext>
            </a:extLst>
          </p:cNvPr>
          <p:cNvSpPr/>
          <p:nvPr/>
        </p:nvSpPr>
        <p:spPr>
          <a:xfrm>
            <a:off x="3678936" y="3983736"/>
            <a:ext cx="176784" cy="893064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34FEA84-FC75-329D-2A8F-FD4B5EC39B84}"/>
              </a:ext>
            </a:extLst>
          </p:cNvPr>
          <p:cNvSpPr/>
          <p:nvPr/>
        </p:nvSpPr>
        <p:spPr>
          <a:xfrm>
            <a:off x="3672840" y="3544824"/>
            <a:ext cx="1767840" cy="457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Repeat loop while value of I is less than the value of </a:t>
            </a:r>
            <a:r>
              <a:rPr lang="en-US" sz="1000" dirty="0" err="1">
                <a:solidFill>
                  <a:schemeClr val="tx1"/>
                </a:solidFill>
              </a:rPr>
              <a:t>athleteCount</a:t>
            </a:r>
            <a:r>
              <a:rPr lang="en-US" sz="1000" dirty="0">
                <a:solidFill>
                  <a:schemeClr val="tx1"/>
                </a:solidFill>
              </a:rPr>
              <a:t> (also an int)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7C89F7-F597-B6A6-C283-53CA25CF50A6}"/>
              </a:ext>
            </a:extLst>
          </p:cNvPr>
          <p:cNvSpPr/>
          <p:nvPr/>
        </p:nvSpPr>
        <p:spPr>
          <a:xfrm>
            <a:off x="5526024" y="3550920"/>
            <a:ext cx="1158240" cy="457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Increase value of I AFTER each loop</a:t>
            </a:r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617A20EE-1A60-4D33-ABD8-D8072D782D83}"/>
              </a:ext>
            </a:extLst>
          </p:cNvPr>
          <p:cNvSpPr/>
          <p:nvPr/>
        </p:nvSpPr>
        <p:spPr>
          <a:xfrm>
            <a:off x="5916168" y="3998976"/>
            <a:ext cx="176784" cy="893064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A810638-4246-2302-319E-63383F841F56}"/>
              </a:ext>
            </a:extLst>
          </p:cNvPr>
          <p:cNvSpPr/>
          <p:nvPr/>
        </p:nvSpPr>
        <p:spPr>
          <a:xfrm>
            <a:off x="2231136" y="5961888"/>
            <a:ext cx="1158240" cy="457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In the athlete array, at index location </a:t>
            </a:r>
            <a:r>
              <a:rPr lang="en-US" sz="1000" dirty="0" err="1">
                <a:solidFill>
                  <a:schemeClr val="tx1"/>
                </a:solidFill>
              </a:rPr>
              <a:t>i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3B57C90-13A0-0C7F-41B4-A1307A2022C3}"/>
              </a:ext>
            </a:extLst>
          </p:cNvPr>
          <p:cNvSpPr/>
          <p:nvPr/>
        </p:nvSpPr>
        <p:spPr>
          <a:xfrm>
            <a:off x="3672840" y="5967984"/>
            <a:ext cx="1383792" cy="457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Carry out </a:t>
            </a:r>
            <a:r>
              <a:rPr lang="en-US" sz="1000" dirty="0" err="1">
                <a:solidFill>
                  <a:schemeClr val="tx1"/>
                </a:solidFill>
              </a:rPr>
              <a:t>displayAthleteAnalysis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C98E9DC8-0930-2D50-2DE9-320AFDA99C00}"/>
              </a:ext>
            </a:extLst>
          </p:cNvPr>
          <p:cNvSpPr/>
          <p:nvPr/>
        </p:nvSpPr>
        <p:spPr>
          <a:xfrm rot="10800000">
            <a:off x="3041904" y="5647944"/>
            <a:ext cx="213360" cy="313944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23B18F8C-3B91-8BAA-BE47-57ED6C214E8A}"/>
              </a:ext>
            </a:extLst>
          </p:cNvPr>
          <p:cNvSpPr/>
          <p:nvPr/>
        </p:nvSpPr>
        <p:spPr>
          <a:xfrm rot="10800000">
            <a:off x="4053840" y="5654040"/>
            <a:ext cx="213360" cy="313944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62F37BF7-C3D9-11CC-A90A-6A8D9AE87533}"/>
              </a:ext>
            </a:extLst>
          </p:cNvPr>
          <p:cNvSpPr/>
          <p:nvPr/>
        </p:nvSpPr>
        <p:spPr>
          <a:xfrm rot="5400000">
            <a:off x="6635496" y="4544568"/>
            <a:ext cx="176784" cy="893064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1E70B1CE-8A90-1B07-FD88-71E1E16DED58}"/>
              </a:ext>
            </a:extLst>
          </p:cNvPr>
          <p:cNvSpPr/>
          <p:nvPr/>
        </p:nvSpPr>
        <p:spPr>
          <a:xfrm rot="5400000">
            <a:off x="7427976" y="5099304"/>
            <a:ext cx="176784" cy="893064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FC43FCE-5050-94C1-7F35-BC66C05EE230}"/>
              </a:ext>
            </a:extLst>
          </p:cNvPr>
          <p:cNvSpPr/>
          <p:nvPr/>
        </p:nvSpPr>
        <p:spPr>
          <a:xfrm>
            <a:off x="7162800" y="4657344"/>
            <a:ext cx="2630424" cy="457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Parameters/condition for the loop to continue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CABA5B3-0564-5824-E0A5-E69EE703A917}"/>
              </a:ext>
            </a:extLst>
          </p:cNvPr>
          <p:cNvSpPr/>
          <p:nvPr/>
        </p:nvSpPr>
        <p:spPr>
          <a:xfrm>
            <a:off x="7958328" y="5462016"/>
            <a:ext cx="2200656" cy="457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What action is being repeated/looped</a:t>
            </a:r>
          </a:p>
        </p:txBody>
      </p:sp>
    </p:spTree>
    <p:extLst>
      <p:ext uri="{BB962C8B-B14F-4D97-AF65-F5344CB8AC3E}">
        <p14:creationId xmlns:p14="http://schemas.microsoft.com/office/powerpoint/2010/main" val="148864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E7B7-BD5D-23AD-B1BC-0C976C0D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649" y="159622"/>
            <a:ext cx="7729728" cy="724961"/>
          </a:xfrm>
        </p:spPr>
        <p:txBody>
          <a:bodyPr>
            <a:normAutofit fontScale="90000"/>
          </a:bodyPr>
          <a:lstStyle/>
          <a:p>
            <a:r>
              <a:rPr lang="en-US" dirty="0"/>
              <a:t>Agile software development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9C991-21C6-BF74-F423-C75209A4CF22}"/>
              </a:ext>
            </a:extLst>
          </p:cNvPr>
          <p:cNvSpPr/>
          <p:nvPr/>
        </p:nvSpPr>
        <p:spPr>
          <a:xfrm>
            <a:off x="218662" y="1060179"/>
            <a:ext cx="4949686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Test-cases and Their Benefits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626569-2244-F1B0-A5BB-C19C137CCAC4}"/>
              </a:ext>
            </a:extLst>
          </p:cNvPr>
          <p:cNvSpPr/>
          <p:nvPr/>
        </p:nvSpPr>
        <p:spPr>
          <a:xfrm>
            <a:off x="5983357" y="1013797"/>
            <a:ext cx="5489714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Example: PI01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E50AB8-CE5B-8C33-9AA6-446725CD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860" y="1459500"/>
            <a:ext cx="5596227" cy="49711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3E8333-CBDE-4E59-2D81-9EDF3EE9417D}"/>
              </a:ext>
            </a:extLst>
          </p:cNvPr>
          <p:cNvSpPr/>
          <p:nvPr/>
        </p:nvSpPr>
        <p:spPr>
          <a:xfrm>
            <a:off x="213995" y="1522694"/>
            <a:ext cx="4964291" cy="487810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EB07F-A29B-67CA-C108-CDB6253F643B}"/>
              </a:ext>
            </a:extLst>
          </p:cNvPr>
          <p:cNvSpPr/>
          <p:nvPr/>
        </p:nvSpPr>
        <p:spPr>
          <a:xfrm>
            <a:off x="217308" y="1516069"/>
            <a:ext cx="4964291" cy="1684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18E691-EB65-81D2-4D61-768134413883}"/>
              </a:ext>
            </a:extLst>
          </p:cNvPr>
          <p:cNvSpPr txBox="1">
            <a:spLocks/>
          </p:cNvSpPr>
          <p:nvPr/>
        </p:nvSpPr>
        <p:spPr>
          <a:xfrm>
            <a:off x="218661" y="1550504"/>
            <a:ext cx="3150704" cy="1639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Breaking down a problem:</a:t>
            </a:r>
          </a:p>
          <a:p>
            <a:pPr marL="0" indent="0">
              <a:buNone/>
            </a:pPr>
            <a:r>
              <a:rPr lang="en-US" b="1" dirty="0"/>
              <a:t>Noticed: </a:t>
            </a:r>
            <a:r>
              <a:rPr lang="en-US" dirty="0"/>
              <a:t>Multiple user stories in PI01 need integer inputs, need to validate this input.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Solution:</a:t>
            </a:r>
            <a:r>
              <a:rPr lang="en-US" b="1" dirty="0"/>
              <a:t> </a:t>
            </a:r>
            <a:r>
              <a:rPr lang="en-US" dirty="0"/>
              <a:t>make a method for validating integer inputs, helps contribute to DRY, enhances readability,</a:t>
            </a:r>
          </a:p>
        </p:txBody>
      </p:sp>
      <p:pic>
        <p:nvPicPr>
          <p:cNvPr id="14" name="Graphic 13" descr="Decision chart with solid fill">
            <a:extLst>
              <a:ext uri="{FF2B5EF4-FFF2-40B4-BE49-F238E27FC236}">
                <a16:creationId xmlns:a16="http://schemas.microsoft.com/office/drawing/2014/main" id="{6AACEDD2-D5AB-EF55-5508-0B6786B09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0913" y="1683025"/>
            <a:ext cx="1338470" cy="133847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06DFA5-2AC9-D283-4634-E635B7E88226}"/>
              </a:ext>
            </a:extLst>
          </p:cNvPr>
          <p:cNvSpPr txBox="1">
            <a:spLocks/>
          </p:cNvSpPr>
          <p:nvPr/>
        </p:nvSpPr>
        <p:spPr>
          <a:xfrm>
            <a:off x="203478" y="3210691"/>
            <a:ext cx="4706452" cy="136130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 cases: should include your </a:t>
            </a:r>
            <a:r>
              <a:rPr lang="en-US" b="1" dirty="0"/>
              <a:t>precondition</a:t>
            </a:r>
            <a:r>
              <a:rPr lang="en-US" dirty="0"/>
              <a:t>, a positive or </a:t>
            </a:r>
            <a:r>
              <a:rPr lang="en-US" b="1" dirty="0"/>
              <a:t>correct</a:t>
            </a:r>
            <a:r>
              <a:rPr lang="en-US" dirty="0"/>
              <a:t> test case and negative or </a:t>
            </a:r>
            <a:r>
              <a:rPr lang="en-US" b="1" dirty="0"/>
              <a:t>incorrect </a:t>
            </a:r>
            <a:r>
              <a:rPr lang="en-US" dirty="0"/>
              <a:t>test case.</a:t>
            </a:r>
          </a:p>
          <a:p>
            <a:pPr lvl="1"/>
            <a:r>
              <a:rPr lang="en-US" dirty="0"/>
              <a:t>Helps understand and plan for </a:t>
            </a:r>
            <a:r>
              <a:rPr lang="en-US" b="1" dirty="0"/>
              <a:t>errors </a:t>
            </a:r>
            <a:r>
              <a:rPr lang="en-US" dirty="0"/>
              <a:t>when coding.</a:t>
            </a:r>
          </a:p>
          <a:p>
            <a:pPr lvl="1"/>
            <a:r>
              <a:rPr lang="en-US" dirty="0"/>
              <a:t>Sets foundation for </a:t>
            </a:r>
            <a:r>
              <a:rPr lang="en-US" b="1" dirty="0"/>
              <a:t>design outline </a:t>
            </a:r>
            <a:r>
              <a:rPr lang="en-US" dirty="0"/>
              <a:t>using </a:t>
            </a:r>
            <a:r>
              <a:rPr lang="en-US" b="1" dirty="0"/>
              <a:t>pseudocode.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A41354-FB3A-70F6-7B04-E1EE6D56BAB0}"/>
              </a:ext>
            </a:extLst>
          </p:cNvPr>
          <p:cNvSpPr/>
          <p:nvPr/>
        </p:nvSpPr>
        <p:spPr>
          <a:xfrm>
            <a:off x="318053" y="4850295"/>
            <a:ext cx="1143000" cy="94421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Precondition: “What do you need defined for your task?”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9950E3B-67AD-9B3E-F913-A5485AB418CC}"/>
              </a:ext>
            </a:extLst>
          </p:cNvPr>
          <p:cNvSpPr/>
          <p:nvPr/>
        </p:nvSpPr>
        <p:spPr>
          <a:xfrm>
            <a:off x="1683027" y="4581937"/>
            <a:ext cx="1994451" cy="56653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Positive test case: “what entry would result in your intended output?”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C65E3A-9D78-E01F-2BAD-8420EF23C412}"/>
              </a:ext>
            </a:extLst>
          </p:cNvPr>
          <p:cNvSpPr/>
          <p:nvPr/>
        </p:nvSpPr>
        <p:spPr>
          <a:xfrm>
            <a:off x="1689653" y="5357191"/>
            <a:ext cx="1898374" cy="62285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Negative test case: “What incorrect entries would need to be redirected?”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9E17212-8489-FEE8-054A-0D12DE4D558A}"/>
              </a:ext>
            </a:extLst>
          </p:cNvPr>
          <p:cNvSpPr/>
          <p:nvPr/>
        </p:nvSpPr>
        <p:spPr>
          <a:xfrm>
            <a:off x="3816628" y="4850296"/>
            <a:ext cx="1292085" cy="934277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Postcondition: ”what is your goal or expected output”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F6BE774-065D-EBEC-30F4-E23C93F6664E}"/>
              </a:ext>
            </a:extLst>
          </p:cNvPr>
          <p:cNvSpPr/>
          <p:nvPr/>
        </p:nvSpPr>
        <p:spPr>
          <a:xfrm>
            <a:off x="1451114" y="4740965"/>
            <a:ext cx="248478" cy="117281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B465932-88EA-5421-DA79-C29D831FC1BF}"/>
              </a:ext>
            </a:extLst>
          </p:cNvPr>
          <p:cNvSpPr/>
          <p:nvPr/>
        </p:nvSpPr>
        <p:spPr>
          <a:xfrm>
            <a:off x="3727174" y="4691270"/>
            <a:ext cx="45719" cy="121257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Badge Tick1 with solid fill">
            <a:extLst>
              <a:ext uri="{FF2B5EF4-FFF2-40B4-BE49-F238E27FC236}">
                <a16:creationId xmlns:a16="http://schemas.microsoft.com/office/drawing/2014/main" id="{71F8399C-ACBD-7661-735C-B13659B372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4608" y="4366590"/>
            <a:ext cx="384314" cy="384314"/>
          </a:xfrm>
          <a:prstGeom prst="rect">
            <a:avLst/>
          </a:prstGeom>
        </p:spPr>
      </p:pic>
      <p:pic>
        <p:nvPicPr>
          <p:cNvPr id="25" name="Graphic 24" descr="Badge Cross with solid fill">
            <a:extLst>
              <a:ext uri="{FF2B5EF4-FFF2-40B4-BE49-F238E27FC236}">
                <a16:creationId xmlns:a16="http://schemas.microsoft.com/office/drawing/2014/main" id="{FF468F53-F44D-1685-E947-1E2587B5F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4974" y="5834268"/>
            <a:ext cx="417443" cy="417443"/>
          </a:xfrm>
          <a:prstGeom prst="rect">
            <a:avLst/>
          </a:prstGeom>
        </p:spPr>
      </p:pic>
      <p:pic>
        <p:nvPicPr>
          <p:cNvPr id="26" name="Graphic 25" descr="Badge Tick1 with solid fill">
            <a:extLst>
              <a:ext uri="{FF2B5EF4-FFF2-40B4-BE49-F238E27FC236}">
                <a16:creationId xmlns:a16="http://schemas.microsoft.com/office/drawing/2014/main" id="{372AE997-280D-F8FA-11DC-9A5FA88D9A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8087" y="2981738"/>
            <a:ext cx="301488" cy="301488"/>
          </a:xfrm>
          <a:prstGeom prst="rect">
            <a:avLst/>
          </a:prstGeom>
        </p:spPr>
      </p:pic>
      <p:pic>
        <p:nvPicPr>
          <p:cNvPr id="27" name="Graphic 26" descr="Badge Cross with solid fill">
            <a:extLst>
              <a:ext uri="{FF2B5EF4-FFF2-40B4-BE49-F238E27FC236}">
                <a16:creationId xmlns:a16="http://schemas.microsoft.com/office/drawing/2014/main" id="{06E865FB-CFF1-300C-E997-551211824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8087" y="3448879"/>
            <a:ext cx="311425" cy="271668"/>
          </a:xfrm>
          <a:prstGeom prst="rect">
            <a:avLst/>
          </a:prstGeom>
        </p:spPr>
      </p:pic>
      <p:pic>
        <p:nvPicPr>
          <p:cNvPr id="30" name="Graphic 29" descr="Badge Cross with solid fill">
            <a:extLst>
              <a:ext uri="{FF2B5EF4-FFF2-40B4-BE49-F238E27FC236}">
                <a16:creationId xmlns:a16="http://schemas.microsoft.com/office/drawing/2014/main" id="{41DD7C7C-04C6-9B89-05A0-3267C669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1400" y="3909392"/>
            <a:ext cx="311425" cy="271668"/>
          </a:xfrm>
          <a:prstGeom prst="rect">
            <a:avLst/>
          </a:prstGeom>
        </p:spPr>
      </p:pic>
      <p:pic>
        <p:nvPicPr>
          <p:cNvPr id="31" name="Graphic 30" descr="Badge Cross with solid fill">
            <a:extLst>
              <a:ext uri="{FF2B5EF4-FFF2-40B4-BE49-F238E27FC236}">
                <a16:creationId xmlns:a16="http://schemas.microsoft.com/office/drawing/2014/main" id="{A8FBFFCC-913B-F26C-C9E0-8B55504B47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84835" y="2700131"/>
            <a:ext cx="311425" cy="27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F4C8-4B2F-65BB-1878-6D9AC392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186" y="462657"/>
            <a:ext cx="7729728" cy="434340"/>
          </a:xfrm>
        </p:spPr>
        <p:txBody>
          <a:bodyPr>
            <a:normAutofit fontScale="90000"/>
          </a:bodyPr>
          <a:lstStyle/>
          <a:p>
            <a:r>
              <a:rPr lang="en-US" dirty="0"/>
              <a:t>Quality coding mindset (PI02)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86D8DB-10BB-274E-C66E-D31F4D522D14}"/>
              </a:ext>
            </a:extLst>
          </p:cNvPr>
          <p:cNvSpPr/>
          <p:nvPr/>
        </p:nvSpPr>
        <p:spPr>
          <a:xfrm>
            <a:off x="7946136" y="1238156"/>
            <a:ext cx="3624072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Documentation (Commenting)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078441-1604-5E59-D89D-44F257FB492A}"/>
              </a:ext>
            </a:extLst>
          </p:cNvPr>
          <p:cNvSpPr/>
          <p:nvPr/>
        </p:nvSpPr>
        <p:spPr>
          <a:xfrm>
            <a:off x="621791" y="1575129"/>
            <a:ext cx="3605561" cy="45970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33984C-C734-AE63-A73D-03DD8CACBB20}"/>
              </a:ext>
            </a:extLst>
          </p:cNvPr>
          <p:cNvSpPr/>
          <p:nvPr/>
        </p:nvSpPr>
        <p:spPr>
          <a:xfrm>
            <a:off x="4276344" y="1235108"/>
            <a:ext cx="3624072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DRY “Don’t Repeat Yourself!”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4110B2-01E7-7EB6-F681-EAE22F833C0C}"/>
              </a:ext>
            </a:extLst>
          </p:cNvPr>
          <p:cNvSpPr/>
          <p:nvPr/>
        </p:nvSpPr>
        <p:spPr>
          <a:xfrm>
            <a:off x="600456" y="1235108"/>
            <a:ext cx="3624072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SRP (Single Responsibility Principle)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6F99ED-F36D-F980-EC02-92E42CC949F2}"/>
              </a:ext>
            </a:extLst>
          </p:cNvPr>
          <p:cNvSpPr/>
          <p:nvPr/>
        </p:nvSpPr>
        <p:spPr>
          <a:xfrm>
            <a:off x="4292861" y="1577685"/>
            <a:ext cx="3605561" cy="45970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F6D03A-06D0-35EA-AD2F-A5D5AD68C928}"/>
              </a:ext>
            </a:extLst>
          </p:cNvPr>
          <p:cNvSpPr/>
          <p:nvPr/>
        </p:nvSpPr>
        <p:spPr>
          <a:xfrm>
            <a:off x="7943086" y="1579455"/>
            <a:ext cx="3633217" cy="45970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F335552-31F6-5C28-82C4-F94D7C8C91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6" r="2422"/>
          <a:stretch>
            <a:fillRect/>
          </a:stretch>
        </p:blipFill>
        <p:spPr>
          <a:xfrm>
            <a:off x="671693" y="2453042"/>
            <a:ext cx="2013156" cy="3487994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AF27E73-F28F-FDE4-13CF-D781710F1FE0}"/>
              </a:ext>
            </a:extLst>
          </p:cNvPr>
          <p:cNvSpPr txBox="1">
            <a:spLocks/>
          </p:cNvSpPr>
          <p:nvPr/>
        </p:nvSpPr>
        <p:spPr>
          <a:xfrm>
            <a:off x="640800" y="1640308"/>
            <a:ext cx="3557574" cy="84479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“A class should only have one reason to change”(Martin, 2003)</a:t>
            </a:r>
          </a:p>
          <a:p>
            <a:r>
              <a:rPr lang="en-US" b="1" dirty="0"/>
              <a:t>A class should focus on one well-defined responsibility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62F292-F4CF-CA26-933C-99317BCADB31}"/>
              </a:ext>
            </a:extLst>
          </p:cNvPr>
          <p:cNvSpPr/>
          <p:nvPr/>
        </p:nvSpPr>
        <p:spPr>
          <a:xfrm>
            <a:off x="599455" y="6337042"/>
            <a:ext cx="3605561" cy="293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b="1" dirty="0"/>
              <a:t>Example</a:t>
            </a:r>
            <a:r>
              <a:rPr lang="en-US" sz="1000" dirty="0"/>
              <a:t>: PI02, lines 142-186 (pictured), lines 142-245 (total). Condensed in example.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970AD1-22F3-78D4-CDF7-EFCFC59580A0}"/>
              </a:ext>
            </a:extLst>
          </p:cNvPr>
          <p:cNvSpPr/>
          <p:nvPr/>
        </p:nvSpPr>
        <p:spPr>
          <a:xfrm>
            <a:off x="4307716" y="2539644"/>
            <a:ext cx="3605561" cy="15254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A52C661-B81E-5EFA-7A35-DD50AA0FD555}"/>
              </a:ext>
            </a:extLst>
          </p:cNvPr>
          <p:cNvSpPr txBox="1">
            <a:spLocks/>
          </p:cNvSpPr>
          <p:nvPr/>
        </p:nvSpPr>
        <p:spPr>
          <a:xfrm>
            <a:off x="2614626" y="2721857"/>
            <a:ext cx="1559168" cy="13413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core responsibility for the athlete class is to </a:t>
            </a:r>
            <a:r>
              <a:rPr lang="en-US" b="1" dirty="0"/>
              <a:t>represent an athlete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31" name="Graphic 30" descr="Soccer with solid fill">
            <a:extLst>
              <a:ext uri="{FF2B5EF4-FFF2-40B4-BE49-F238E27FC236}">
                <a16:creationId xmlns:a16="http://schemas.microsoft.com/office/drawing/2014/main" id="{E523C2F7-163C-2911-24CE-13E9D0E7A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2471" y="4306529"/>
            <a:ext cx="914400" cy="9144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3E4A89F8-7AE9-786B-B704-F7B9050F58B7}"/>
              </a:ext>
            </a:extLst>
          </p:cNvPr>
          <p:cNvSpPr/>
          <p:nvPr/>
        </p:nvSpPr>
        <p:spPr>
          <a:xfrm>
            <a:off x="7948751" y="2523079"/>
            <a:ext cx="3605561" cy="15254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E88270-D0CB-4615-98FE-645C4AA1D5F5}"/>
              </a:ext>
            </a:extLst>
          </p:cNvPr>
          <p:cNvSpPr/>
          <p:nvPr/>
        </p:nvSpPr>
        <p:spPr>
          <a:xfrm>
            <a:off x="4271909" y="6289377"/>
            <a:ext cx="3605561" cy="4798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b="1" dirty="0"/>
              <a:t>Example</a:t>
            </a:r>
            <a:r>
              <a:rPr lang="en-US" sz="1000" dirty="0"/>
              <a:t>s: PI02, lines 220-226 (</a:t>
            </a:r>
            <a:r>
              <a:rPr lang="en-US" sz="1000" dirty="0" err="1"/>
              <a:t>calculateMaxHeartRate</a:t>
            </a:r>
            <a:r>
              <a:rPr lang="en-US" sz="1000" dirty="0"/>
              <a:t>), 182-188 (</a:t>
            </a:r>
            <a:r>
              <a:rPr lang="en-US" sz="1000" dirty="0" err="1"/>
              <a:t>calculateBMI</a:t>
            </a:r>
            <a:r>
              <a:rPr lang="en-US" sz="1000" dirty="0"/>
              <a:t>), 387-399 (</a:t>
            </a:r>
            <a:r>
              <a:rPr lang="en-US" sz="1000" dirty="0" err="1"/>
              <a:t>displaySmallestLargestHeight</a:t>
            </a:r>
            <a:r>
              <a:rPr lang="en-US" sz="1000" dirty="0"/>
              <a:t>), 418-424 (</a:t>
            </a:r>
            <a:r>
              <a:rPr lang="en-US" sz="1000" dirty="0" err="1"/>
              <a:t>writeAthletesToFile</a:t>
            </a:r>
            <a:r>
              <a:rPr lang="en-US" sz="1000" dirty="0"/>
              <a:t>)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3BE6E83-F005-D2D9-152D-7F8B44C94C4A}"/>
              </a:ext>
            </a:extLst>
          </p:cNvPr>
          <p:cNvSpPr txBox="1">
            <a:spLocks/>
          </p:cNvSpPr>
          <p:nvPr/>
        </p:nvSpPr>
        <p:spPr>
          <a:xfrm>
            <a:off x="4236949" y="1564108"/>
            <a:ext cx="3638690" cy="844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4EC99D4-99D8-D4F8-F109-75165BCF3D31}"/>
              </a:ext>
            </a:extLst>
          </p:cNvPr>
          <p:cNvSpPr txBox="1">
            <a:spLocks/>
          </p:cNvSpPr>
          <p:nvPr/>
        </p:nvSpPr>
        <p:spPr>
          <a:xfrm>
            <a:off x="4273819" y="1623102"/>
            <a:ext cx="3557574" cy="633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Simplify and condense </a:t>
            </a:r>
            <a:r>
              <a:rPr lang="en-US" dirty="0"/>
              <a:t>logic into </a:t>
            </a:r>
            <a:r>
              <a:rPr lang="en-US" b="1" dirty="0"/>
              <a:t>reusable components</a:t>
            </a:r>
            <a:r>
              <a:rPr lang="en-US" dirty="0"/>
              <a:t> in your program (methods, classes, loops)</a:t>
            </a:r>
          </a:p>
          <a:p>
            <a:r>
              <a:rPr lang="en-US" dirty="0"/>
              <a:t>Improves readability, and improves ease of debugging.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A5AF77E-1D43-0B5B-A1EA-77A8209038A5}"/>
              </a:ext>
            </a:extLst>
          </p:cNvPr>
          <p:cNvSpPr txBox="1">
            <a:spLocks/>
          </p:cNvSpPr>
          <p:nvPr/>
        </p:nvSpPr>
        <p:spPr>
          <a:xfrm>
            <a:off x="4293484" y="2712025"/>
            <a:ext cx="1559168" cy="67273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Using </a:t>
            </a:r>
            <a:r>
              <a:rPr lang="en-US" b="1" dirty="0"/>
              <a:t>methods for repeating logic </a:t>
            </a:r>
            <a:r>
              <a:rPr lang="en-US" dirty="0"/>
              <a:t>(repeated calculations for athlete data) </a:t>
            </a:r>
            <a:endParaRPr lang="en-US" b="1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28EF635-6515-9452-4FED-0D62A3C2FA16}"/>
              </a:ext>
            </a:extLst>
          </p:cNvPr>
          <p:cNvSpPr txBox="1">
            <a:spLocks/>
          </p:cNvSpPr>
          <p:nvPr/>
        </p:nvSpPr>
        <p:spPr>
          <a:xfrm>
            <a:off x="6444291" y="4405631"/>
            <a:ext cx="1559168" cy="586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Using </a:t>
            </a:r>
            <a:r>
              <a:rPr lang="en-US" b="1" dirty="0"/>
              <a:t>loops for repeated commands </a:t>
            </a:r>
            <a:r>
              <a:rPr lang="en-US" dirty="0"/>
              <a:t>(printing array results, writing results to a file)</a:t>
            </a:r>
            <a:endParaRPr lang="en-US" b="1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B9BFC762-DE7E-6864-6E7F-F7CA9F1D3886}"/>
              </a:ext>
            </a:extLst>
          </p:cNvPr>
          <p:cNvSpPr txBox="1">
            <a:spLocks/>
          </p:cNvSpPr>
          <p:nvPr/>
        </p:nvSpPr>
        <p:spPr>
          <a:xfrm>
            <a:off x="7936335" y="1620644"/>
            <a:ext cx="3557574" cy="87183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Javadoc commenting </a:t>
            </a:r>
            <a:r>
              <a:rPr lang="en-US" b="1" dirty="0"/>
              <a:t>improves readability </a:t>
            </a:r>
            <a:r>
              <a:rPr lang="en-US" dirty="0"/>
              <a:t>for classes, methods, and complex chunks of code.</a:t>
            </a:r>
          </a:p>
          <a:p>
            <a:r>
              <a:rPr lang="en-US" dirty="0"/>
              <a:t>GitHub commenting </a:t>
            </a:r>
            <a:r>
              <a:rPr lang="en-US" b="1" dirty="0"/>
              <a:t>improves individual and team understanding </a:t>
            </a:r>
            <a:r>
              <a:rPr lang="en-US" dirty="0"/>
              <a:t>in large or collaborative projects.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781C63-32AE-2A27-D94B-05674C2FD854}"/>
              </a:ext>
            </a:extLst>
          </p:cNvPr>
          <p:cNvSpPr/>
          <p:nvPr/>
        </p:nvSpPr>
        <p:spPr>
          <a:xfrm>
            <a:off x="7944364" y="6282749"/>
            <a:ext cx="3633120" cy="4798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b="1" dirty="0"/>
              <a:t>Example</a:t>
            </a:r>
            <a:r>
              <a:rPr lang="en-US" sz="1000" dirty="0"/>
              <a:t>s: PI02, lines 324-327(</a:t>
            </a:r>
            <a:r>
              <a:rPr lang="en-US" sz="1000" dirty="0" err="1"/>
              <a:t>calculateAverageMaxHeartRate</a:t>
            </a:r>
            <a:r>
              <a:rPr lang="en-US" sz="1000" dirty="0"/>
              <a:t>), 258-261 (Team constructor), GitHub, @</a:t>
            </a:r>
            <a:r>
              <a:rPr lang="en-US" sz="1000" dirty="0" err="1"/>
              <a:t>ellaevelynn</a:t>
            </a:r>
            <a:r>
              <a:rPr lang="en-US" sz="1000" dirty="0"/>
              <a:t> “</a:t>
            </a:r>
            <a:r>
              <a:rPr lang="en-US" sz="1000" dirty="0" err="1"/>
              <a:t>CSJavaRepos</a:t>
            </a:r>
            <a:r>
              <a:rPr lang="en-US" sz="1000" dirty="0"/>
              <a:t>” 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2574CB5-ED43-6593-F7F1-A06FE019F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819" y="3451122"/>
            <a:ext cx="2904565" cy="53094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DCC314D-9D7C-3A1C-1E24-EDA8A1345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955" y="2653747"/>
            <a:ext cx="1951680" cy="60878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3D0CB8D-4C55-BD8B-C3E2-38D50C2AC0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5207" y="5412657"/>
            <a:ext cx="3533059" cy="56781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9AA7989-05F3-A8DA-93CD-ADEEF8855B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6882" y="4159043"/>
            <a:ext cx="2174613" cy="120629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1BA99B5-C1EB-A084-755A-BE4C40211B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0997" y="3410404"/>
            <a:ext cx="3075136" cy="50615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B795F0D-1D91-241B-4CF1-94FB436376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8878" y="2852467"/>
            <a:ext cx="3091630" cy="451395"/>
          </a:xfrm>
          <a:prstGeom prst="rect">
            <a:avLst/>
          </a:prstGeom>
        </p:spPr>
      </p:pic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466D9D0-FED8-4C5A-B025-6DEE83DEA5A2}"/>
              </a:ext>
            </a:extLst>
          </p:cNvPr>
          <p:cNvSpPr txBox="1">
            <a:spLocks/>
          </p:cNvSpPr>
          <p:nvPr/>
        </p:nvSpPr>
        <p:spPr>
          <a:xfrm>
            <a:off x="7892197" y="2598954"/>
            <a:ext cx="3557574" cy="29173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Use commenting to track parameters and/or return values.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71D16E8-2C6C-7E4D-3533-036EDC5148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6417" y="4499028"/>
            <a:ext cx="3150527" cy="90912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1AF468B-9490-5D59-0BAA-5E9890AD7F72}"/>
              </a:ext>
            </a:extLst>
          </p:cNvPr>
          <p:cNvSpPr txBox="1">
            <a:spLocks/>
          </p:cNvSpPr>
          <p:nvPr/>
        </p:nvSpPr>
        <p:spPr>
          <a:xfrm>
            <a:off x="7890123" y="4127379"/>
            <a:ext cx="3000086" cy="34433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Use commenting when committing and pushing to GitHub for personal understanding..</a:t>
            </a:r>
          </a:p>
        </p:txBody>
      </p:sp>
    </p:spTree>
    <p:extLst>
      <p:ext uri="{BB962C8B-B14F-4D97-AF65-F5344CB8AC3E}">
        <p14:creationId xmlns:p14="http://schemas.microsoft.com/office/powerpoint/2010/main" val="2740868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771D-105F-5915-E422-777C8AAC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DF27-41A2-AA4E-C5F5-9824C647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2412" y="109927"/>
            <a:ext cx="8473307" cy="764717"/>
          </a:xfrm>
        </p:spPr>
        <p:txBody>
          <a:bodyPr/>
          <a:lstStyle/>
          <a:p>
            <a:r>
              <a:rPr lang="en-US" dirty="0"/>
              <a:t>Classes and objects (I2 Athlete class)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C14B5-FDB2-F3CF-B8B3-E46481E7E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86" y="1564584"/>
            <a:ext cx="2118879" cy="1138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01DFF6-0783-E204-BBFC-0CFAF73C9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292" y="1832941"/>
            <a:ext cx="5245100" cy="1104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DB246C-79F9-2944-8096-9F7B9D3F0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03" y="4229654"/>
            <a:ext cx="2019300" cy="1320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7BD10D-2512-0281-323E-ED5B0C6F0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912" y="6282081"/>
            <a:ext cx="3332923" cy="2046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B5BCF5-8309-AF6E-9394-27B50937C8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7951" y="5282648"/>
            <a:ext cx="3319945" cy="2733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7C4350-0F8E-AC1E-9567-77907F5EF3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3134" y="4363830"/>
            <a:ext cx="3300981" cy="20817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780F5E-4F8D-43A5-4480-84D3103ED124}"/>
              </a:ext>
            </a:extLst>
          </p:cNvPr>
          <p:cNvSpPr/>
          <p:nvPr/>
        </p:nvSpPr>
        <p:spPr>
          <a:xfrm>
            <a:off x="606287" y="1133062"/>
            <a:ext cx="3677477" cy="24847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022F22-338C-DCA8-8B0B-51A6C6C05A31}"/>
              </a:ext>
            </a:extLst>
          </p:cNvPr>
          <p:cNvSpPr txBox="1">
            <a:spLocks/>
          </p:cNvSpPr>
          <p:nvPr/>
        </p:nvSpPr>
        <p:spPr>
          <a:xfrm>
            <a:off x="2494722" y="1471343"/>
            <a:ext cx="1967947" cy="1162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dirty="0"/>
              <a:t>Represents </a:t>
            </a:r>
            <a:r>
              <a:rPr lang="en-US" sz="1200" b="1" dirty="0"/>
              <a:t>state/attributes </a:t>
            </a:r>
            <a:r>
              <a:rPr lang="en-US" sz="1200" dirty="0"/>
              <a:t>of an object.</a:t>
            </a:r>
          </a:p>
          <a:p>
            <a:pPr marL="228600" lvl="1" indent="0">
              <a:buNone/>
            </a:pPr>
            <a:r>
              <a:rPr lang="en-US" sz="1200" b="1" dirty="0"/>
              <a:t>Scope</a:t>
            </a:r>
            <a:r>
              <a:rPr lang="en-US" sz="1200" dirty="0"/>
              <a:t>: class-level</a:t>
            </a:r>
          </a:p>
          <a:p>
            <a:pPr marL="228600" lvl="1" indent="0">
              <a:buNone/>
            </a:pPr>
            <a:r>
              <a:rPr lang="en-US" sz="1200" dirty="0"/>
              <a:t>Accessible to every method in </a:t>
            </a:r>
            <a:r>
              <a:rPr lang="en-US" sz="1200" b="1" dirty="0"/>
              <a:t>the Athlete </a:t>
            </a:r>
            <a:r>
              <a:rPr lang="en-US" sz="1200" dirty="0"/>
              <a:t>class.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C0B9166-A66C-0C16-2B7F-85150197449D}"/>
              </a:ext>
            </a:extLst>
          </p:cNvPr>
          <p:cNvSpPr/>
          <p:nvPr/>
        </p:nvSpPr>
        <p:spPr>
          <a:xfrm>
            <a:off x="4813852" y="1126436"/>
            <a:ext cx="7192618" cy="24847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Constructors (Object Creation)</a:t>
            </a:r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2F54DCD9-3BB9-72A0-36E8-2E5A090C94A4}"/>
              </a:ext>
            </a:extLst>
          </p:cNvPr>
          <p:cNvSpPr/>
          <p:nvPr/>
        </p:nvSpPr>
        <p:spPr>
          <a:xfrm>
            <a:off x="824947" y="2087218"/>
            <a:ext cx="149087" cy="685800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16C3AEE-FDC5-EF42-22C4-BB035FD47D2A}"/>
              </a:ext>
            </a:extLst>
          </p:cNvPr>
          <p:cNvSpPr/>
          <p:nvPr/>
        </p:nvSpPr>
        <p:spPr>
          <a:xfrm>
            <a:off x="609601" y="2756454"/>
            <a:ext cx="2143538" cy="35449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Initialize attributes (name, weight, height, age), values are default (“null”, 0.00, 0)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31193DA-5822-BBB3-0B19-9B38DAEFC21A}"/>
              </a:ext>
            </a:extLst>
          </p:cNvPr>
          <p:cNvSpPr/>
          <p:nvPr/>
        </p:nvSpPr>
        <p:spPr>
          <a:xfrm>
            <a:off x="599661" y="3591339"/>
            <a:ext cx="3677477" cy="24847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Encapsulation (Getters &amp; Setters)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4C890F2-D29C-B478-03D8-1F2F2706F4A4}"/>
              </a:ext>
            </a:extLst>
          </p:cNvPr>
          <p:cNvSpPr txBox="1">
            <a:spLocks/>
          </p:cNvSpPr>
          <p:nvPr/>
        </p:nvSpPr>
        <p:spPr>
          <a:xfrm>
            <a:off x="2418522" y="4138343"/>
            <a:ext cx="1967947" cy="1705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Encapsulation</a:t>
            </a:r>
            <a:r>
              <a:rPr lang="en-US" sz="1200" dirty="0"/>
              <a:t>: </a:t>
            </a:r>
            <a:r>
              <a:rPr lang="en-US" sz="1200" b="1" dirty="0"/>
              <a:t>hides internal state </a:t>
            </a:r>
            <a:r>
              <a:rPr lang="en-US" sz="1200" dirty="0"/>
              <a:t>of an object, makes all interaction happen through </a:t>
            </a:r>
            <a:r>
              <a:rPr lang="en-US" sz="1200" b="1" dirty="0"/>
              <a:t>public</a:t>
            </a:r>
            <a:r>
              <a:rPr lang="en-US" sz="1200" dirty="0"/>
              <a:t> methods.</a:t>
            </a:r>
          </a:p>
        </p:txBody>
      </p:sp>
      <p:sp>
        <p:nvSpPr>
          <p:cNvPr id="26" name="Up Arrow 25">
            <a:extLst>
              <a:ext uri="{FF2B5EF4-FFF2-40B4-BE49-F238E27FC236}">
                <a16:creationId xmlns:a16="http://schemas.microsoft.com/office/drawing/2014/main" id="{5F8D04E6-2844-8945-2E4E-CAFA6C69E918}"/>
              </a:ext>
            </a:extLst>
          </p:cNvPr>
          <p:cNvSpPr/>
          <p:nvPr/>
        </p:nvSpPr>
        <p:spPr>
          <a:xfrm rot="5400000">
            <a:off x="448917" y="4225791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145ED49-E5E5-44D3-60A9-526B03EC3544}"/>
              </a:ext>
            </a:extLst>
          </p:cNvPr>
          <p:cNvSpPr/>
          <p:nvPr/>
        </p:nvSpPr>
        <p:spPr>
          <a:xfrm>
            <a:off x="0" y="4393095"/>
            <a:ext cx="576470" cy="58640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Access modifier: method visible to any class</a:t>
            </a:r>
          </a:p>
        </p:txBody>
      </p:sp>
      <p:sp>
        <p:nvSpPr>
          <p:cNvPr id="28" name="Up Arrow 27">
            <a:extLst>
              <a:ext uri="{FF2B5EF4-FFF2-40B4-BE49-F238E27FC236}">
                <a16:creationId xmlns:a16="http://schemas.microsoft.com/office/drawing/2014/main" id="{585BB4D8-4AE6-8D35-C67D-0EAB77143B46}"/>
              </a:ext>
            </a:extLst>
          </p:cNvPr>
          <p:cNvSpPr/>
          <p:nvPr/>
        </p:nvSpPr>
        <p:spPr>
          <a:xfrm rot="10800000">
            <a:off x="1167847" y="4060138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66EAB38-56C1-91FF-D65B-F38DC6563EFF}"/>
              </a:ext>
            </a:extLst>
          </p:cNvPr>
          <p:cNvSpPr/>
          <p:nvPr/>
        </p:nvSpPr>
        <p:spPr>
          <a:xfrm>
            <a:off x="1166189" y="3949148"/>
            <a:ext cx="652671" cy="17559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Return type</a:t>
            </a:r>
          </a:p>
        </p:txBody>
      </p:sp>
      <p:sp>
        <p:nvSpPr>
          <p:cNvPr id="30" name="Up Arrow 29">
            <a:extLst>
              <a:ext uri="{FF2B5EF4-FFF2-40B4-BE49-F238E27FC236}">
                <a16:creationId xmlns:a16="http://schemas.microsoft.com/office/drawing/2014/main" id="{3CD98C57-B6B8-6B03-D524-7DFF56B4565E}"/>
              </a:ext>
            </a:extLst>
          </p:cNvPr>
          <p:cNvSpPr/>
          <p:nvPr/>
        </p:nvSpPr>
        <p:spPr>
          <a:xfrm rot="5400000">
            <a:off x="452230" y="4984479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Up Arrow 32">
            <a:extLst>
              <a:ext uri="{FF2B5EF4-FFF2-40B4-BE49-F238E27FC236}">
                <a16:creationId xmlns:a16="http://schemas.microsoft.com/office/drawing/2014/main" id="{C58C91EE-A1E6-CB42-812C-B8207092D549}"/>
              </a:ext>
            </a:extLst>
          </p:cNvPr>
          <p:cNvSpPr/>
          <p:nvPr/>
        </p:nvSpPr>
        <p:spPr>
          <a:xfrm rot="10800000">
            <a:off x="1919909" y="4076703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B4C06BF-76C8-7727-8874-E0A3507E0410}"/>
              </a:ext>
            </a:extLst>
          </p:cNvPr>
          <p:cNvSpPr/>
          <p:nvPr/>
        </p:nvSpPr>
        <p:spPr>
          <a:xfrm>
            <a:off x="1924876" y="3942522"/>
            <a:ext cx="490333" cy="14246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37" name="Up Arrow 36">
            <a:extLst>
              <a:ext uri="{FF2B5EF4-FFF2-40B4-BE49-F238E27FC236}">
                <a16:creationId xmlns:a16="http://schemas.microsoft.com/office/drawing/2014/main" id="{EBA16D7F-3845-55DE-35A5-5DC9AF9A214C}"/>
              </a:ext>
            </a:extLst>
          </p:cNvPr>
          <p:cNvSpPr/>
          <p:nvPr/>
        </p:nvSpPr>
        <p:spPr>
          <a:xfrm>
            <a:off x="921957" y="5390349"/>
            <a:ext cx="174032" cy="231098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3A24F41-59FF-0ED4-3DC1-A39F2AC199C5}"/>
              </a:ext>
            </a:extLst>
          </p:cNvPr>
          <p:cNvSpPr/>
          <p:nvPr/>
        </p:nvSpPr>
        <p:spPr>
          <a:xfrm>
            <a:off x="556591" y="5552661"/>
            <a:ext cx="2146852" cy="43069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b="1" dirty="0">
                <a:solidFill>
                  <a:schemeClr val="tx1"/>
                </a:solidFill>
              </a:rPr>
              <a:t>Return action</a:t>
            </a:r>
            <a:r>
              <a:rPr lang="en-US" sz="700" dirty="0">
                <a:solidFill>
                  <a:schemeClr val="tx1"/>
                </a:solidFill>
              </a:rPr>
              <a:t>. Prompts program to exit method and output value stored in instance variable (name, height)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9B722F2-E0AC-1E31-E00B-9EAAB2A2AFBE}"/>
              </a:ext>
            </a:extLst>
          </p:cNvPr>
          <p:cNvSpPr txBox="1">
            <a:spLocks/>
          </p:cNvSpPr>
          <p:nvPr/>
        </p:nvSpPr>
        <p:spPr>
          <a:xfrm>
            <a:off x="321363" y="3194127"/>
            <a:ext cx="2103785" cy="224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PI02, lines 144-150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30610D5A-9677-4440-1963-04A1CD5C3966}"/>
              </a:ext>
            </a:extLst>
          </p:cNvPr>
          <p:cNvSpPr txBox="1">
            <a:spLocks/>
          </p:cNvSpPr>
          <p:nvPr/>
        </p:nvSpPr>
        <p:spPr>
          <a:xfrm>
            <a:off x="265042" y="5990336"/>
            <a:ext cx="2103785" cy="224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PI02, lines 14166-175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EB8AD2B4-5F93-2C67-6325-84F3E17EEE87}"/>
              </a:ext>
            </a:extLst>
          </p:cNvPr>
          <p:cNvSpPr txBox="1">
            <a:spLocks/>
          </p:cNvSpPr>
          <p:nvPr/>
        </p:nvSpPr>
        <p:spPr>
          <a:xfrm>
            <a:off x="9886123" y="1756265"/>
            <a:ext cx="2150164" cy="1705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Initializes new objects. </a:t>
            </a:r>
          </a:p>
          <a:p>
            <a:pPr marL="228600" lvl="1" indent="0">
              <a:buNone/>
            </a:pPr>
            <a:r>
              <a:rPr lang="en-US" sz="1200" dirty="0"/>
              <a:t>Memory allocated for new athletes, runs code to assign specific values to this instance.</a:t>
            </a:r>
          </a:p>
        </p:txBody>
      </p:sp>
      <p:sp>
        <p:nvSpPr>
          <p:cNvPr id="42" name="Up Arrow 41">
            <a:extLst>
              <a:ext uri="{FF2B5EF4-FFF2-40B4-BE49-F238E27FC236}">
                <a16:creationId xmlns:a16="http://schemas.microsoft.com/office/drawing/2014/main" id="{45267064-3BFB-2408-C24C-44B888D37AA8}"/>
              </a:ext>
            </a:extLst>
          </p:cNvPr>
          <p:cNvSpPr/>
          <p:nvPr/>
        </p:nvSpPr>
        <p:spPr>
          <a:xfrm rot="10800000">
            <a:off x="5342283" y="1684686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46B7F05-D6CC-A531-04E8-E075D8FCD771}"/>
              </a:ext>
            </a:extLst>
          </p:cNvPr>
          <p:cNvSpPr/>
          <p:nvPr/>
        </p:nvSpPr>
        <p:spPr>
          <a:xfrm>
            <a:off x="5357191" y="1431235"/>
            <a:ext cx="1550506" cy="2683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Constructor and class name </a:t>
            </a:r>
            <a:r>
              <a:rPr lang="en-US" sz="900" b="1" dirty="0">
                <a:solidFill>
                  <a:schemeClr val="tx1"/>
                </a:solidFill>
              </a:rPr>
              <a:t>must match.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5" name="Up Arrow 44">
            <a:extLst>
              <a:ext uri="{FF2B5EF4-FFF2-40B4-BE49-F238E27FC236}">
                <a16:creationId xmlns:a16="http://schemas.microsoft.com/office/drawing/2014/main" id="{A905F1C8-E10A-8875-6FEE-CE8F0B262B3B}"/>
              </a:ext>
            </a:extLst>
          </p:cNvPr>
          <p:cNvSpPr/>
          <p:nvPr/>
        </p:nvSpPr>
        <p:spPr>
          <a:xfrm rot="10800000">
            <a:off x="7214153" y="1668121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F0BC67D-9FE4-0BD6-774D-EFB797596F19}"/>
              </a:ext>
            </a:extLst>
          </p:cNvPr>
          <p:cNvSpPr/>
          <p:nvPr/>
        </p:nvSpPr>
        <p:spPr>
          <a:xfrm>
            <a:off x="7229060" y="1444487"/>
            <a:ext cx="2531166" cy="2683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Parameters (from athlete class instance variables)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F2D3D64-33FB-D703-8809-A8AC3E357A59}"/>
              </a:ext>
            </a:extLst>
          </p:cNvPr>
          <p:cNvSpPr/>
          <p:nvPr/>
        </p:nvSpPr>
        <p:spPr>
          <a:xfrm>
            <a:off x="4764156" y="2994992"/>
            <a:ext cx="5274365" cy="3445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“Take this (name, weight, height, age) the user has provided and save it to this specific object’s permanent memory.”</a:t>
            </a:r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009F466C-F61A-5DAE-A008-C4FCF6B83CDC}"/>
              </a:ext>
            </a:extLst>
          </p:cNvPr>
          <p:cNvSpPr/>
          <p:nvPr/>
        </p:nvSpPr>
        <p:spPr>
          <a:xfrm>
            <a:off x="6599583" y="2136913"/>
            <a:ext cx="268356" cy="646043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038657AD-6DA0-1696-DEE7-5AAD33AAC93A}"/>
              </a:ext>
            </a:extLst>
          </p:cNvPr>
          <p:cNvSpPr/>
          <p:nvPr/>
        </p:nvSpPr>
        <p:spPr>
          <a:xfrm rot="10800000">
            <a:off x="6730447" y="2456625"/>
            <a:ext cx="226943" cy="525115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10AFEBF-3DF7-0299-5C39-14846236FFAA}"/>
              </a:ext>
            </a:extLst>
          </p:cNvPr>
          <p:cNvSpPr/>
          <p:nvPr/>
        </p:nvSpPr>
        <p:spPr>
          <a:xfrm>
            <a:off x="4727713" y="3574775"/>
            <a:ext cx="7192618" cy="24847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Methods (Behavior)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FDBF0BC4-7813-F4A0-6883-ABA0A201320D}"/>
              </a:ext>
            </a:extLst>
          </p:cNvPr>
          <p:cNvSpPr txBox="1">
            <a:spLocks/>
          </p:cNvSpPr>
          <p:nvPr/>
        </p:nvSpPr>
        <p:spPr>
          <a:xfrm>
            <a:off x="8550966" y="3936246"/>
            <a:ext cx="3356112" cy="1705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Instance methods use object’s internal data </a:t>
            </a:r>
            <a:r>
              <a:rPr lang="en-US" sz="1200" dirty="0"/>
              <a:t>(weight, height, age) to perform calculations. </a:t>
            </a:r>
          </a:p>
          <a:p>
            <a:pPr marL="228600" lvl="1" indent="0">
              <a:buNone/>
            </a:pPr>
            <a:r>
              <a:rPr lang="en-US" sz="1200" dirty="0"/>
              <a:t>Don’t need to pass parameters for instance methods.</a:t>
            </a:r>
          </a:p>
        </p:txBody>
      </p:sp>
      <p:sp>
        <p:nvSpPr>
          <p:cNvPr id="56" name="Up Arrow 55">
            <a:extLst>
              <a:ext uri="{FF2B5EF4-FFF2-40B4-BE49-F238E27FC236}">
                <a16:creationId xmlns:a16="http://schemas.microsoft.com/office/drawing/2014/main" id="{9B1F6697-F764-6249-2F75-579E54D69618}"/>
              </a:ext>
            </a:extLst>
          </p:cNvPr>
          <p:cNvSpPr/>
          <p:nvPr/>
        </p:nvSpPr>
        <p:spPr>
          <a:xfrm rot="10800000">
            <a:off x="5822675" y="4202599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Up Arrow 56">
            <a:extLst>
              <a:ext uri="{FF2B5EF4-FFF2-40B4-BE49-F238E27FC236}">
                <a16:creationId xmlns:a16="http://schemas.microsoft.com/office/drawing/2014/main" id="{C0C1AE30-8D2B-70A5-F85C-03B26B5DC9A1}"/>
              </a:ext>
            </a:extLst>
          </p:cNvPr>
          <p:cNvSpPr/>
          <p:nvPr/>
        </p:nvSpPr>
        <p:spPr>
          <a:xfrm rot="10800000">
            <a:off x="5855804" y="5170007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Up Arrow 57">
            <a:extLst>
              <a:ext uri="{FF2B5EF4-FFF2-40B4-BE49-F238E27FC236}">
                <a16:creationId xmlns:a16="http://schemas.microsoft.com/office/drawing/2014/main" id="{4C290FBA-FF1E-0F92-85DA-09DE41FE8DF9}"/>
              </a:ext>
            </a:extLst>
          </p:cNvPr>
          <p:cNvSpPr/>
          <p:nvPr/>
        </p:nvSpPr>
        <p:spPr>
          <a:xfrm rot="10800000">
            <a:off x="5908813" y="6137417"/>
            <a:ext cx="125898" cy="149087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B67669E-DB06-A840-82A6-E8A8E798405C}"/>
              </a:ext>
            </a:extLst>
          </p:cNvPr>
          <p:cNvSpPr/>
          <p:nvPr/>
        </p:nvSpPr>
        <p:spPr>
          <a:xfrm>
            <a:off x="5837582" y="3939209"/>
            <a:ext cx="1169505" cy="2683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Return type: none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DB89DD72-8AC4-A11C-9D26-F4D907CA49D7}"/>
              </a:ext>
            </a:extLst>
          </p:cNvPr>
          <p:cNvSpPr/>
          <p:nvPr/>
        </p:nvSpPr>
        <p:spPr>
          <a:xfrm>
            <a:off x="5860773" y="4906617"/>
            <a:ext cx="1169505" cy="2683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Return type: int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532B472-4DAB-B243-7D3B-BFBA12B38E47}"/>
              </a:ext>
            </a:extLst>
          </p:cNvPr>
          <p:cNvSpPr/>
          <p:nvPr/>
        </p:nvSpPr>
        <p:spPr>
          <a:xfrm>
            <a:off x="5920408" y="5880653"/>
            <a:ext cx="1169505" cy="26835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Return type: String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F8E456E6-D48B-D0F4-3148-E29B73C506F6}"/>
              </a:ext>
            </a:extLst>
          </p:cNvPr>
          <p:cNvSpPr txBox="1">
            <a:spLocks/>
          </p:cNvSpPr>
          <p:nvPr/>
        </p:nvSpPr>
        <p:spPr>
          <a:xfrm>
            <a:off x="4469294" y="3316710"/>
            <a:ext cx="2103785" cy="224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PI02, lines 158-164</a:t>
            </a: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B32FEE53-9643-04D2-D100-E4694F19DB64}"/>
              </a:ext>
            </a:extLst>
          </p:cNvPr>
          <p:cNvSpPr txBox="1">
            <a:spLocks/>
          </p:cNvSpPr>
          <p:nvPr/>
        </p:nvSpPr>
        <p:spPr>
          <a:xfrm>
            <a:off x="4886737" y="4559101"/>
            <a:ext cx="2103785" cy="224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PI02, lines 236-244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8E54C46D-C57C-0660-3771-F8CE72B46341}"/>
              </a:ext>
            </a:extLst>
          </p:cNvPr>
          <p:cNvSpPr txBox="1">
            <a:spLocks/>
          </p:cNvSpPr>
          <p:nvPr/>
        </p:nvSpPr>
        <p:spPr>
          <a:xfrm>
            <a:off x="4870172" y="5526510"/>
            <a:ext cx="2103785" cy="224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PI02, lines 220-226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48B0A633-4323-71B5-1A61-0B4050D7F8D7}"/>
              </a:ext>
            </a:extLst>
          </p:cNvPr>
          <p:cNvSpPr txBox="1">
            <a:spLocks/>
          </p:cNvSpPr>
          <p:nvPr/>
        </p:nvSpPr>
        <p:spPr>
          <a:xfrm>
            <a:off x="4883424" y="6464102"/>
            <a:ext cx="2103785" cy="224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PI02, lines 198-212</a:t>
            </a:r>
          </a:p>
        </p:txBody>
      </p:sp>
    </p:spTree>
    <p:extLst>
      <p:ext uri="{BB962C8B-B14F-4D97-AF65-F5344CB8AC3E}">
        <p14:creationId xmlns:p14="http://schemas.microsoft.com/office/powerpoint/2010/main" val="13846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70D3-268C-C724-52E2-9E5FB417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093" y="149683"/>
            <a:ext cx="9029898" cy="724960"/>
          </a:xfrm>
        </p:spPr>
        <p:txBody>
          <a:bodyPr>
            <a:normAutofit fontScale="90000"/>
          </a:bodyPr>
          <a:lstStyle/>
          <a:p>
            <a:r>
              <a:rPr lang="en-US" dirty="0"/>
              <a:t>Version control, Git&amp; </a:t>
            </a:r>
            <a:r>
              <a:rPr lang="en-US" dirty="0" err="1"/>
              <a:t>GitHUb</a:t>
            </a:r>
            <a:r>
              <a:rPr lang="en-US" dirty="0"/>
              <a:t>, Repositories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C09A3E-D723-6343-E807-E4AD487556E9}"/>
              </a:ext>
            </a:extLst>
          </p:cNvPr>
          <p:cNvSpPr/>
          <p:nvPr/>
        </p:nvSpPr>
        <p:spPr>
          <a:xfrm>
            <a:off x="580576" y="1036325"/>
            <a:ext cx="3683311" cy="28557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Version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41D7-22E0-3626-3776-54FEAF3B1C3D}"/>
              </a:ext>
            </a:extLst>
          </p:cNvPr>
          <p:cNvSpPr/>
          <p:nvPr/>
        </p:nvSpPr>
        <p:spPr>
          <a:xfrm>
            <a:off x="577505" y="1323603"/>
            <a:ext cx="3696322" cy="5747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8CBC33-8383-A72B-CC63-2842BA45E6BD}"/>
              </a:ext>
            </a:extLst>
          </p:cNvPr>
          <p:cNvSpPr txBox="1">
            <a:spLocks/>
          </p:cNvSpPr>
          <p:nvPr/>
        </p:nvSpPr>
        <p:spPr>
          <a:xfrm>
            <a:off x="1063487" y="1342138"/>
            <a:ext cx="3399183" cy="526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Tracks</a:t>
            </a:r>
            <a:r>
              <a:rPr lang="en-US" sz="1200" dirty="0"/>
              <a:t> and </a:t>
            </a:r>
            <a:r>
              <a:rPr lang="en-US" sz="1200" b="1" dirty="0"/>
              <a:t>manages changes </a:t>
            </a:r>
            <a:r>
              <a:rPr lang="en-US" sz="1200" dirty="0"/>
              <a:t>to software code or documents</a:t>
            </a:r>
          </a:p>
        </p:txBody>
      </p:sp>
      <p:pic>
        <p:nvPicPr>
          <p:cNvPr id="9" name="Graphic 8" descr="Download from cloud with solid fill">
            <a:extLst>
              <a:ext uri="{FF2B5EF4-FFF2-40B4-BE49-F238E27FC236}">
                <a16:creationId xmlns:a16="http://schemas.microsoft.com/office/drawing/2014/main" id="{A97C507B-FE23-F898-7774-B3F5E179D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9539" y="1292086"/>
            <a:ext cx="636105" cy="6361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08A9E2-ECC3-9E4E-BF70-9060609FC403}"/>
              </a:ext>
            </a:extLst>
          </p:cNvPr>
          <p:cNvSpPr/>
          <p:nvPr/>
        </p:nvSpPr>
        <p:spPr>
          <a:xfrm>
            <a:off x="593828" y="2053429"/>
            <a:ext cx="3683311" cy="28557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52A236-618C-A36A-9CF6-F47B01146208}"/>
              </a:ext>
            </a:extLst>
          </p:cNvPr>
          <p:cNvSpPr/>
          <p:nvPr/>
        </p:nvSpPr>
        <p:spPr>
          <a:xfrm>
            <a:off x="590758" y="2340707"/>
            <a:ext cx="3696322" cy="10982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CB35349-E99C-80B4-D11C-AC6376A72BD3}"/>
              </a:ext>
            </a:extLst>
          </p:cNvPr>
          <p:cNvSpPr txBox="1">
            <a:spLocks/>
          </p:cNvSpPr>
          <p:nvPr/>
        </p:nvSpPr>
        <p:spPr>
          <a:xfrm>
            <a:off x="2468218" y="2428815"/>
            <a:ext cx="1785729" cy="334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500" b="1" dirty="0"/>
              <a:t>used locally </a:t>
            </a:r>
            <a:r>
              <a:rPr lang="en-US" sz="1500" dirty="0"/>
              <a:t>to track changes</a:t>
            </a:r>
            <a:r>
              <a:rPr lang="en-US" sz="1500" b="1" dirty="0"/>
              <a:t> </a:t>
            </a:r>
            <a:endParaRPr lang="en-US" sz="15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7BEA95-84F0-E97B-9B3C-51FF4E3AC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07" y="2449408"/>
            <a:ext cx="1928466" cy="8912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CE5FDF1-BF54-A4E6-59CF-C14B18DCF722}"/>
              </a:ext>
            </a:extLst>
          </p:cNvPr>
          <p:cNvSpPr/>
          <p:nvPr/>
        </p:nvSpPr>
        <p:spPr>
          <a:xfrm>
            <a:off x="574193" y="3437325"/>
            <a:ext cx="3696322" cy="6377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5A778B4-F58C-1435-6FB3-09BB6B746D48}"/>
              </a:ext>
            </a:extLst>
          </p:cNvPr>
          <p:cNvSpPr txBox="1">
            <a:spLocks/>
          </p:cNvSpPr>
          <p:nvPr/>
        </p:nvSpPr>
        <p:spPr>
          <a:xfrm>
            <a:off x="2441714" y="3495616"/>
            <a:ext cx="1785729" cy="334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500" dirty="0"/>
              <a:t>To store changes </a:t>
            </a:r>
            <a:r>
              <a:rPr lang="en-US" sz="1500" b="1" dirty="0"/>
              <a:t>locally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B3183C-F000-213E-C0B0-B3FA9E86C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28" y="3578086"/>
            <a:ext cx="1890837" cy="3163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034C989-199A-CC8A-9FE6-1862C68EF6D0}"/>
              </a:ext>
            </a:extLst>
          </p:cNvPr>
          <p:cNvSpPr/>
          <p:nvPr/>
        </p:nvSpPr>
        <p:spPr>
          <a:xfrm>
            <a:off x="577506" y="4076743"/>
            <a:ext cx="3696322" cy="6377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54C40B-9680-0036-5106-C0727369E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84" y="4154557"/>
            <a:ext cx="1889598" cy="454716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77996BA-61E3-AC85-90CF-510D2085CFCC}"/>
              </a:ext>
            </a:extLst>
          </p:cNvPr>
          <p:cNvSpPr txBox="1">
            <a:spLocks/>
          </p:cNvSpPr>
          <p:nvPr/>
        </p:nvSpPr>
        <p:spPr>
          <a:xfrm>
            <a:off x="2415209" y="4085338"/>
            <a:ext cx="1789043" cy="635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500" dirty="0"/>
              <a:t>To store changes </a:t>
            </a:r>
            <a:r>
              <a:rPr lang="en-US" sz="1500" b="1" dirty="0"/>
              <a:t>on GitHub</a:t>
            </a:r>
            <a:endParaRPr lang="en-US" sz="15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8A663C-CE38-AB47-CB85-6934F6FBDDE0}"/>
              </a:ext>
            </a:extLst>
          </p:cNvPr>
          <p:cNvSpPr/>
          <p:nvPr/>
        </p:nvSpPr>
        <p:spPr>
          <a:xfrm>
            <a:off x="617020" y="4909272"/>
            <a:ext cx="3683311" cy="28557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GitHub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79CEE6-91FA-C365-D77A-43D7E475A4B6}"/>
              </a:ext>
            </a:extLst>
          </p:cNvPr>
          <p:cNvSpPr/>
          <p:nvPr/>
        </p:nvSpPr>
        <p:spPr>
          <a:xfrm>
            <a:off x="620575" y="5203177"/>
            <a:ext cx="3683068" cy="14162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B662F63-F249-1282-B6BC-D3A2178A5925}"/>
              </a:ext>
            </a:extLst>
          </p:cNvPr>
          <p:cNvSpPr txBox="1">
            <a:spLocks/>
          </p:cNvSpPr>
          <p:nvPr/>
        </p:nvSpPr>
        <p:spPr>
          <a:xfrm>
            <a:off x="2011019" y="5251529"/>
            <a:ext cx="2382078" cy="526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b="1" dirty="0"/>
              <a:t>Global </a:t>
            </a:r>
            <a:r>
              <a:rPr lang="en-US" sz="1200" dirty="0"/>
              <a:t>resource to access code and documents stored in </a:t>
            </a:r>
            <a:r>
              <a:rPr lang="en-US" sz="1200" b="1" dirty="0"/>
              <a:t>repository.</a:t>
            </a:r>
          </a:p>
          <a:p>
            <a:pPr marL="228600" lvl="1" indent="0">
              <a:buNone/>
            </a:pPr>
            <a:r>
              <a:rPr lang="en-US" sz="1200" b="1" dirty="0"/>
              <a:t>Repository: </a:t>
            </a:r>
            <a:r>
              <a:rPr lang="en-US" sz="1200" dirty="0"/>
              <a:t>specialized storage system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D2571EC-3CFA-AEBE-73E2-55B2240CF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" y="5396947"/>
            <a:ext cx="1466010" cy="2821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52EE852-A0A3-43AD-B305-2874F0083A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184" t="3756" r="15700" b="21541"/>
          <a:stretch>
            <a:fillRect/>
          </a:stretch>
        </p:blipFill>
        <p:spPr>
          <a:xfrm>
            <a:off x="983973" y="5674185"/>
            <a:ext cx="924340" cy="82600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4654150-08F6-BAE9-D9E1-1BB9A2027D33}"/>
              </a:ext>
            </a:extLst>
          </p:cNvPr>
          <p:cNvSpPr/>
          <p:nvPr/>
        </p:nvSpPr>
        <p:spPr>
          <a:xfrm>
            <a:off x="5195646" y="1009821"/>
            <a:ext cx="6383441" cy="28557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8429BD-84E9-9ECB-A373-FC37A3A370D4}"/>
              </a:ext>
            </a:extLst>
          </p:cNvPr>
          <p:cNvSpPr/>
          <p:nvPr/>
        </p:nvSpPr>
        <p:spPr>
          <a:xfrm>
            <a:off x="5202512" y="1297098"/>
            <a:ext cx="6386513" cy="9292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E4A0FA-BCE2-ECAB-0ACA-18CFABD3517D}"/>
              </a:ext>
            </a:extLst>
          </p:cNvPr>
          <p:cNvSpPr txBox="1">
            <a:spLocks/>
          </p:cNvSpPr>
          <p:nvPr/>
        </p:nvSpPr>
        <p:spPr>
          <a:xfrm>
            <a:off x="4972878" y="1365329"/>
            <a:ext cx="6457122" cy="526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r>
              <a:rPr lang="en-US" sz="1200" dirty="0"/>
              <a:t>Used primarily to track </a:t>
            </a:r>
            <a:r>
              <a:rPr lang="en-US" sz="1200" b="1" dirty="0"/>
              <a:t>code changes </a:t>
            </a:r>
            <a:r>
              <a:rPr lang="en-US" sz="1200" dirty="0"/>
              <a:t>and </a:t>
            </a:r>
            <a:r>
              <a:rPr lang="en-US" sz="1200" b="1" dirty="0"/>
              <a:t>Tech Doc changes</a:t>
            </a:r>
          </a:p>
          <a:p>
            <a:pPr marL="228600" lvl="1" indent="0">
              <a:buNone/>
            </a:pPr>
            <a:r>
              <a:rPr lang="en-US" sz="1200" b="1" dirty="0"/>
              <a:t>Tracking changes in tech doc was incredibly helpful in tracking changes in tech doc and addition of new concepts in between quizzes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814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8CD70-E3AF-1EDA-F514-B0A952F4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687F-4153-C25F-11AF-20B07D30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893" y="308710"/>
            <a:ext cx="7729728" cy="834290"/>
          </a:xfrm>
        </p:spPr>
        <p:txBody>
          <a:bodyPr/>
          <a:lstStyle/>
          <a:p>
            <a:r>
              <a:rPr lang="en-US" dirty="0"/>
              <a:t>Team collaboration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4A6D4A-088D-868A-ABA0-CF47D846FB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8149" y="1258582"/>
            <a:ext cx="6491285" cy="365134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85E372-E08E-7D78-CAD6-16FA94D1639F}"/>
              </a:ext>
            </a:extLst>
          </p:cNvPr>
          <p:cNvSpPr txBox="1">
            <a:spLocks/>
          </p:cNvSpPr>
          <p:nvPr/>
        </p:nvSpPr>
        <p:spPr>
          <a:xfrm>
            <a:off x="516833" y="4944637"/>
            <a:ext cx="4800601" cy="67421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PI01 User story 9 team collaboration activity Thurs April 02, 2026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Collaborators: Johnny, Andrew, Lina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D98D64-1DE5-03ED-59D2-2FE3B3B77FA7}"/>
              </a:ext>
            </a:extLst>
          </p:cNvPr>
          <p:cNvSpPr/>
          <p:nvPr/>
        </p:nvSpPr>
        <p:spPr>
          <a:xfrm>
            <a:off x="7410217" y="1585068"/>
            <a:ext cx="4188748" cy="45970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73F64-FB94-2C7F-6E6C-294015548C9F}"/>
              </a:ext>
            </a:extLst>
          </p:cNvPr>
          <p:cNvSpPr/>
          <p:nvPr/>
        </p:nvSpPr>
        <p:spPr>
          <a:xfrm>
            <a:off x="7408759" y="1274864"/>
            <a:ext cx="4190205" cy="32659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Benefits of collaboration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B91A3B-0F26-71C4-1F89-1B0F9CDCCE31}"/>
              </a:ext>
            </a:extLst>
          </p:cNvPr>
          <p:cNvSpPr txBox="1">
            <a:spLocks/>
          </p:cNvSpPr>
          <p:nvPr/>
        </p:nvSpPr>
        <p:spPr>
          <a:xfrm>
            <a:off x="8502652" y="1680065"/>
            <a:ext cx="3066495" cy="1510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/>
              <a:t>Improves multi-approach </a:t>
            </a:r>
            <a:r>
              <a:rPr lang="en-US" b="1" dirty="0"/>
              <a:t>understanding</a:t>
            </a:r>
            <a:r>
              <a:rPr lang="en-US" dirty="0"/>
              <a:t> of tasks.</a:t>
            </a:r>
          </a:p>
          <a:p>
            <a:pPr lvl="1" algn="r"/>
            <a:r>
              <a:rPr lang="en-US" dirty="0"/>
              <a:t>Improved development of  communication and feedback skills.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45615F-86CD-7F65-1DCC-566149B300D7}"/>
              </a:ext>
            </a:extLst>
          </p:cNvPr>
          <p:cNvSpPr txBox="1">
            <a:spLocks/>
          </p:cNvSpPr>
          <p:nvPr/>
        </p:nvSpPr>
        <p:spPr>
          <a:xfrm>
            <a:off x="8505966" y="3154370"/>
            <a:ext cx="3073122" cy="1169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/>
              <a:t>Builds academic </a:t>
            </a:r>
            <a:r>
              <a:rPr lang="en-US" b="1" dirty="0"/>
              <a:t>community</a:t>
            </a:r>
          </a:p>
          <a:p>
            <a:pPr lvl="1" algn="r"/>
            <a:r>
              <a:rPr lang="en-US" dirty="0"/>
              <a:t>Study groups, group chats, collaboration helped a lot for PI01 test case brainstorming.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E59708-154B-F14C-AB17-3B59F0F2D2AF}"/>
              </a:ext>
            </a:extLst>
          </p:cNvPr>
          <p:cNvSpPr txBox="1">
            <a:spLocks/>
          </p:cNvSpPr>
          <p:nvPr/>
        </p:nvSpPr>
        <p:spPr>
          <a:xfrm>
            <a:off x="8390008" y="4403035"/>
            <a:ext cx="3218897" cy="1798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dirty="0"/>
              <a:t>Increases confidence to </a:t>
            </a:r>
            <a:r>
              <a:rPr lang="en-US" b="1" dirty="0"/>
              <a:t>ask for help.</a:t>
            </a:r>
          </a:p>
          <a:p>
            <a:pPr algn="r"/>
            <a:r>
              <a:rPr lang="en-US" dirty="0"/>
              <a:t>Comparing Tech doc examples with group members at the beginning of the semester helped my team improve the readability and usability of our tech docs. </a:t>
            </a:r>
          </a:p>
        </p:txBody>
      </p:sp>
      <p:pic>
        <p:nvPicPr>
          <p:cNvPr id="15" name="Graphic 14" descr="Questions with solid fill">
            <a:extLst>
              <a:ext uri="{FF2B5EF4-FFF2-40B4-BE49-F238E27FC236}">
                <a16:creationId xmlns:a16="http://schemas.microsoft.com/office/drawing/2014/main" id="{2EF53291-C808-A6A5-3543-12DB29923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6871" y="4810539"/>
            <a:ext cx="914400" cy="914400"/>
          </a:xfrm>
          <a:prstGeom prst="rect">
            <a:avLst/>
          </a:prstGeom>
        </p:spPr>
      </p:pic>
      <p:pic>
        <p:nvPicPr>
          <p:cNvPr id="17" name="Graphic 16" descr="Users with solid fill">
            <a:extLst>
              <a:ext uri="{FF2B5EF4-FFF2-40B4-BE49-F238E27FC236}">
                <a16:creationId xmlns:a16="http://schemas.microsoft.com/office/drawing/2014/main" id="{362AB23D-C90A-9AB5-27FC-A3A17EC26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6991" y="3130826"/>
            <a:ext cx="914400" cy="914400"/>
          </a:xfrm>
          <a:prstGeom prst="rect">
            <a:avLst/>
          </a:prstGeom>
        </p:spPr>
      </p:pic>
      <p:pic>
        <p:nvPicPr>
          <p:cNvPr id="19" name="Graphic 18" descr="Teacher with solid fill">
            <a:extLst>
              <a:ext uri="{FF2B5EF4-FFF2-40B4-BE49-F238E27FC236}">
                <a16:creationId xmlns:a16="http://schemas.microsoft.com/office/drawing/2014/main" id="{0C08878E-F10E-7A3F-1580-CEEC9ADF6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6991" y="1868556"/>
            <a:ext cx="914400" cy="914400"/>
          </a:xfrm>
          <a:prstGeom prst="rect">
            <a:avLst/>
          </a:prstGeom>
        </p:spPr>
      </p:pic>
      <p:pic>
        <p:nvPicPr>
          <p:cNvPr id="25" name="Graphic 24" descr="Route (Two Pins With A Path) outline">
            <a:extLst>
              <a:ext uri="{FF2B5EF4-FFF2-40B4-BE49-F238E27FC236}">
                <a16:creationId xmlns:a16="http://schemas.microsoft.com/office/drawing/2014/main" id="{0EC8F3CC-A7F4-D94D-5B05-BC6E05565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3950" y="2146853"/>
            <a:ext cx="308112" cy="3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5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2EB4-3B84-FEC0-E98D-132D2F1E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95EFB-61E4-F390-AEA0-A6862418A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F3A11-BD1D-1AC3-2EDF-274A585656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1CAF1-A178-9300-C42B-82863DDABB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4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FE51-7990-5543-45C1-C2781546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DBA8-978A-4AB0-EF9B-0FFC83CAE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77DC4-BBB1-347A-728D-0FFFB9C76E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1B50A-BF0D-8EB3-CB93-BB8A3AB35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65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E69C1-9853-ED43-5354-93B54A80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B12E-173B-A16F-1BC7-CDA9F7E1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vs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AA4D8-831B-4775-F803-E190C59609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28C06-2AF4-240E-1190-F044491689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0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A9B7-9BDC-CD77-3459-81BB7BC5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DE2F-B7FC-ADC9-9B11-FD917C62C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vs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E2FF-0E49-602E-FC86-FC7D3B7D2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96E9A-058F-3E42-51C7-DB7BA15716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08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8080-F04B-F378-9047-E69F8618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A867-9A2E-D4D8-8B41-43576D2E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28C9-348D-CAAB-E463-28301CC856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19DD6-724C-55E9-0781-9997051D97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85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DE182-E09D-3806-581D-E170B9B9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EC0A-AEF1-4D3E-8C62-7BB02727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014" y="99391"/>
            <a:ext cx="7729728" cy="566530"/>
          </a:xfrm>
        </p:spPr>
        <p:txBody>
          <a:bodyPr>
            <a:normAutofit fontScale="90000"/>
          </a:bodyPr>
          <a:lstStyle/>
          <a:p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00982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5EC8-0E89-EC67-0D30-B8CEAD9C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57D5-6D1A-BAB1-7500-EA581F104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tooltip="Robert Cecil Martin"/>
              </a:rPr>
              <a:t>Martin, Robert C.</a:t>
            </a:r>
            <a:r>
              <a:rPr lang="en-US" dirty="0"/>
              <a:t> (2003). </a:t>
            </a:r>
            <a:r>
              <a:rPr lang="en-US" i="1" dirty="0">
                <a:hlinkClick r:id="rId3"/>
              </a:rPr>
              <a:t>Agile Software Development, Principles, Patterns, and Practices</a:t>
            </a:r>
            <a:r>
              <a:rPr lang="en-US" dirty="0"/>
              <a:t>. Prentice Hall. p. 95. </a:t>
            </a:r>
            <a:r>
              <a:rPr lang="en-US" dirty="0">
                <a:hlinkClick r:id="rId4" tooltip="ISBN (identifier)"/>
              </a:rPr>
              <a:t>ISBN</a:t>
            </a:r>
            <a:r>
              <a:rPr lang="en-US" dirty="0"/>
              <a:t> </a:t>
            </a:r>
            <a:r>
              <a:rPr lang="en-US" dirty="0">
                <a:hlinkClick r:id="rId5" tooltip="Special:BookSources/978-0135974445"/>
              </a:rPr>
              <a:t>978-0135974445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715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FBBF0-6818-DCB9-3DAB-DC162CB9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1C1CC-3770-DF83-69F3-C103AEA8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304" y="2787445"/>
            <a:ext cx="4513006" cy="447013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BDF64-EE12-DE8A-F4E3-929887230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0662" y="481803"/>
            <a:ext cx="3287348" cy="3101983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profile (</a:t>
            </a:r>
            <a:r>
              <a:rPr lang="en-US" dirty="0" err="1"/>
              <a:t>qr</a:t>
            </a:r>
            <a:r>
              <a:rPr lang="en-US" dirty="0"/>
              <a:t> code)</a:t>
            </a:r>
          </a:p>
          <a:p>
            <a:r>
              <a:rPr lang="en-US" dirty="0"/>
              <a:t>Link to repository</a:t>
            </a:r>
          </a:p>
          <a:p>
            <a:r>
              <a:rPr lang="en-US" dirty="0"/>
              <a:t>Link to tech doc</a:t>
            </a:r>
          </a:p>
          <a:p>
            <a:r>
              <a:rPr lang="en-US" dirty="0"/>
              <a:t>Link to project iteration 1 and 2 java codes </a:t>
            </a:r>
          </a:p>
        </p:txBody>
      </p:sp>
    </p:spTree>
    <p:extLst>
      <p:ext uri="{BB962C8B-B14F-4D97-AF65-F5344CB8AC3E}">
        <p14:creationId xmlns:p14="http://schemas.microsoft.com/office/powerpoint/2010/main" val="254944476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1706</TotalTime>
  <Words>1845</Words>
  <Application>Microsoft Macintosh PowerPoint</Application>
  <PresentationFormat>Widescreen</PresentationFormat>
  <Paragraphs>218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Gill Sans MT</vt:lpstr>
      <vt:lpstr>Parcel</vt:lpstr>
      <vt:lpstr>Take Home Final: Team Trainer Program</vt:lpstr>
      <vt:lpstr>Project Overview </vt:lpstr>
      <vt:lpstr>UML in PI01 and PI02: an overview of iteration changes </vt:lpstr>
      <vt:lpstr>PowerPoint Presentation</vt:lpstr>
      <vt:lpstr>Control structures &amp; application: Decision structures</vt:lpstr>
      <vt:lpstr>Control structures &amp; application: loops</vt:lpstr>
      <vt:lpstr>Agile software development </vt:lpstr>
      <vt:lpstr>Quality coding mindset (PI02)</vt:lpstr>
      <vt:lpstr>Classes and objects (I2 Athlete class)</vt:lpstr>
      <vt:lpstr>Version control, Git&amp; GitHUb, Repositories</vt:lpstr>
      <vt:lpstr>Team collaboration</vt:lpstr>
      <vt:lpstr>Debugging and testing</vt:lpstr>
      <vt:lpstr>Debugging and testing</vt:lpstr>
      <vt:lpstr>Design vs implementation</vt:lpstr>
      <vt:lpstr>Design vs implementation</vt:lpstr>
      <vt:lpstr>reflection</vt:lpstr>
      <vt:lpstr>reflection</vt:lpstr>
      <vt:lpstr>Sources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Eaton</dc:creator>
  <cp:lastModifiedBy>Isabella Eaton</cp:lastModifiedBy>
  <cp:revision>1</cp:revision>
  <dcterms:created xsi:type="dcterms:W3CDTF">2026-05-12T15:40:07Z</dcterms:created>
  <dcterms:modified xsi:type="dcterms:W3CDTF">2026-05-13T20:06:15Z</dcterms:modified>
</cp:coreProperties>
</file>